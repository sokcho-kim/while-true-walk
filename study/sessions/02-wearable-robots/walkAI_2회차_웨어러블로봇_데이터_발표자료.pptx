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 id="276" r:id="rId22"/>
    <p:sldId id="277" r:id="rId23"/>
    <p:sldId id="278"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11"/>
    <p:restoredTop sz="84996" autoAdjust="0"/>
  </p:normalViewPr>
  <p:slideViewPr>
    <p:cSldViewPr snapToGrid="0" snapToObjects="1">
      <p:cViewPr varScale="1">
        <p:scale>
          <a:sx n="100" d="100"/>
          <a:sy n="100" d="100"/>
        </p:scale>
        <p:origin x="348" y="-132"/>
      </p:cViewPr>
      <p:guideLst>
        <p:guide orient="horz" pos="2159"/>
        <p:guide pos="3839"/>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oleObjec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102A43"/>
                </a:solidFill>
                <a:latin typeface="Calibri"/>
              </a:defRPr>
            </a:pPr>
            <a:r>
              <a:rPr lang="ko-KR" altLang="en-US" sz="1200" b="0" i="0" u="none" strike="noStrike">
                <a:solidFill>
                  <a:srgbClr val="102A43"/>
                </a:solidFill>
                <a:latin typeface="Calibri"/>
              </a:rPr>
              <a:t>뇌졸중 외골격 보행재활 논문 수 </a:t>
            </a:r>
            <a:r>
              <a:rPr lang="en-US" altLang="ko-KR" sz="1200" b="0" i="0" u="none" strike="noStrike">
                <a:solidFill>
                  <a:srgbClr val="102A43"/>
                </a:solidFill>
                <a:latin typeface="Calibri"/>
              </a:rPr>
              <a:t>(2014.01–2024.01, </a:t>
            </a:r>
            <a:r>
              <a:rPr lang="ko-KR" altLang="en-US" sz="1200" b="0" i="0" u="none" strike="noStrike">
                <a:solidFill>
                  <a:srgbClr val="102A43"/>
                </a:solidFill>
                <a:latin typeface="Calibri"/>
              </a:rPr>
              <a:t>총 </a:t>
            </a:r>
            <a:r>
              <a:rPr lang="en-US" altLang="ko-KR" sz="1200" b="0" i="0" u="none" strike="noStrike">
                <a:solidFill>
                  <a:srgbClr val="102A43"/>
                </a:solidFill>
                <a:latin typeface="Calibri"/>
              </a:rPr>
              <a:t>1,034</a:t>
            </a:r>
            <a:r>
              <a:rPr lang="ko-KR" altLang="en-US" sz="1200" b="0" i="0" u="none" strike="noStrike">
                <a:solidFill>
                  <a:srgbClr val="102A43"/>
                </a:solidFill>
                <a:latin typeface="Calibri"/>
              </a:rPr>
              <a:t>편</a:t>
            </a:r>
            <a:r>
              <a:rPr lang="en-US" altLang="ko-KR" sz="1200" b="0" i="0" u="none" strike="noStrike">
                <a:solidFill>
                  <a:srgbClr val="102A43"/>
                </a:solidFill>
                <a:latin typeface="Calibri"/>
              </a:rPr>
              <a:t>)</a:t>
            </a:r>
          </a:p>
        </c:rich>
      </c:tx>
      <c:overlay val="0"/>
    </c:title>
    <c:autoTitleDeleted val="0"/>
    <c:plotArea>
      <c:layout/>
      <c:barChart>
        <c:barDir val="col"/>
        <c:grouping val="clustered"/>
        <c:varyColors val="0"/>
        <c:ser>
          <c:idx val="0"/>
          <c:order val="0"/>
          <c:tx>
            <c:strRef>
              <c:f>Sheet1!$B$1</c:f>
              <c:strCache>
                <c:ptCount val="1"/>
                <c:pt idx="0">
                  <c:v>논문 수</c:v>
                </c:pt>
              </c:strCache>
            </c:strRef>
          </c:tx>
          <c:spPr>
            <a:solidFill>
              <a:srgbClr val="829AB1"/>
            </a:solidFill>
            <a:effectLst/>
          </c:spPr>
          <c:invertIfNegative val="0"/>
          <c:dPt>
            <c:idx val="0"/>
            <c:invertIfNegative val="0"/>
            <c:bubble3D val="0"/>
            <c:extLst>
              <c:ext xmlns:c16="http://schemas.microsoft.com/office/drawing/2014/chart" uri="{C3380CC4-5D6E-409C-BE32-E72D297353CC}">
                <c16:uniqueId val="{00000001-181A-4CB7-8CD9-2AFF6D4C5202}"/>
              </c:ext>
            </c:extLst>
          </c:dPt>
          <c:dPt>
            <c:idx val="1"/>
            <c:invertIfNegative val="0"/>
            <c:bubble3D val="0"/>
            <c:extLst>
              <c:ext xmlns:c16="http://schemas.microsoft.com/office/drawing/2014/chart" uri="{C3380CC4-5D6E-409C-BE32-E72D297353CC}">
                <c16:uniqueId val="{00000003-181A-4CB7-8CD9-2AFF6D4C5202}"/>
              </c:ext>
            </c:extLst>
          </c:dPt>
          <c:dPt>
            <c:idx val="2"/>
            <c:invertIfNegative val="0"/>
            <c:bubble3D val="0"/>
            <c:extLst>
              <c:ext xmlns:c16="http://schemas.microsoft.com/office/drawing/2014/chart" uri="{C3380CC4-5D6E-409C-BE32-E72D297353CC}">
                <c16:uniqueId val="{00000005-181A-4CB7-8CD9-2AFF6D4C5202}"/>
              </c:ext>
            </c:extLst>
          </c:dPt>
          <c:dPt>
            <c:idx val="3"/>
            <c:invertIfNegative val="0"/>
            <c:bubble3D val="0"/>
            <c:spPr>
              <a:solidFill>
                <a:srgbClr val="E8871E"/>
              </a:solidFill>
              <a:effectLst/>
            </c:spPr>
            <c:extLst>
              <c:ext xmlns:c16="http://schemas.microsoft.com/office/drawing/2014/chart" uri="{C3380CC4-5D6E-409C-BE32-E72D297353CC}">
                <c16:uniqueId val="{00000007-181A-4CB7-8CD9-2AFF6D4C5202}"/>
              </c:ext>
            </c:extLst>
          </c:dPt>
          <c:dPt>
            <c:idx val="4"/>
            <c:invertIfNegative val="0"/>
            <c:bubble3D val="0"/>
            <c:extLst>
              <c:ext xmlns:c16="http://schemas.microsoft.com/office/drawing/2014/chart" uri="{C3380CC4-5D6E-409C-BE32-E72D297353CC}">
                <c16:uniqueId val="{00000009-181A-4CB7-8CD9-2AFF6D4C5202}"/>
              </c:ext>
            </c:extLst>
          </c:dPt>
          <c:dLbls>
            <c:numFmt formatCode="#,##0" sourceLinked="0"/>
            <c:spPr>
              <a:noFill/>
              <a:ln>
                <a:noFill/>
              </a:ln>
              <a:effectLst/>
            </c:spPr>
            <c:txPr>
              <a:bodyPr/>
              <a:lstStyle/>
              <a:p>
                <a:pPr>
                  <a:defRPr sz="1100" b="0" i="0" u="none" strike="noStrike">
                    <a:solidFill>
                      <a:srgbClr val="52606D"/>
                    </a:solidFill>
                    <a:latin typeface="Calibri"/>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미국</c:v>
                </c:pt>
                <c:pt idx="1">
                  <c:v>중국</c:v>
                </c:pt>
                <c:pt idx="2">
                  <c:v>이탈리아</c:v>
                </c:pt>
                <c:pt idx="3">
                  <c:v>한국</c:v>
                </c:pt>
                <c:pt idx="4">
                  <c:v>일본</c:v>
                </c:pt>
              </c:strCache>
            </c:strRef>
          </c:cat>
          <c:val>
            <c:numRef>
              <c:f>Sheet1!$B$2:$B$6</c:f>
              <c:numCache>
                <c:formatCode>General</c:formatCode>
                <c:ptCount val="5"/>
                <c:pt idx="0">
                  <c:v>218</c:v>
                </c:pt>
                <c:pt idx="1">
                  <c:v>217</c:v>
                </c:pt>
                <c:pt idx="2">
                  <c:v>137</c:v>
                </c:pt>
                <c:pt idx="3">
                  <c:v>107</c:v>
                </c:pt>
                <c:pt idx="4">
                  <c:v>92</c:v>
                </c:pt>
              </c:numCache>
            </c:numRef>
          </c:val>
          <c:extLst>
            <c:ext xmlns:c16="http://schemas.microsoft.com/office/drawing/2014/chart" uri="{C3380CC4-5D6E-409C-BE32-E72D297353CC}">
              <c16:uniqueId val="{0000000A-181A-4CB7-8CD9-2AFF6D4C520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A4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4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29AB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863386"/>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지난 시간에 보행 분석과 이상 보행을 다뤘습니다. 오늘은 그 다음 이야기, 재활 로봇입니다. 미리 한 가지 말씀드리면, 오늘 나오는 모든 숫자는 출처가 슬라이드 하단에 링크로 박혀 있습니다. 제가 회사에 있다 보니 내부 이야기를 하고 싶은 유혹이 있는데, 오늘은 전부 공개 자료로만 말씀드립니다. 확인하고 싶으시면 나중에 파일에서 링크를 눌러보시면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회차는 '관찰'이었습니다. 보행을 분석하고 이상 보행에 이름을 붙이는 일이었죠. </a:t>
            </a:r>
          </a:p>
          <a:p>
            <a:r>
              <a:rPr lang="en-US" dirty="0" err="1"/>
              <a:t>오늘은</a:t>
            </a:r>
            <a:r>
              <a:rPr lang="en-US" dirty="0"/>
              <a:t> ‘</a:t>
            </a:r>
            <a:r>
              <a:rPr lang="en-US" dirty="0" err="1"/>
              <a:t>개입</a:t>
            </a:r>
            <a:r>
              <a:rPr lang="en-US" dirty="0"/>
              <a:t>, </a:t>
            </a:r>
            <a:r>
              <a:rPr lang="ko-KR" altLang="en-US" dirty="0"/>
              <a:t>즉 로봇의 </a:t>
            </a:r>
            <a:r>
              <a:rPr lang="ko-KR" altLang="en-US" dirty="0" err="1"/>
              <a:t>보조력</a:t>
            </a:r>
            <a:r>
              <a:rPr lang="ko-KR" altLang="en-US" dirty="0"/>
              <a:t> 제공 혹은 제어</a:t>
            </a:r>
            <a:r>
              <a:rPr lang="en-US" dirty="0"/>
              <a:t>'입니다. </a:t>
            </a:r>
            <a:r>
              <a:rPr lang="ko-KR" altLang="en-US" dirty="0"/>
              <a:t>보행에서 뭔가 </a:t>
            </a:r>
            <a:r>
              <a:rPr lang="en-US" dirty="0" err="1"/>
              <a:t>어긋난</a:t>
            </a:r>
            <a:r>
              <a:rPr lang="en-US" dirty="0"/>
              <a:t> 걸 알아냈다면, 그래서 무엇을 어떻게 도와줄 </a:t>
            </a:r>
            <a:r>
              <a:rPr lang="en-US" dirty="0" err="1"/>
              <a:t>것인가</a:t>
            </a:r>
            <a:r>
              <a:rPr lang="en-US" dirty="0"/>
              <a:t>. 7주차부터 우리가 직접 할 일, 로봇이 남긴 데이터를 쓸 수 있게 만드는 일입니다.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6부로 갑니다. 1·2부는 기본기와 국내 상황, 3부가 오늘 새로 넣은 해외 파트인데 여기가 제일 재미있을 겁니다. 4부는 센서, 5부는 개인차, 6부가 데이터입니다. 3부에서 던지는 질문이 6부에서 회수됩니다.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1부는 프레임을 깔아두는 시간입니다. 여기서 만든 좌표축으로 오늘 나오는 모든 제품과 논문의 위치를 찍을 수 </a:t>
            </a:r>
            <a:r>
              <a:rPr lang="en-US" dirty="0" err="1"/>
              <a:t>있습니다</a:t>
            </a:r>
            <a:r>
              <a:rPr lang="en-US" dirty="0"/>
              <a:t>.</a:t>
            </a:r>
          </a:p>
          <a:p>
            <a:r>
              <a:rPr lang="ko-KR" altLang="en-US" dirty="0"/>
              <a:t>여기서 누구라는 건 좀 더 자세히 말씀드리면</a:t>
            </a:r>
            <a:r>
              <a:rPr lang="en-US" altLang="ko-KR" dirty="0"/>
              <a:t>, </a:t>
            </a:r>
            <a:r>
              <a:rPr lang="ko-KR" altLang="en-US" dirty="0"/>
              <a:t>키</a:t>
            </a:r>
            <a:r>
              <a:rPr lang="en-US" altLang="ko-KR" dirty="0"/>
              <a:t>, </a:t>
            </a:r>
            <a:r>
              <a:rPr lang="ko-KR" altLang="en-US" dirty="0"/>
              <a:t>몸무게</a:t>
            </a:r>
            <a:r>
              <a:rPr lang="en-US" altLang="ko-KR" dirty="0"/>
              <a:t>, </a:t>
            </a:r>
            <a:r>
              <a:rPr lang="ko-KR" altLang="en-US" dirty="0"/>
              <a:t>체형</a:t>
            </a:r>
            <a:r>
              <a:rPr lang="en-US" altLang="ko-KR" dirty="0"/>
              <a:t>, </a:t>
            </a:r>
            <a:r>
              <a:rPr lang="ko-KR" altLang="en-US" dirty="0"/>
              <a:t>성별</a:t>
            </a:r>
            <a:r>
              <a:rPr lang="en-US" altLang="ko-KR" dirty="0"/>
              <a:t>, </a:t>
            </a:r>
            <a:r>
              <a:rPr lang="ko-KR" altLang="en-US" dirty="0"/>
              <a:t>나이 등 좀 더 세분화해서 말 그대로 </a:t>
            </a:r>
            <a:r>
              <a:rPr lang="ko-KR" altLang="en-US" dirty="0" err="1"/>
              <a:t>개인화하는</a:t>
            </a:r>
            <a:r>
              <a:rPr lang="ko-KR" altLang="en-US" dirty="0"/>
              <a:t> 것입니다</a:t>
            </a:r>
            <a:r>
              <a:rPr lang="en-US" altLang="ko-KR" dirty="0"/>
              <a:t>.</a:t>
            </a:r>
          </a:p>
          <a:p>
            <a:r>
              <a:rPr lang="ko-KR" altLang="en-US" dirty="0"/>
              <a:t>그리고 어디까지 돕느냐는 건 </a:t>
            </a:r>
            <a:r>
              <a:rPr lang="en-US" altLang="ko-KR" dirty="0"/>
              <a:t>?? </a:t>
            </a:r>
            <a:r>
              <a:rPr lang="ko-KR" altLang="en-US" dirty="0"/>
              <a:t>이건 어떻게 설명하지</a:t>
            </a:r>
            <a:r>
              <a:rPr lang="en-US" altLang="ko-K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어떤 제품을 봐도 구조는 같습니다. 의도를 읽고, 무엇을 도울지 정하고, 부족한 만큼 힘을 준다. 세 단계입니다. 4부에서 첫 번째 칸, 센싱을 자세히 뜯어봅니다. 오늘 나올 모든 차이는 이 세 단계 자체가 다른 게 아니라, 누구를 위해 어디까지 하느냐의 </a:t>
            </a:r>
            <a:r>
              <a:rPr lang="en-US" dirty="0" err="1"/>
              <a:t>차이입니다</a:t>
            </a:r>
            <a:r>
              <a:rPr lang="en-US" dirty="0"/>
              <a:t>.</a:t>
            </a:r>
          </a:p>
          <a:p>
            <a:endParaRPr lang="en-US" dirty="0"/>
          </a:p>
          <a:p>
            <a:r>
              <a:rPr lang="ko-KR" altLang="en-US" dirty="0"/>
              <a:t>포근한 병원</a:t>
            </a:r>
            <a:r>
              <a:rPr lang="en-US" altLang="ko-KR" dirty="0"/>
              <a:t>(</a:t>
            </a:r>
            <a:r>
              <a:rPr lang="ko-KR" altLang="en-US" dirty="0"/>
              <a:t>스마트 인솔</a:t>
            </a:r>
            <a:r>
              <a:rPr lang="en-US" altLang="ko-KR" dirty="0"/>
              <a:t>)</a:t>
            </a:r>
            <a:r>
              <a:rPr lang="ko-KR" altLang="en-US" dirty="0"/>
              <a:t> 사례 </a:t>
            </a:r>
            <a:r>
              <a:rPr lang="en-US" altLang="ko-KR" dirty="0"/>
              <a:t>: https://www.youtube.com/watch?v=1g6ABoXanKg&amp;t=41, </a:t>
            </a:r>
            <a:r>
              <a:rPr lang="ko-KR" altLang="ko-KR" sz="1200" b="1" u="none" strike="noStrike" kern="1200" dirty="0">
                <a:solidFill>
                  <a:schemeClr val="tx1"/>
                </a:solidFill>
                <a:effectLst/>
                <a:latin typeface="+mn-lt"/>
                <a:ea typeface="+mn-ea"/>
                <a:cs typeface="+mn-cs"/>
              </a:rPr>
              <a:t>재활 활용</a:t>
            </a:r>
            <a:r>
              <a:rPr lang="ko-KR" altLang="ko-KR" dirty="0"/>
              <a:t>: 보행 속도, 보폭, 체중 이동 등을 분석하여 뇌졸중, 파킨슨병, 근골격계 질환 환자의 재활 상태를 모니터링하고 치료 방향을 잡는 데 활용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개의 축입니다. 목적, 형태, 범위, 사용처. 이게 오늘의 지도입니다. 주목할 건 첫 번째 축입니다. 기능을 대체하는 것과 회복시키는 것은 목표가 정반대일 수 있습니다. 대체는 힘을 많이 줘야 좋고, 회복은 힘을 적게 줘야 좋을 수도 있습니다. 5부에서 이 이야기가 반전으로 돌아옵니다.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방금 만든 축으로 실제 제품을 찍어보겠습니다. M20은 회복·강성·다관절·병원. H10과 K10은 보조·경량·단관절·일상. 같은 회사 제품인데 좌표가 완전히 다릅니다. 그리고 오른쪽, 중국의 등산 보조 외골격은 극단으로 갔습니다. 환자가 아니라 등산객을 찾아냈습니다. 이 이야기는 3부에서 자세히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장표는 넣을까 말까 하다가</a:t>
            </a:r>
            <a:r>
              <a:rPr lang="en-US" altLang="ko-KR" dirty="0"/>
              <a:t>, </a:t>
            </a:r>
            <a:r>
              <a:rPr lang="ko-KR" altLang="en-US" dirty="0"/>
              <a:t>여기 계신 분 중에 엔지니어도 </a:t>
            </a:r>
            <a:r>
              <a:rPr lang="ko-KR" altLang="en-US" dirty="0" err="1"/>
              <a:t>있으셔셔</a:t>
            </a:r>
            <a:r>
              <a:rPr lang="ko-KR" altLang="en-US" dirty="0"/>
              <a:t> 시장의 파이에 대해서도 알면 좋을 듯 해서 설명 드립니다</a:t>
            </a:r>
            <a:r>
              <a:rPr lang="en-US" altLang="ko-KR" dirty="0"/>
              <a:t>.</a:t>
            </a:r>
          </a:p>
          <a:p>
            <a:endParaRPr lang="en-US" dirty="0"/>
          </a:p>
          <a:p>
            <a:r>
              <a:rPr lang="en-US" dirty="0"/>
              <a:t>이 분야가 왜 지금 뜨거운가. 네 가지가 동시에 맞물렸습니다. 고령화, 재활 인력 부족, 하드웨어 원가 하락, 그리고 AI 제어의 성숙. 시장 전망은 2020년 3.9억 달러에서 2030년 68억 달러입니다. 다만 전망치는 출처마다 정말 편차가 큽니다. 숫자를 외우지 마시고 기울기만 </a:t>
            </a:r>
            <a:r>
              <a:rPr lang="en-US" dirty="0" err="1"/>
              <a:t>봐주세요</a:t>
            </a:r>
            <a:r>
              <a:rPr lang="en-US" dirty="0"/>
              <a:t>.</a:t>
            </a:r>
          </a:p>
          <a:p>
            <a:endParaRPr lang="en-US" dirty="0"/>
          </a:p>
          <a:p>
            <a:r>
              <a:rPr lang="ko-KR" altLang="en-US" dirty="0"/>
              <a:t>하드웨어 원가 하락</a:t>
            </a:r>
            <a:r>
              <a:rPr lang="en-US" altLang="ko-KR" dirty="0"/>
              <a:t>: </a:t>
            </a:r>
            <a:r>
              <a:rPr lang="ko-KR" altLang="ko-KR" sz="1200" b="1" u="none" strike="noStrike" kern="1200" dirty="0">
                <a:solidFill>
                  <a:schemeClr val="tx1"/>
                </a:solidFill>
                <a:effectLst/>
                <a:latin typeface="+mn-lt"/>
                <a:ea typeface="+mn-ea"/>
                <a:cs typeface="+mn-cs"/>
              </a:rPr>
              <a:t>모터 및 </a:t>
            </a:r>
            <a:r>
              <a:rPr lang="ko-KR" altLang="ko-KR" sz="1200" b="1" u="none" strike="noStrike" kern="1200" dirty="0" err="1">
                <a:solidFill>
                  <a:schemeClr val="tx1"/>
                </a:solidFill>
                <a:effectLst/>
                <a:latin typeface="+mn-lt"/>
                <a:ea typeface="+mn-ea"/>
                <a:cs typeface="+mn-cs"/>
              </a:rPr>
              <a:t>구동계</a:t>
            </a:r>
            <a:r>
              <a:rPr lang="ko-KR" altLang="ko-KR" sz="1200" b="1" u="none" strike="noStrike" kern="1200" dirty="0">
                <a:solidFill>
                  <a:schemeClr val="tx1"/>
                </a:solidFill>
                <a:effectLst/>
                <a:latin typeface="+mn-lt"/>
                <a:ea typeface="+mn-ea"/>
                <a:cs typeface="+mn-cs"/>
              </a:rPr>
              <a:t>(</a:t>
            </a:r>
            <a:r>
              <a:rPr lang="ko-KR" altLang="ko-KR" sz="1200" b="1" u="none" strike="noStrike" kern="1200" dirty="0" err="1">
                <a:solidFill>
                  <a:schemeClr val="tx1"/>
                </a:solidFill>
                <a:effectLst/>
                <a:latin typeface="+mn-lt"/>
                <a:ea typeface="+mn-ea"/>
                <a:cs typeface="+mn-cs"/>
              </a:rPr>
              <a:t>액추에이터</a:t>
            </a:r>
            <a:r>
              <a:rPr lang="ko-KR" altLang="ko-KR" sz="1200" b="1" u="none" strike="noStrike" kern="1200" dirty="0">
                <a:solidFill>
                  <a:schemeClr val="tx1"/>
                </a:solidFill>
                <a:effectLst/>
                <a:latin typeface="+mn-lt"/>
                <a:ea typeface="+mn-ea"/>
                <a:cs typeface="+mn-cs"/>
              </a:rPr>
              <a:t>): 양산 체제 전환과 내재화</a:t>
            </a:r>
          </a:p>
          <a:p>
            <a:pPr lvl="0"/>
            <a:r>
              <a:rPr lang="ko-KR" altLang="ko-KR" sz="1200" b="1" u="none" strike="noStrike" kern="1200" dirty="0" err="1">
                <a:solidFill>
                  <a:schemeClr val="tx1"/>
                </a:solidFill>
                <a:effectLst/>
                <a:latin typeface="+mn-lt"/>
                <a:ea typeface="+mn-ea"/>
                <a:cs typeface="+mn-cs"/>
              </a:rPr>
              <a:t>휴머노이드</a:t>
            </a:r>
            <a:r>
              <a:rPr lang="ko-KR" altLang="ko-KR" sz="1200" b="1" u="none" strike="noStrike" kern="1200" dirty="0">
                <a:solidFill>
                  <a:schemeClr val="tx1"/>
                </a:solidFill>
                <a:effectLst/>
                <a:latin typeface="+mn-lt"/>
                <a:ea typeface="+mn-ea"/>
                <a:cs typeface="+mn-cs"/>
              </a:rPr>
              <a:t> 양산 경쟁의 낙수효과</a:t>
            </a:r>
            <a:r>
              <a:rPr lang="ko-KR" altLang="ko-KR" sz="1200" b="0" u="none" strike="noStrike" kern="1200" dirty="0">
                <a:solidFill>
                  <a:schemeClr val="tx1"/>
                </a:solidFill>
                <a:effectLst/>
                <a:latin typeface="+mn-lt"/>
                <a:ea typeface="+mn-ea"/>
                <a:cs typeface="+mn-cs"/>
              </a:rPr>
              <a:t>: 최근 테슬라 옵티머스를 비롯해 중국 </a:t>
            </a:r>
            <a:r>
              <a:rPr lang="ko-KR" altLang="ko-KR" sz="1200" b="0" u="none" strike="noStrike" kern="1200" dirty="0" err="1">
                <a:solidFill>
                  <a:schemeClr val="tx1"/>
                </a:solidFill>
                <a:effectLst/>
                <a:latin typeface="+mn-lt"/>
                <a:ea typeface="+mn-ea"/>
                <a:cs typeface="+mn-cs"/>
              </a:rPr>
              <a:t>유니트리</a:t>
            </a:r>
            <a:r>
              <a:rPr lang="ko-KR" altLang="ko-KR" sz="1200" b="0" u="none" strike="noStrike" kern="1200" dirty="0">
                <a:solidFill>
                  <a:schemeClr val="tx1"/>
                </a:solidFill>
                <a:effectLst/>
                <a:latin typeface="+mn-lt"/>
                <a:ea typeface="+mn-ea"/>
                <a:cs typeface="+mn-cs"/>
              </a:rPr>
              <a:t>(</a:t>
            </a:r>
            <a:r>
              <a:rPr lang="ko-KR" altLang="ko-KR" sz="1200" b="0" u="none" strike="noStrike" kern="1200" dirty="0" err="1">
                <a:solidFill>
                  <a:schemeClr val="tx1"/>
                </a:solidFill>
                <a:effectLst/>
                <a:latin typeface="+mn-lt"/>
                <a:ea typeface="+mn-ea"/>
                <a:cs typeface="+mn-cs"/>
              </a:rPr>
              <a:t>Unitree</a:t>
            </a:r>
            <a:r>
              <a:rPr lang="ko-KR" altLang="ko-KR" sz="1200" b="0" u="none" strike="noStrike" kern="1200" dirty="0">
                <a:solidFill>
                  <a:schemeClr val="tx1"/>
                </a:solidFill>
                <a:effectLst/>
                <a:latin typeface="+mn-lt"/>
                <a:ea typeface="+mn-ea"/>
                <a:cs typeface="+mn-cs"/>
              </a:rPr>
              <a:t>) 등의 로봇 대량생산 경쟁이 본격화되면서 로봇용 프레임리스 모터와 정밀 감속기의 대량 생산 단가가 급격히 떨어지고 있습니다</a:t>
            </a:r>
          </a:p>
          <a:p>
            <a:r>
              <a:rPr lang="ko-KR" altLang="ko-KR" dirty="0"/>
              <a:t>배터리: 전기차 공급망 공유 및 </a:t>
            </a:r>
            <a:r>
              <a:rPr lang="ko-KR" altLang="ko-KR" dirty="0" err="1"/>
              <a:t>캐즘</a:t>
            </a:r>
            <a:r>
              <a:rPr lang="ko-KR" altLang="ko-KR" dirty="0"/>
              <a:t> 여파</a:t>
            </a:r>
            <a:r>
              <a:rPr lang="en-US" altLang="ko-KR" dirty="0"/>
              <a:t> </a:t>
            </a:r>
            <a:r>
              <a:rPr lang="en-US" altLang="ko-KR" dirty="0">
                <a:sym typeface="Wingdings" panose="05000000000000000000" pitchFamily="2" charset="2"/>
              </a:rPr>
              <a:t> </a:t>
            </a:r>
            <a:r>
              <a:rPr lang="ko-KR" altLang="ko-KR" sz="1200" b="1" u="none" strike="noStrike" kern="1200" dirty="0">
                <a:solidFill>
                  <a:schemeClr val="tx1"/>
                </a:solidFill>
                <a:effectLst/>
                <a:latin typeface="+mn-lt"/>
                <a:ea typeface="+mn-ea"/>
                <a:cs typeface="+mn-cs"/>
              </a:rPr>
              <a:t>가격 하락 가속화</a:t>
            </a:r>
            <a:r>
              <a:rPr lang="ko-KR" altLang="ko-KR" dirty="0"/>
              <a:t>: 전기차(EV) 시장의 일시적 수요 정체(</a:t>
            </a:r>
            <a:r>
              <a:rPr lang="ko-KR" altLang="ko-KR" dirty="0" err="1"/>
              <a:t>캐즘</a:t>
            </a:r>
            <a:r>
              <a:rPr lang="ko-KR" altLang="ko-KR" dirty="0"/>
              <a:t>)와 배터리 제조사들의 대량 생산 경쟁 덕분에 리튬이온 배터리 셀 가격이 수년 전에 비해 대폭 하락</a:t>
            </a:r>
            <a:endParaRPr lang="en-US" altLang="ko-KR" dirty="0"/>
          </a:p>
          <a:p>
            <a:endParaRPr lang="en-US" dirty="0"/>
          </a:p>
          <a:p>
            <a:r>
              <a:rPr lang="en-US" dirty="0"/>
              <a:t>AI </a:t>
            </a:r>
            <a:r>
              <a:rPr lang="ko-KR" altLang="en-US" dirty="0"/>
              <a:t>제어의 성숙</a:t>
            </a:r>
            <a:r>
              <a:rPr lang="en-US" altLang="ko-KR" dirty="0"/>
              <a:t>: </a:t>
            </a:r>
            <a:r>
              <a:rPr lang="ko-KR" altLang="en-US" dirty="0"/>
              <a:t>알고리즘들은 많이 나오고 있지만 데이터 부족과 표준화된 플랫폼 부재로 인해서 </a:t>
            </a:r>
            <a:r>
              <a:rPr lang="en-US" altLang="ko-KR" dirty="0"/>
              <a:t>AI </a:t>
            </a:r>
            <a:r>
              <a:rPr lang="ko-KR" altLang="en-US" dirty="0"/>
              <a:t>제어의 성숙이라는 말은 약간은 시기 상조일 듯</a:t>
            </a:r>
            <a:r>
              <a:rPr lang="en-US" altLang="ko-K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국내 파트입니다. 여기서 중요한 건 순위를 매기는 게 아니라, 세 곳이 각각 어떤 문제를 맡고 있는지를 보는 겁니다.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정리하면 이렇습니다. 카이스트는 가능성의 상한선을 증명합니다. 엔젤로보틱스는 그걸 현실에 안착시킵니다. 서울대는 아예 다른 길, 손과 소프트 로봇으로 갑니다. 순위가 아니라 분업입니다. 이 세 칸을 하나씩 </a:t>
            </a:r>
            <a:r>
              <a:rPr lang="en-US" dirty="0" err="1"/>
              <a:t>열어보겠습니다</a:t>
            </a:r>
            <a:r>
              <a:rPr lang="en-US" dirty="0"/>
              <a:t>.</a:t>
            </a:r>
          </a:p>
          <a:p>
            <a:r>
              <a:rPr lang="ko-KR" altLang="en-US" dirty="0"/>
              <a:t>서울대</a:t>
            </a:r>
            <a:r>
              <a:rPr lang="en-US" altLang="ko-KR" dirty="0"/>
              <a:t>: </a:t>
            </a:r>
            <a:r>
              <a:rPr lang="ko-KR" altLang="en-US" dirty="0"/>
              <a:t>손 마비 및 중증 장애인을 위한 장갑형 소프트 웨어러블 로봇</a:t>
            </a:r>
            <a:r>
              <a:rPr lang="en-US" altLang="ko-KR" dirty="0"/>
              <a:t>, </a:t>
            </a:r>
            <a:r>
              <a:rPr lang="ko-KR" altLang="en-US" dirty="0"/>
              <a:t>척수 손상</a:t>
            </a:r>
            <a:r>
              <a:rPr lang="en-US" altLang="ko-KR" dirty="0"/>
              <a:t>, </a:t>
            </a:r>
            <a:r>
              <a:rPr lang="ko-KR" altLang="en-US" dirty="0"/>
              <a:t>뇌졸중</a:t>
            </a:r>
            <a:r>
              <a:rPr lang="en-US" altLang="ko-KR" dirty="0"/>
              <a:t>, </a:t>
            </a:r>
            <a:r>
              <a:rPr lang="ko-KR" altLang="en-US" dirty="0"/>
              <a:t>근육 마비 등으로 손가락을 움직이지 못해 물건을 잡지 못하는 환자들의 일상생활 자립을 돕기 위한 연구</a:t>
            </a:r>
            <a:r>
              <a:rPr lang="en-US" altLang="ko-KR" dirty="0"/>
              <a:t>,</a:t>
            </a:r>
          </a:p>
          <a:p>
            <a:r>
              <a:rPr lang="ko-KR" altLang="en-US" dirty="0"/>
              <a:t>시선 기반 의도 예측 시스템</a:t>
            </a:r>
            <a:r>
              <a:rPr lang="en-US" altLang="ko-KR" dirty="0"/>
              <a:t>(AI </a:t>
            </a:r>
            <a:r>
              <a:rPr lang="ko-KR" altLang="en-US" dirty="0"/>
              <a:t>결합</a:t>
            </a:r>
            <a:r>
              <a:rPr lang="en-US" altLang="ko-KR" dirty="0"/>
              <a:t>) =&gt; </a:t>
            </a:r>
            <a:r>
              <a:rPr lang="ko-KR" altLang="ko-KR" sz="1200" b="1" u="none" strike="noStrike" kern="1200" dirty="0">
                <a:solidFill>
                  <a:schemeClr val="tx1"/>
                </a:solidFill>
                <a:effectLst/>
                <a:latin typeface="+mn-lt"/>
                <a:ea typeface="+mn-ea"/>
                <a:cs typeface="+mn-cs"/>
              </a:rPr>
              <a:t>"누군가의 도움 없이 스스로 먹고, 마시고, 문을 열 수 있는 </a:t>
            </a:r>
            <a:r>
              <a:rPr lang="ko-KR" altLang="ko-KR" sz="1200" b="1" u="none" strike="noStrike" kern="1200" dirty="0" err="1">
                <a:solidFill>
                  <a:schemeClr val="tx1"/>
                </a:solidFill>
                <a:effectLst/>
                <a:latin typeface="+mn-lt"/>
                <a:ea typeface="+mn-ea"/>
                <a:cs typeface="+mn-cs"/>
              </a:rPr>
              <a:t>삶"</a:t>
            </a:r>
            <a:r>
              <a:rPr lang="ko-KR" altLang="ko-KR" dirty="0" err="1"/>
              <a:t>을</a:t>
            </a:r>
            <a:r>
              <a:rPr lang="ko-KR" altLang="ko-KR" dirty="0"/>
              <a:t> 구현하는 데 초점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카이스트 공경철 교수팀의 워크온슈트입니다. 대상이 하반신 완전마비, ASIA-A 등급입니다. 스스로 입고 스스로 걷는 게 목표입니다. 사이배슬론에서 금메달을 받았습니다. 여기서 중요한 건, 이건 팔려고 만든 제품이 아니라는 점입니다. 가능성의 상한선을 증명하는 연구입니다. 완전마비 환자를 계단 오르게 만드는 기술이 먼저 있어야, 그보다 쉬운 문제를 푸는 제품이 나올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엔젤렉스 M20입니다. 병원용 재활 치료 로봇입니다. 네 가지만 보시면 됩니다. </a:t>
            </a:r>
          </a:p>
          <a:p>
            <a:r>
              <a:rPr lang="en-US" dirty="0"/>
              <a:t>힘 제어, 보행 의도 인식, 7가지 훈련 모드, 그리고 리포트 기능. </a:t>
            </a:r>
            <a:r>
              <a:rPr lang="en-US" dirty="0" err="1"/>
              <a:t>보행</a:t>
            </a:r>
            <a:r>
              <a:rPr lang="en-US" dirty="0"/>
              <a:t> 의도 </a:t>
            </a:r>
            <a:r>
              <a:rPr lang="en-US" dirty="0" err="1"/>
              <a:t>인식은</a:t>
            </a:r>
            <a:r>
              <a:rPr lang="en-US" dirty="0"/>
              <a:t> </a:t>
            </a:r>
            <a:r>
              <a:rPr lang="ko-KR" altLang="en-US" dirty="0"/>
              <a:t>뒤에서 설명 드릴 </a:t>
            </a:r>
            <a:r>
              <a:rPr lang="en-US" dirty="0" err="1"/>
              <a:t>센서</a:t>
            </a:r>
            <a:r>
              <a:rPr lang="en-US" dirty="0"/>
              <a:t> 이야기로, 리포트 </a:t>
            </a:r>
            <a:r>
              <a:rPr lang="en-US" dirty="0" err="1"/>
              <a:t>기능은</a:t>
            </a:r>
            <a:r>
              <a:rPr lang="en-US" dirty="0"/>
              <a:t> </a:t>
            </a:r>
            <a:r>
              <a:rPr lang="ko-KR" altLang="en-US" dirty="0"/>
              <a:t>저희가 관심을 가지는 </a:t>
            </a:r>
            <a:r>
              <a:rPr lang="en-US" dirty="0" err="1"/>
              <a:t>데이터</a:t>
            </a:r>
            <a:r>
              <a:rPr lang="en-US" dirty="0"/>
              <a:t> 이야기로 이어집니다. </a:t>
            </a:r>
            <a:r>
              <a:rPr lang="en-US" dirty="0" err="1"/>
              <a:t>그리고</a:t>
            </a:r>
            <a:r>
              <a:rPr lang="en-US" dirty="0"/>
              <a:t> </a:t>
            </a:r>
            <a:r>
              <a:rPr lang="ko-KR" altLang="en-US" dirty="0"/>
              <a:t>기술과 </a:t>
            </a:r>
            <a:r>
              <a:rPr lang="ko-KR" altLang="en-US" dirty="0" err="1"/>
              <a:t>더불어서</a:t>
            </a:r>
            <a:r>
              <a:rPr lang="ko-KR" altLang="en-US" dirty="0"/>
              <a:t> 말씀 드릴 사항은 이 전체에 대한</a:t>
            </a:r>
            <a:r>
              <a:rPr lang="en-US" dirty="0"/>
              <a:t> </a:t>
            </a:r>
            <a:r>
              <a:rPr lang="en-US" dirty="0" err="1"/>
              <a:t>철학</a:t>
            </a:r>
            <a:r>
              <a:rPr lang="en-US" dirty="0"/>
              <a:t>, </a:t>
            </a:r>
            <a:r>
              <a:rPr lang="ko-KR" altLang="en-US" dirty="0"/>
              <a:t>즉 방향성</a:t>
            </a:r>
            <a:r>
              <a:rPr lang="en-US" dirty="0"/>
              <a:t>이 중요합니다. </a:t>
            </a:r>
          </a:p>
          <a:p>
            <a:r>
              <a:rPr lang="en-US" dirty="0" err="1"/>
              <a:t>표준대로</a:t>
            </a:r>
            <a:r>
              <a:rPr lang="en-US" dirty="0"/>
              <a:t> 움직이라고 강제하는 게 아니라, 이 사람이 지금 뭘 하려는지 읽어서 그만큼만 돕는 겁니다. </a:t>
            </a:r>
            <a:r>
              <a:rPr lang="en-US" dirty="0" err="1"/>
              <a:t>환자가</a:t>
            </a:r>
            <a:r>
              <a:rPr lang="en-US" dirty="0"/>
              <a:t> </a:t>
            </a:r>
            <a:r>
              <a:rPr lang="en-US" dirty="0" err="1"/>
              <a:t>주도</a:t>
            </a:r>
            <a:r>
              <a:rPr lang="ko-KR" altLang="en-US" dirty="0"/>
              <a:t>하고 환자의 의도를 생각하는</a:t>
            </a:r>
            <a:r>
              <a:rPr lang="en-US" dirty="0"/>
              <a:t> 재활입니다.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엔젤슈트는 일상으로 내려온 제품입니다. H10은 고관절, K10은 무릎입니다. H10은 7개의 고성능 센서와 온디바이스 AI로 움직임을 실시간 분석합니다. </a:t>
            </a:r>
          </a:p>
          <a:p>
            <a:r>
              <a:rPr lang="en-US" dirty="0"/>
              <a:t>이 7개 센서 </a:t>
            </a:r>
            <a:r>
              <a:rPr lang="en-US" dirty="0" err="1"/>
              <a:t>이야기는</a:t>
            </a:r>
            <a:r>
              <a:rPr lang="en-US" dirty="0"/>
              <a:t> </a:t>
            </a:r>
            <a:r>
              <a:rPr lang="ko-KR" altLang="en-US" dirty="0"/>
              <a:t>뒤에서</a:t>
            </a:r>
            <a:r>
              <a:rPr lang="en-US" dirty="0"/>
              <a:t> </a:t>
            </a:r>
            <a:r>
              <a:rPr lang="en-US" dirty="0" err="1"/>
              <a:t>다시</a:t>
            </a:r>
            <a:r>
              <a:rPr lang="en-US" dirty="0"/>
              <a:t> </a:t>
            </a:r>
            <a:r>
              <a:rPr lang="ko-KR" altLang="en-US" dirty="0"/>
              <a:t>간단하게 설명 </a:t>
            </a:r>
            <a:r>
              <a:rPr lang="ko-KR" altLang="en-US" dirty="0" err="1"/>
              <a:t>드릴게요</a:t>
            </a:r>
            <a:r>
              <a:rPr lang="en-US" dirty="0"/>
              <a:t>. </a:t>
            </a:r>
            <a:r>
              <a:rPr lang="ko-KR" altLang="en-US" dirty="0"/>
              <a:t>전국 병원 보급은</a:t>
            </a:r>
            <a:r>
              <a:rPr lang="en-US" dirty="0"/>
              <a:t> 인증, 수가, 사용 편의성, A/S, 교육을 다 통과해야 </a:t>
            </a:r>
            <a:r>
              <a:rPr lang="en-US" dirty="0" err="1"/>
              <a:t>합니다</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서울대입니다. 지난번 초안에서는 제가 확인을 못 해서 비워뒀던 자리인데, 채웠습니다. 조규진 교수 연구실입니다. 방향이 소프트 로봇, 그리고 손입니다. Exo-Glove는 척수손상으로 손을 못 쓰는 사람이 물건을 잡게 해주는 소프트 장갑입니다. 그런데 제가 정말 인상적이었던 건 오른쪽입니다. VideoNet. 안경에 달린 카메라 영상만으로 사용자가 무엇을 잡으려는지 예측합니다. 버튼도 없고 생체신호 센서도 없습니다. 지난 회차에서 이야기한 영상 기반 대 센서 기반, 그 대비가 여기서 그대로 나옵니다.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오늘 새로 넣은 파트이고, 제일 재미있는 부분입니다. 나열이 아니라 두 개의 서로 다른 게임으로 보시면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서구 쪽 주요 플레이어입니다. 다 외우실 필요 없고, 오른쪽 열만 보십시오. 전부 규제 승인 날짜와 보험 수가 금액입니다. 이게 이 트랙의 성적표입니다. 제품이 좋다가 아니라, FDA를 통과했는가, 메디케어가 얼마를 인정했는가. ReWalk는 9만 1천 달러, Indego는 9만 4천 달러입니다. 이 숫자가 사실상 가격 역할을 </a:t>
            </a:r>
            <a:r>
              <a:rPr lang="en-US" dirty="0" err="1"/>
              <a:t>합니다</a:t>
            </a:r>
            <a:r>
              <a:rPr lang="en-US" dirty="0"/>
              <a:t>.</a:t>
            </a:r>
          </a:p>
          <a:p>
            <a:endParaRPr lang="en-US" dirty="0"/>
          </a:p>
          <a:p>
            <a:pPr marL="0" indent="0">
              <a:lnSpc>
                <a:spcPct val="110000"/>
              </a:lnSpc>
              <a:buNone/>
            </a:pPr>
            <a:r>
              <a:rPr lang="en-US" altLang="ko-KR" sz="1200" b="1" dirty="0" err="1">
                <a:solidFill>
                  <a:srgbClr val="102A43"/>
                </a:solidFill>
                <a:latin typeface="Calibri" pitchFamily="34" charset="0"/>
                <a:ea typeface="Calibri" pitchFamily="34" charset="-122"/>
                <a:cs typeface="Calibri" pitchFamily="34" charset="-120"/>
              </a:rPr>
              <a:t>Wandercraft</a:t>
            </a:r>
            <a:endParaRPr lang="en-US" altLang="ko-KR" sz="1200" dirty="0"/>
          </a:p>
          <a:p>
            <a:pPr marL="0" indent="0">
              <a:lnSpc>
                <a:spcPct val="110000"/>
              </a:lnSpc>
              <a:buNone/>
            </a:pPr>
            <a:r>
              <a:rPr lang="en-US" altLang="ko-KR" sz="1200" b="1" dirty="0">
                <a:solidFill>
                  <a:srgbClr val="102A43"/>
                </a:solidFill>
                <a:latin typeface="Calibri" pitchFamily="34" charset="0"/>
                <a:ea typeface="Calibri" pitchFamily="34" charset="-122"/>
                <a:cs typeface="Calibri" pitchFamily="34" charset="-120"/>
              </a:rPr>
              <a:t>Atalante X: </a:t>
            </a:r>
            <a:r>
              <a:rPr lang="en-US" dirty="0"/>
              <a:t>https://www.wandercraft.eu/articles/wandercrafts-atalante-x-enables-significant-gait-improvements-in-post-stroke-gait-rehabilitation-in-new-case-study</a:t>
            </a:r>
          </a:p>
          <a:p>
            <a:pPr marL="0" indent="0">
              <a:lnSpc>
                <a:spcPct val="110000"/>
              </a:lnSpc>
              <a:buNone/>
            </a:pPr>
            <a:endParaRPr lang="en-US" dirty="0"/>
          </a:p>
          <a:p>
            <a:pPr marL="0" indent="0">
              <a:lnSpc>
                <a:spcPct val="110000"/>
              </a:lnSpc>
              <a:buNone/>
            </a:pPr>
            <a:r>
              <a:rPr lang="en-US" dirty="0"/>
              <a:t>ReWalk:</a:t>
            </a:r>
            <a:r>
              <a:rPr lang="ko-KR" altLang="en-US" dirty="0"/>
              <a:t> </a:t>
            </a:r>
            <a:r>
              <a:rPr lang="en-US" dirty="0"/>
              <a:t>https://exoskeletonreport.com/product/rewalk/</a:t>
            </a:r>
          </a:p>
          <a:p>
            <a:pPr marL="0" indent="0">
              <a:lnSpc>
                <a:spcPct val="110000"/>
              </a:lnSpc>
              <a:buNone/>
            </a:pPr>
            <a:endParaRPr lang="en-US" dirty="0"/>
          </a:p>
          <a:p>
            <a:pPr marL="0" indent="0">
              <a:lnSpc>
                <a:spcPct val="110000"/>
              </a:lnSpc>
              <a:buNone/>
            </a:pPr>
            <a:r>
              <a:rPr lang="en-US" altLang="ko-KR" dirty="0"/>
              <a:t>Ek Bionics:</a:t>
            </a:r>
            <a:r>
              <a:rPr lang="ko-KR" altLang="en-US" dirty="0"/>
              <a:t>  </a:t>
            </a:r>
            <a:r>
              <a:rPr lang="en-US" dirty="0"/>
              <a:t>https://eksobionics.com/</a:t>
            </a:r>
          </a:p>
          <a:p>
            <a:pPr marL="0" indent="0">
              <a:lnSpc>
                <a:spcPct val="110000"/>
              </a:lnSpc>
              <a:buNone/>
            </a:pPr>
            <a:endParaRPr lang="en-US" dirty="0"/>
          </a:p>
          <a:p>
            <a:pPr marL="0" indent="0">
              <a:lnSpc>
                <a:spcPct val="110000"/>
              </a:lnSpc>
              <a:buNone/>
            </a:pPr>
            <a:r>
              <a:rPr lang="ko-KR" altLang="en-US" dirty="0"/>
              <a:t>사이버</a:t>
            </a:r>
            <a:r>
              <a:rPr lang="en-US" dirty="0"/>
              <a:t> </a:t>
            </a:r>
            <a:r>
              <a:rPr lang="ko-KR" altLang="en-US" dirty="0"/>
              <a:t>다인</a:t>
            </a:r>
            <a:r>
              <a:rPr lang="en-US" altLang="ko-KR" dirty="0"/>
              <a:t>: https://www.cyberdyne.jp/en/products/hal-lowerlimb-wellbeing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서구 쪽에서 지금 가장 뜨거운 변화입니다. 기존 외골격은 목발이 필요합니다. 로봇이 다리를 움직여주지만 균형은 사용자가 팔로 잡아야 합니다. 두 손이 묶입니다. Wandercraft는 로봇이 균형까지 잡습니다. 그러면 선 자세로 물건을 들 수 있습니다. 그리고 2주 전, 2026년 8월 11일에 개인용 모델 Eve가 FDA 인증을 받았습니다. 다만 정직하게 말하면, 근거는 아직 후향 분석 수준이고 전향적 RCT는 제가 확인하지 못했습니다.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사례를 꼭 보여드리고 싶었습니다. 일본 사이버다인의 HAL입니다. 왼쪽부터 오른쪽으로 읽어보시면, 이게 이 산업의 교과서적 성공 경로입니다. 생체전기신호로 의도를 읽는 기술이 있고, 철학이 명확합니다. 로봇을 벗은 상태의 보행을 개선하겠다는 겁니다. 그리고 무작위 대조 교차시험으로 2분 보행거리 10퍼센트 개선을 입증했습니다. 그 결과로 일본 건강보험 수가 코드를 받았습니다. 하루 1,100점입니다. 임상 시험에서 시작해 공적 수가까지 간 사실상 유일한 사례입니다.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dirty="0" err="1"/>
              <a:t>코크란</a:t>
            </a:r>
            <a:r>
              <a:rPr lang="ko-KR" altLang="ko-KR" dirty="0"/>
              <a:t> 라이브러리(</a:t>
            </a:r>
            <a:r>
              <a:rPr lang="ko-KR" altLang="ko-KR" dirty="0" err="1"/>
              <a:t>Cochrane</a:t>
            </a:r>
            <a:r>
              <a:rPr lang="ko-KR" altLang="ko-KR" dirty="0"/>
              <a:t> </a:t>
            </a:r>
            <a:r>
              <a:rPr lang="ko-KR" altLang="ko-KR" dirty="0" err="1"/>
              <a:t>Library</a:t>
            </a:r>
            <a:r>
              <a:rPr lang="ko-KR" altLang="ko-KR" dirty="0"/>
              <a:t>)</a:t>
            </a:r>
            <a:r>
              <a:rPr lang="en-US" altLang="ko-KR" dirty="0"/>
              <a:t>:</a:t>
            </a:r>
            <a:r>
              <a:rPr lang="ko-KR" altLang="ko-KR" dirty="0"/>
              <a:t> 전 세계 임상 연구를 체계적으로 검토하여 근거중심의학(EBM)을 제공하는 최상위 등급의 신뢰성을 인정받는 데이터베이스</a:t>
            </a:r>
            <a:r>
              <a:rPr lang="en-US" altLang="ko-KR" dirty="0"/>
              <a:t>, </a:t>
            </a:r>
            <a:r>
              <a:rPr lang="ko-KR" altLang="ko-KR" dirty="0"/>
              <a:t>상업적 이해관계 배제와 엄격한 검증 과정을 거쳐 세계보건기구(WHO) 등 주요 기관에서 근거로 인용하는 '골드 스탠다드’ 자료</a:t>
            </a:r>
            <a:endParaRPr lang="en-US" altLang="ko-KR" dirty="0"/>
          </a:p>
          <a:p>
            <a:endParaRPr lang="en-US" dirty="0"/>
          </a:p>
          <a:p>
            <a:endParaRPr lang="en-US" dirty="0"/>
          </a:p>
          <a:p>
            <a:r>
              <a:rPr lang="en-US" dirty="0" err="1"/>
              <a:t>여기서</a:t>
            </a:r>
            <a:r>
              <a:rPr lang="en-US" dirty="0"/>
              <a:t> 제일 중요한 질문을 던지겠습니다. 그래서 로봇 재활은 정말 효과가 있습니까. 정직한 답이 있습니다. 코크란 리뷰 2025년 갱신판, 뇌졸중 RCT 101편, 4,224명입니다. </a:t>
            </a:r>
          </a:p>
          <a:p>
            <a:r>
              <a:rPr lang="en-US" dirty="0" err="1"/>
              <a:t>결과가</a:t>
            </a:r>
            <a:r>
              <a:rPr lang="en-US" dirty="0"/>
              <a:t> 갈립니다. 독립보행 달성 가능성은 높입니다. 오즈비 1.65, 근거 확실성 중등도. NNT 9입니다. 9명을 치료하면 1명이 보행 의존을 면합니다. </a:t>
            </a:r>
          </a:p>
          <a:p>
            <a:endParaRPr lang="en-US" dirty="0"/>
          </a:p>
          <a:p>
            <a:r>
              <a:rPr lang="en-US" dirty="0" err="1"/>
              <a:t>그런데</a:t>
            </a:r>
            <a:r>
              <a:rPr lang="en-US" dirty="0"/>
              <a:t> 보행 속도는 의미 있게 개선하지 못합니다. 0.05미터퍼세컨드입니다. 6분 보행거리도 증가가 없습니다. 이게 101편이 쌓인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척수손상도 비슷합니다. RCT(</a:t>
            </a:r>
            <a:r>
              <a:rPr lang="ko-KR" altLang="en-US" dirty="0"/>
              <a:t>무작위 대조 시험</a:t>
            </a:r>
            <a:r>
              <a:rPr lang="en-US" altLang="ko-KR" dirty="0"/>
              <a:t>)</a:t>
            </a:r>
            <a:r>
              <a:rPr lang="en-US" dirty="0"/>
              <a:t> 15편, 579명. 보행속도와 거리는 통상 물리치료와 동등입니다. 균형과 하지근력, 호흡기능은 개선됩니다. 그리고 이 근거 수준이 그대로 돈으로 연결됩니다. 오른쪽을 보십시오. 미국 민간보험 다수는 아직 investigational, 연구단계로 판정해 비급여 처리합니다. 이유가 뭐라고 적혀 있냐면, 결과지표의 이질성으로 일반적 결론을 도출할 수 없다는 겁니다. 이 문장 기억해 주세요. 6부에서 회수합니다.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이 사슬이 오늘 발표의 논지입니다. 측정과 전처리가 제대로 돼야 임상 근거가 나오고, 근거가 있어야 보험이 붙고, 보험이 붙어야 병원에 들어가고, 그래야 환자가 걷습니다. 맨 왼쪽 칸이 7주차부터 우리가 할 일입니다. 전처리는 코드 정리 문제가 아니라 이 산업이 인정받는 </a:t>
            </a:r>
            <a:r>
              <a:rPr lang="en-US" dirty="0" err="1"/>
              <a:t>문제입니다</a:t>
            </a:r>
            <a:r>
              <a:rPr lang="en-US" dirty="0"/>
              <a:t>.</a:t>
            </a:r>
          </a:p>
          <a:p>
            <a:endParaRPr lang="en-US"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200" b="0" u="none" strike="noStrike" kern="1200" dirty="0" err="1">
                <a:solidFill>
                  <a:schemeClr val="tx1"/>
                </a:solidFill>
                <a:effectLst/>
                <a:latin typeface="+mn-lt"/>
                <a:ea typeface="+mn-ea"/>
                <a:cs typeface="+mn-cs"/>
              </a:rPr>
              <a:t>환자용</a:t>
            </a:r>
            <a:r>
              <a:rPr lang="ko-KR" altLang="ko-KR" sz="1200" b="0" u="none" strike="noStrike" kern="1200" dirty="0">
                <a:solidFill>
                  <a:schemeClr val="tx1"/>
                </a:solidFill>
                <a:effectLst/>
                <a:latin typeface="+mn-lt"/>
                <a:ea typeface="+mn-ea"/>
                <a:cs typeface="+mn-cs"/>
              </a:rPr>
              <a:t> 웨어러블 로봇에서 추출된 데이터에 적용할 수 있는 </a:t>
            </a:r>
            <a:r>
              <a:rPr lang="ko-KR" altLang="ko-KR" sz="1200" b="1" u="none" strike="noStrike" kern="1200" dirty="0">
                <a:solidFill>
                  <a:schemeClr val="tx1"/>
                </a:solidFill>
                <a:effectLst/>
                <a:latin typeface="+mn-lt"/>
                <a:ea typeface="+mn-ea"/>
                <a:cs typeface="+mn-cs"/>
              </a:rPr>
              <a:t>전 세계적으로 완전히 단일화된 '단 하나의 표준 </a:t>
            </a:r>
            <a:r>
              <a:rPr lang="ko-KR" altLang="ko-KR" sz="1200" b="1" u="none" strike="noStrike" kern="1200" dirty="0" err="1">
                <a:solidFill>
                  <a:schemeClr val="tx1"/>
                </a:solidFill>
                <a:effectLst/>
                <a:latin typeface="+mn-lt"/>
                <a:ea typeface="+mn-ea"/>
                <a:cs typeface="+mn-cs"/>
              </a:rPr>
              <a:t>전처리</a:t>
            </a:r>
            <a:r>
              <a:rPr lang="ko-KR" altLang="ko-KR" sz="1200" b="1" u="none" strike="noStrike" kern="1200" dirty="0">
                <a:solidFill>
                  <a:schemeClr val="tx1"/>
                </a:solidFill>
                <a:effectLst/>
                <a:latin typeface="+mn-lt"/>
                <a:ea typeface="+mn-ea"/>
                <a:cs typeface="+mn-cs"/>
              </a:rPr>
              <a:t> </a:t>
            </a:r>
            <a:r>
              <a:rPr lang="ko-KR" altLang="ko-KR" sz="1200" b="1" u="none" strike="noStrike" kern="1200" dirty="0" err="1">
                <a:solidFill>
                  <a:schemeClr val="tx1"/>
                </a:solidFill>
                <a:effectLst/>
                <a:latin typeface="+mn-lt"/>
                <a:ea typeface="+mn-ea"/>
                <a:cs typeface="+mn-cs"/>
              </a:rPr>
              <a:t>절차'는</a:t>
            </a:r>
            <a:r>
              <a:rPr lang="ko-KR" altLang="ko-KR" sz="1200" b="1" u="none" strike="noStrike" kern="1200" dirty="0">
                <a:solidFill>
                  <a:schemeClr val="tx1"/>
                </a:solidFill>
                <a:effectLst/>
                <a:latin typeface="+mn-lt"/>
                <a:ea typeface="+mn-ea"/>
                <a:cs typeface="+mn-cs"/>
              </a:rPr>
              <a:t> 아직 확립되어 있지 않습니다.</a:t>
            </a:r>
            <a:r>
              <a:rPr lang="en-US" altLang="ko-KR" sz="1200" b="1" u="none" strike="noStrike" kern="1200" dirty="0">
                <a:solidFill>
                  <a:schemeClr val="tx1"/>
                </a:solidFill>
                <a:effectLst/>
                <a:latin typeface="+mn-lt"/>
                <a:ea typeface="+mn-ea"/>
                <a:cs typeface="+mn-cs"/>
              </a:rPr>
              <a:t> </a:t>
            </a:r>
            <a:r>
              <a:rPr lang="ko-KR" altLang="ko-KR" dirty="0" err="1"/>
              <a:t>의료·재활</a:t>
            </a:r>
            <a:r>
              <a:rPr lang="ko-KR" altLang="ko-KR" dirty="0"/>
              <a:t> 분야와 로봇 공학계에서는 데이터의 상호운용성과 신뢰성을 확보하기 위해 </a:t>
            </a:r>
            <a:r>
              <a:rPr lang="ko-KR" altLang="ko-KR" sz="1200" b="1" u="none" strike="noStrike" kern="1200" dirty="0">
                <a:solidFill>
                  <a:schemeClr val="tx1"/>
                </a:solidFill>
                <a:effectLst/>
                <a:latin typeface="+mn-lt"/>
                <a:ea typeface="+mn-ea"/>
                <a:cs typeface="+mn-cs"/>
              </a:rPr>
              <a:t>기존의 보건의료 데이터 표준 및 </a:t>
            </a:r>
            <a:r>
              <a:rPr lang="ko-KR" altLang="ko-KR" sz="1200" b="1" u="none" strike="noStrike" kern="1200" dirty="0" err="1">
                <a:solidFill>
                  <a:schemeClr val="tx1"/>
                </a:solidFill>
                <a:effectLst/>
                <a:latin typeface="+mn-lt"/>
                <a:ea typeface="+mn-ea"/>
                <a:cs typeface="+mn-cs"/>
              </a:rPr>
              <a:t>로봇·센서</a:t>
            </a:r>
            <a:r>
              <a:rPr lang="ko-KR" altLang="ko-KR" sz="1200" b="1" u="none" strike="noStrike" kern="1200" dirty="0">
                <a:solidFill>
                  <a:schemeClr val="tx1"/>
                </a:solidFill>
                <a:effectLst/>
                <a:latin typeface="+mn-lt"/>
                <a:ea typeface="+mn-ea"/>
                <a:cs typeface="+mn-cs"/>
              </a:rPr>
              <a:t> 데이터 관리 지침을 준용</a:t>
            </a:r>
            <a:r>
              <a:rPr lang="ko-KR" altLang="ko-KR" dirty="0"/>
              <a:t>하여 </a:t>
            </a:r>
            <a:r>
              <a:rPr lang="ko-KR" altLang="ko-KR" dirty="0" err="1"/>
              <a:t>전처리</a:t>
            </a:r>
            <a:r>
              <a:rPr lang="ko-KR" altLang="ko-KR" dirty="0"/>
              <a:t> 단계를 표준화해 나가고 있는 추세</a:t>
            </a:r>
            <a:r>
              <a:rPr lang="en-US" altLang="ko-KR" dirty="0"/>
              <a:t> </a:t>
            </a: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u="none" strike="noStrike" kern="1200" dirty="0">
                <a:solidFill>
                  <a:schemeClr val="tx1"/>
                </a:solidFill>
                <a:effectLst/>
                <a:latin typeface="+mn-lt"/>
                <a:ea typeface="+mn-ea"/>
                <a:cs typeface="+mn-cs"/>
              </a:rPr>
              <a:t>전처리의 핵심 요소</a:t>
            </a:r>
            <a:r>
              <a:rPr lang="en-US" altLang="ko-KR" sz="1200" b="0" u="none" strike="noStrike" kern="1200" dirty="0">
                <a:solidFill>
                  <a:schemeClr val="tx1"/>
                </a:solidFill>
                <a:effectLst/>
                <a:latin typeface="+mn-lt"/>
                <a:ea typeface="+mn-ea"/>
                <a:cs typeface="+mn-cs"/>
              </a:rPr>
              <a:t>: </a:t>
            </a:r>
            <a:r>
              <a:rPr lang="ko-KR" altLang="en-US" sz="1200" b="0" u="none" strike="noStrike" kern="1200" dirty="0">
                <a:solidFill>
                  <a:schemeClr val="tx1"/>
                </a:solidFill>
                <a:effectLst/>
                <a:latin typeface="+mn-lt"/>
                <a:ea typeface="+mn-ea"/>
                <a:cs typeface="+mn-cs"/>
              </a:rPr>
              <a:t>시간 동기화</a:t>
            </a:r>
            <a:r>
              <a:rPr lang="en-US" altLang="ko-KR" sz="1200" b="0" u="none" strike="noStrike" kern="1200" dirty="0">
                <a:solidFill>
                  <a:schemeClr val="tx1"/>
                </a:solidFill>
                <a:effectLst/>
                <a:latin typeface="+mn-lt"/>
                <a:ea typeface="+mn-ea"/>
                <a:cs typeface="+mn-cs"/>
              </a:rPr>
              <a:t>(</a:t>
            </a:r>
            <a:r>
              <a:rPr lang="ko-KR" altLang="en-US" sz="1200" b="0" u="none" strike="noStrike" kern="1200" dirty="0">
                <a:solidFill>
                  <a:schemeClr val="tx1"/>
                </a:solidFill>
                <a:effectLst/>
                <a:latin typeface="+mn-lt"/>
                <a:ea typeface="+mn-ea"/>
                <a:cs typeface="+mn-cs"/>
              </a:rPr>
              <a:t>이건 정말 하</a:t>
            </a:r>
            <a:r>
              <a:rPr lang="en-US" altLang="ko-KR" sz="1200" b="0" u="none" strike="noStrike" kern="1200" dirty="0">
                <a:solidFill>
                  <a:schemeClr val="tx1"/>
                </a:solidFill>
                <a:effectLst/>
                <a:latin typeface="+mn-lt"/>
                <a:ea typeface="+mn-ea"/>
                <a:cs typeface="+mn-cs"/>
              </a:rPr>
              <a:t>…., </a:t>
            </a:r>
            <a:r>
              <a:rPr lang="ko-KR" altLang="en-US" sz="1200" b="0" u="none" strike="noStrike" kern="1200" dirty="0">
                <a:solidFill>
                  <a:schemeClr val="tx1"/>
                </a:solidFill>
                <a:effectLst/>
                <a:latin typeface="+mn-lt"/>
                <a:ea typeface="+mn-ea"/>
                <a:cs typeface="+mn-cs"/>
              </a:rPr>
              <a:t>노이즈 필터링</a:t>
            </a:r>
            <a:r>
              <a:rPr lang="en-US" altLang="ko-KR" sz="1200" b="0" u="none" strike="noStrike" kern="1200" dirty="0">
                <a:solidFill>
                  <a:schemeClr val="tx1"/>
                </a:solidFill>
                <a:effectLst/>
                <a:latin typeface="+mn-lt"/>
                <a:ea typeface="+mn-ea"/>
                <a:cs typeface="+mn-cs"/>
              </a:rPr>
              <a:t>,… </a:t>
            </a:r>
            <a:r>
              <a:rPr lang="ko-KR" altLang="en-US" sz="1200" b="0" u="none" strike="noStrike" kern="1200" dirty="0">
                <a:solidFill>
                  <a:schemeClr val="tx1"/>
                </a:solidFill>
                <a:effectLst/>
                <a:latin typeface="+mn-lt"/>
                <a:ea typeface="+mn-ea"/>
                <a:cs typeface="+mn-cs"/>
              </a:rPr>
              <a:t>좌표계 및 단위 정규화</a:t>
            </a:r>
            <a:r>
              <a:rPr lang="en-US" altLang="ko-KR" sz="1200" b="0" u="none" strike="noStrike" kern="1200" dirty="0">
                <a:solidFill>
                  <a:schemeClr val="tx1"/>
                </a:solidFill>
                <a:effectLst/>
                <a:latin typeface="+mn-lt"/>
                <a:ea typeface="+mn-ea"/>
                <a:cs typeface="+mn-cs"/>
              </a:rPr>
              <a:t>….</a:t>
            </a:r>
            <a:endParaRPr lang="ko-KR" altLang="ko-KR" sz="1200" b="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반전입니다. 중국 이야기를 시작하는데 병원 이야기가 아닙니다. 태산입니다. 등산로에 외골격 대여소가 있습니다. 3시간에 80위안, 우리 돈 1만 5천 원입니다. 500대를 투입했고 성수기 가동률이 80퍼센트, 연휴엔 전량 대여됩니다. 무게 1.8킬로그램, 배터리 8시간, 체력을 30에서 50퍼센트 절감합니다. 여기서 제가 충격받은 건, 이 시장은 의료기기 인증도 보험 수가도 필요 없다는 점입니다. 대여점은 2~3개월에 본전을 </a:t>
            </a:r>
            <a:r>
              <a:rPr lang="en-US" dirty="0" err="1"/>
              <a:t>뽑습니다</a:t>
            </a:r>
            <a:r>
              <a:rPr lang="en-US" dirty="0"/>
              <a:t>.</a:t>
            </a:r>
          </a:p>
          <a:p>
            <a:r>
              <a:rPr lang="ko-KR" altLang="en-US" dirty="0"/>
              <a:t>중국 태산</a:t>
            </a:r>
            <a:r>
              <a:rPr lang="en-US" altLang="ko-KR" dirty="0"/>
              <a:t>: https://www.hankookilbo.com/news/article/A2025032018350000455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3부에서 제일 중요합니다. 중국을 과대평가도 과소평가도 하지 않으려고 만들었습니다. 논문 수는 공동 1위권입니다. 그런데 영향력, 매개중심성으로 보면 중국 0.15 대 미국 0.43으로 열위입니다. 강화학습 기반 개인화는 여전히 추격자입니다. 2024년 Nature 논문, 인체 실험 없이 시뮬레이션 학습만으로 대사율을 24퍼센트 줄인 그 논문은 미국 랩 성과입니다. 반대로 초록색 칸을 보시면, 의도 인식, 소프트 exosuit, 그리고 소비자 상용화는 확실히 강합니다. 표준화는 아직 미성숙합니다. 정리하면 아래 문장입니다.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정책도 짚어야 합니다. 2023년 1월 '로봇 플러스' 응용 행동 실시방안입니다. 17개 부처가 공동으로 냈고, 양로 서비스 현장에서 외골격 로봇 응용 검증을 명시적으로 장려합니다. 그리고 2025년 국가 AI 의료기기 혁신 과제에 외골격 두 건이 선정됐는데, 둘 다 BCI와 외골격 조합입니다. 국가가 지목한 다음 단계가 뇌-기계 인터페이스라는 신호로 읽힙니다. 세 번째는 조심해서 말씀드리는데, 11개 성시가 의료보험에 편입했다는 보도가 있습니다. 단일 매체 출처라 확정적으로 말씀드리지 않겠습니다.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3부를 마치기 전에 우리 위치를 보겠습니다. 뇌졸중 외골격 보행재활 논문 수로 보면 한국이 107편, 세계 4위입니다. 미국 218편, 중국 217편 다음에 이탈리아, 그리고 한국입니다. 주변부가 아닙니다. 산업 쪽에서는 현대차그룹의 엑스블 라인이 눈에 띕니다. MEX는 식약처 2등급 허가를 받았고, 숄더는 무동력 1.9킬로그램으로 어깨 부하를 60퍼센트 줄입니다. 삼성 봇핏은 솔직히 지금 상황이 좋지 않습니다. 정리하면, 국내는 임상 근거와 현장 보급의 조합에서 승부가 갈립니다. 그 관문을 이미 하나 통과한 회사가 국내에 있다는 게 의미가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4부는 1부에서 말한 세 단계 중 첫 칸, 센싱을 뜯어보는 시간입니다.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라인업입니다. 다섯 개만 알면 됩니다. IMU는 싸고 어디든 붙지만 드리프트가 있습니다. EMG는 특별합니다. 움직임보다 먼저 나옵니다. </a:t>
            </a:r>
          </a:p>
          <a:p>
            <a:endParaRPr lang="en-US" dirty="0"/>
          </a:p>
          <a:p>
            <a:r>
              <a:rPr lang="en-US" dirty="0" err="1"/>
              <a:t>그래서</a:t>
            </a:r>
            <a:r>
              <a:rPr lang="en-US" dirty="0"/>
              <a:t> 예측이 가능합니다. 대신 땀과 전극 위치에 취약합니다. 힘 토크 센서는 제어의 직접 근거인데 비싸고 무겁습니다. </a:t>
            </a:r>
          </a:p>
          <a:p>
            <a:endParaRPr lang="en-US" dirty="0"/>
          </a:p>
          <a:p>
            <a:r>
              <a:rPr lang="en-US" dirty="0" err="1"/>
              <a:t>엔코더는</a:t>
            </a:r>
            <a:r>
              <a:rPr lang="en-US" dirty="0"/>
              <a:t> 정확하지만 로봇 각도지 사람 각도가 아닙니다. 압력 깔창은 보행 이벤트를 잡아줍니다. 오른쪽을 보시면 엔젤슈트 H10이 7개 센서를 씁니다. 그런데 재미있는 게, 반대 방향 연구도 있습니다. 전자과기대는 힘 센서 없이 접촉 상태를 추정합니다. 센서를 더 붙이는 방향과 빼는 방향이 동시에 진행 </a:t>
            </a:r>
            <a:r>
              <a:rPr lang="en-US" dirty="0" err="1"/>
              <a:t>중입니다</a:t>
            </a:r>
            <a:r>
              <a:rPr lang="en-US" dirty="0"/>
              <a:t>.</a:t>
            </a:r>
          </a:p>
          <a:p>
            <a:endParaRPr lang="en-US" dirty="0"/>
          </a:p>
          <a:p>
            <a:r>
              <a:rPr lang="en-US" dirty="0"/>
              <a:t>IMU</a:t>
            </a:r>
            <a:r>
              <a:rPr lang="ko-KR" altLang="en-US" dirty="0"/>
              <a:t>의 적분 </a:t>
            </a:r>
            <a:r>
              <a:rPr lang="ko-KR" altLang="en-US" dirty="0" err="1"/>
              <a:t>드리프트</a:t>
            </a:r>
            <a:r>
              <a:rPr lang="en-US" altLang="ko-KR" dirty="0"/>
              <a:t>: </a:t>
            </a:r>
            <a:r>
              <a:rPr lang="ko-KR" altLang="en-US" dirty="0"/>
              <a:t>센서의 미세한 측정 오차가 시간이 지나면서 누적되어 계산된 위치나 자세 값이 실제와 크게 달라지는 현상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요청받은 VICON 비교입니다. 두 가지 재는 방식이 있습니다. </a:t>
            </a:r>
          </a:p>
          <a:p>
            <a:r>
              <a:rPr lang="en-US" dirty="0" err="1"/>
              <a:t>몸에</a:t>
            </a:r>
            <a:r>
              <a:rPr lang="en-US" dirty="0"/>
              <a:t> 붙여서 재는 웨어러블, 그리고 카메라로 밖에서 관찰해 재는 광학 모션캡처, VICON입니다. </a:t>
            </a:r>
          </a:p>
          <a:p>
            <a:r>
              <a:rPr lang="en-US" dirty="0" err="1"/>
              <a:t>정확도</a:t>
            </a:r>
            <a:r>
              <a:rPr lang="en-US" dirty="0"/>
              <a:t> 줄을 보십시오. VICON은 황금 기준입니다. 사실상 정답 역할을 합니다. 대신 비싸고 실험실에 갇혀 있습니다. 웨어러블은 일상에서 쓸 수 있고 데이터가 무한히 쌓이지만, 정확도는 늘 검증해야 하는 값입니다. 그래서 논문에서 'validated against optical motion capture'라는 문장을 보면, 이 작업을 했다는 </a:t>
            </a:r>
            <a:r>
              <a:rPr lang="en-US" dirty="0" err="1"/>
              <a:t>뜻입니다</a:t>
            </a:r>
            <a:r>
              <a:rPr lang="en-US" dirty="0"/>
              <a:t>.</a:t>
            </a:r>
          </a:p>
          <a:p>
            <a:endParaRPr lang="en-US" dirty="0"/>
          </a:p>
          <a:p>
            <a:r>
              <a:rPr lang="en-US" dirty="0"/>
              <a:t>VICON </a:t>
            </a:r>
            <a:r>
              <a:rPr lang="ko-KR" altLang="en-US" dirty="0"/>
              <a:t>보행 분석 </a:t>
            </a:r>
            <a:r>
              <a:rPr lang="en-US" altLang="ko-KR" dirty="0"/>
              <a:t>: https://www.youtube.com/watch?v=D6JMr-ZPbjQ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세 개가 만납니다. 지난 회차의 영상 대 센서, 2부의 VideoNet, 그리고 방금 본 VICON. 처음엔 영상과 센서가 경쟁하는 것처럼 보이는데, 실은 서로를 검증하고 보완하는 두 축입니다. VICON은 카메라로 정답을 만들어서 센서를 검증합니다. VideoNet은 카메라로 센서를 대체합니다. 그리고 여기서 근본 제약이 나옵니다. 정답이 실험실에만 있다는 겁니다. 그래서 3부에서 본 실사용 기기 수가 곧 데이터 수라는 이야기가 전략적으로 중요해집니다. 일상에서 쌓이는 데이터를 실험실의 정답과 어떻게 연결할 것인가. 이게 열린 </a:t>
            </a:r>
            <a:r>
              <a:rPr lang="en-US" dirty="0" err="1"/>
              <a:t>문제입니다</a:t>
            </a:r>
            <a:r>
              <a:rPr lang="en-US" dirty="0"/>
              <a:t>.</a:t>
            </a:r>
          </a:p>
          <a:p>
            <a:endParaRPr lang="en-US" dirty="0"/>
          </a:p>
          <a:p>
            <a:r>
              <a:rPr lang="ko-KR" altLang="en-US" dirty="0"/>
              <a:t>로봇의 환자 의도 파악</a:t>
            </a:r>
            <a:r>
              <a:rPr lang="en-US" altLang="ko-KR" dirty="0"/>
              <a:t>: </a:t>
            </a:r>
            <a:r>
              <a:rPr lang="ko-KR" altLang="ko-KR" dirty="0"/>
              <a:t>불완전 마비 환자: ‘생체역학적 미세 </a:t>
            </a:r>
            <a:r>
              <a:rPr lang="ko-KR" altLang="ko-KR" dirty="0" err="1"/>
              <a:t>신호’와</a:t>
            </a:r>
            <a:r>
              <a:rPr lang="ko-KR" altLang="ko-KR" dirty="0"/>
              <a:t> AI 분석</a:t>
            </a:r>
            <a:r>
              <a:rPr lang="en-US" altLang="ko-KR" dirty="0"/>
              <a:t>, </a:t>
            </a:r>
            <a:r>
              <a:rPr lang="ko-KR" altLang="ko-KR" dirty="0"/>
              <a:t>완전 하반신 마비 환자: ‘</a:t>
            </a:r>
            <a:r>
              <a:rPr lang="ko-KR" altLang="ko-KR" dirty="0" err="1"/>
              <a:t>상체’의</a:t>
            </a:r>
            <a:r>
              <a:rPr lang="ko-KR" altLang="ko-KR" dirty="0"/>
              <a:t> 움직임을 이용한 의도 전환</a:t>
            </a:r>
            <a:r>
              <a:rPr lang="en-US" altLang="ko-KR" dirty="0"/>
              <a:t>, </a:t>
            </a:r>
            <a:r>
              <a:rPr lang="ko-KR" altLang="ko-KR" dirty="0"/>
              <a:t>미래의 기술: 뇌-컴퓨터 인터페이스 (BCI, </a:t>
            </a:r>
            <a:r>
              <a:rPr lang="ko-KR" altLang="ko-KR" dirty="0" err="1"/>
              <a:t>Brain</a:t>
            </a:r>
            <a:r>
              <a:rPr lang="ko-KR" altLang="ko-KR" dirty="0"/>
              <a:t>-Computer </a:t>
            </a:r>
            <a:r>
              <a:rPr lang="ko-KR" altLang="ko-KR" dirty="0" err="1"/>
              <a:t>Interface</a:t>
            </a:r>
            <a:r>
              <a:rPr lang="ko-KR" altLang="ko-K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5부는 이 분야에서 가장 정직해져야 하는 부분입니다. 표준이 없다는 </a:t>
            </a:r>
            <a:r>
              <a:rPr lang="en-US" dirty="0" err="1"/>
              <a:t>이야기입니다</a:t>
            </a:r>
            <a:r>
              <a:rPr lang="en-US" dirty="0"/>
              <a:t>.</a:t>
            </a:r>
          </a:p>
          <a:p>
            <a:r>
              <a:rPr lang="ko-KR" altLang="en-US" dirty="0"/>
              <a:t>개인화</a:t>
            </a:r>
            <a:r>
              <a:rPr lang="en-US" altLang="ko-KR" dirty="0"/>
              <a:t>'</a:t>
            </a:r>
            <a:r>
              <a:rPr lang="ko-KR" altLang="en-US" dirty="0"/>
              <a:t>모든 사람에게 적용되는 하나의 절대적인 표준 보행은 없다</a:t>
            </a:r>
            <a:r>
              <a:rPr lang="en-US" altLang="ko-KR" dirty="0"/>
              <a:t>'</a:t>
            </a:r>
            <a:r>
              <a:rPr lang="ko-KR" altLang="en-US" dirty="0"/>
              <a:t>는 점과 </a:t>
            </a:r>
            <a:r>
              <a:rPr lang="en-US" altLang="ko-KR" dirty="0"/>
              <a:t>'</a:t>
            </a:r>
            <a:r>
              <a:rPr lang="ko-KR" altLang="en-US" dirty="0"/>
              <a:t>그럼에도 불구하고 생체역학적 이상 징후는 과학적으로 잡아낼 수 있다</a:t>
            </a:r>
            <a:r>
              <a:rPr lang="en-US" altLang="ko-KR" dirty="0"/>
              <a:t>'</a:t>
            </a:r>
            <a:r>
              <a:rPr lang="ko-KR" altLang="en-US" dirty="0"/>
              <a:t>는 점을 결합한 현대 의학 및 로봇 공학의 핵심 방법론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5부입니다. 핵심 메시지는 한 문장입니다. 사람마다 다르기 때문에 하나의 표준으로 보조할 수 없다. 근거가 세 개 있습니다. 첫째, 건강한 성인 20세에서 70세를 대상으로 한 연구에서 보행 지표가 나이, 성별, 키, 체중에 따라 달라집니다. 20대 남성의 정상 보행과 70대 여성의 정상 보행은 다른 값입니다. 둘째, 나이와 질환과 환경이 알고리즘 정확도 자체에 영향을 줍니다. 환자군이 바뀌면 같은 알고리즘이 안 통합니다. 셋째, 중국 SIAT의 2026년 로드맵 리뷰가 미해결 과제로 꼽은 것도 정확히 이것, 개인 간 일반화입니다.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 재미있는 역설이 있습니다. 공경철 원장이 H10을 안경에 비유하면서, 필요한 만큼만 교정해야 한다고 했습니다. 왜냐하면 보조력이 너무 강하면 오히려 자기 몸이 무겁게 느껴지고, 착용자의 근력을 저하시킬 수 있다는 문제가 발견됐기 때문입니다. 많이 도와준다고 좋은 게 아닙니다. 그리고 이건 그냥 좋은 비유가 아닙니다. 1부에서 만든 기능 대체 대 기능 회복 축이 여기서 돌아옵니다. 대체가 목표면 힘이 많아야 좋고, 회복이 목표면 힘이 적어야 좋을 수 있습니다. 같은 로봇인데 목표 함수가 정반대가 됩니다.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개인화 자체가 기술이 됩니다. 세 가지 접근이 있습니다. 첫째, 의도를 읽어서 그만큼만 돕는 방식. M20이 이 방식입니다. 표준대로 움직이라고 하지 않고, 환자가 시도하는 걸 확인한 후 부족한 만큼만 줍니다. 둘째, 사람을 루프에 넣어서 최적화하는 방식. 저장대 연구가 좋은 예입니다. 근활성을 실시간으로 보면서 파라미터를 탐색하는데, 1회 수집 시간을 120초에서 25초로 줄이면서 근활성을 33퍼센트 넘게 감소시켰습니다. 셋째, 시뮬레이션에서 학습하는 방식. 아까 본 Nature 2024 논문입니다. 다만 정직하게 말씀드리면, 이 방법은 지금 재현성 논쟁이 진행 중입니다. 최전선조차 아직 정착되지 않았습니다. 저는 이게 오히려 좋은 신호라고 생각합니다. 우리가 들어갈 자리가 있다는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[여기는 발표자가 직접 말로 채우는 슬라이드입니다.]
슬라이드에 있는 네 개 질문 중 하나만 골라 2~3분 이야기하시면 됩니다. 추천 흐름은 이렇습니다. 위에 있는 논문 문장을 먼저 읽어주십시오. '개인 간 일반화가 어렵다.' 그리고 이렇게 이으십시오. '논문에는 이렇게 한 줄로 쓰여 있는데, 현장에서는 이런 모습입니다.' 그다음 경험담. 주의: 구체적 수치, 환자 데이터, 내부 세팅값은 말씀하지 마시고, '사람마다 이렇게 다르더라' 수준으로 유지하십시오. 그게 안전하고, 오히려 더 설득력 있습니다.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6부입니다. 여기가 7주차 이후 실습으로 이어지는 다리입니다.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로봇은 무엇을 남기는가. 다섯 가지입니다. 구동 토크, 관절 각도, 보행 패턴, 센서 원신호, 그리고 이벤트 타임스탬프. 이건 제가 추측한 게 아니고, 공경철 교수팀의 워크온슈트 논문이 실제로 다루는 항목들입니다. 그리고 오른쪽, M20의 리포트 기능이 이 데이터의 임상적 출구입니다. 로봇이 남긴 숫자가 치료사와 환자가 읽을 수 있는 형태로 나가는 지점입니다.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이 데이터를 바로 못 씁니다. 여기가 공학과 임상의 간극이고, 전처리가 필요한 이유입니다. 첫째, 지터와 노이즈입니다. 웨어러블 센서는 자기 간섭, 온도 드리프트, 스트랩 흔들림, 배터리와 샘플링 지터를 겪습니다. 실험실에선 미미한데 일상 환경에선 자주 발생합니다. 그래서 뭐가 문제냐면, 일관된 전처리 없이는 모델이 엉뚱한 상관관계를 학습합니다. 예를 들어 특정 방향의 센서 드리프트를 특정 동작으로 오인해서 배웁니다. 정확도는 높게 나오는데 실제로는 아무것도 배우지 못한 모델이 됩니다. 이게 우리 실습에서 제일 실무적인 교훈일 거라고 생각합니다. 정확도 숫자를 믿기 전에 그 숫자가 어디서 왔는지 확인하는 습관입니다.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이상치와 결측치입니다. 이건 7주차 실습 예고편이라고 보셔도 됩니다. 실제 연구들이 쓰는 전처리가 이렇습니다. 표준편차 3배를 임계값으로 이상치를 제거하고, 4차 버터워스 저역통과 필터로 차단주파수 10헤르츠에서 고주파 노이즈를 잡고, 보간으로 신호 간섭 오류를 보정합니다. 또 다른 방법은 3단계 파이프라인인데, 클리핑, 슬라이딩 중앙값, 슬라이딩 평균 순서로 갑니다. 그런데 여기 마지막 문장을 강조하고 싶습니다. 이 방법의 목표가 이상치를 억제하면서 보행 이벤트 특징은 보존하는 겁니다. 이게 이 일의 난이도입니다. 노이즈를 없애는 것과 신호를 죽이는 것의 경계가 어디냐. heel strike의 충격 스파이크는 노이즈이기도 하고 이벤트 신호이기도 합니다. 어느 쪽으로 볼지는 알고리즘이 안 정해줍니다. 도메인 지식이 정합니다. 그래서 우리가 필요한 겁니다.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개인차입니다. 데이터 쪽에서는 도메인 시프트라고 부릅니다. 현재 보행 분석은 웨어러블 데이터베이스 자체가 작고, 라벨이 부실하고, 참가자 개인 간 분포가 다릅니다. 5부에서 본 개인차 이야기가 데이터 차원에서 그대로 재등장하는 겁니다. 그래서 아까 3부에서 잠깐 나온 남방과기대 연구가 여기서 의미를 갖습니다. 비지도 크로스-서브젝트 적응으로 사람이 바뀌어도 통하는 의도 예측을 93퍼센트대로 만들었습니다. 정리하면 세 겹의 문제입니다. 신호가 흔들리고, 이상치가 섞이고, 사람마다 분포가 다릅니다. 이 셋을 넘기 전에는 아무리 많은 데이터도 근거가 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3부를 회수하겠습니다. 3부에서 본 게 이겁니다. RCT 101편, 4,224명이 쌓였는데도 보행 속도와 지구력 개선은 근거로 인정받지 못했고, 미국 민간보험 다수는 여전히 비급여입니다. </a:t>
            </a:r>
          </a:p>
          <a:p>
            <a:r>
              <a:rPr lang="en-US" dirty="0" err="1"/>
              <a:t>그런데</a:t>
            </a:r>
            <a:r>
              <a:rPr lang="en-US" dirty="0"/>
              <a:t> 판정 이유를 보시면 '결과지표의 이질성으로 일반적 결론 도출 불가'라고 적혀 있습니다. </a:t>
            </a:r>
          </a:p>
          <a:p>
            <a:r>
              <a:rPr lang="en-US" dirty="0" err="1"/>
              <a:t>무슨</a:t>
            </a:r>
            <a:r>
              <a:rPr lang="en-US" dirty="0"/>
              <a:t> 뜻이냐면, 측정과 전처리가 제각각이면 아무리 많은 연구가 쌓여도 하나의 근거로 합쳐지지 않는다는 겁니다. 그래서 전처리 표준화는 코드 정리 문제가 아니라 이 산업이 인정받는 문제입니다. 중국의 표준화 현황도 국가표준 5건 수준이고 용어와 인간공학, 리스크평가 체계에 공백이 있습니다. 세계 어디도 아직 이 문제를 풀지 </a:t>
            </a:r>
            <a:r>
              <a:rPr lang="en-US" dirty="0" err="1"/>
              <a:t>못했습니다</a:t>
            </a:r>
            <a:r>
              <a:rPr lang="en-US" dirty="0"/>
              <a:t>.</a:t>
            </a:r>
          </a:p>
          <a:p>
            <a:endParaRPr lang="en-US" dirty="0"/>
          </a:p>
          <a:p>
            <a:r>
              <a:rPr lang="ko-KR" altLang="en-US" dirty="0"/>
              <a:t>센서별 </a:t>
            </a:r>
            <a:r>
              <a:rPr lang="en-US" altLang="ko-KR" dirty="0"/>
              <a:t>‘</a:t>
            </a:r>
            <a:r>
              <a:rPr lang="ko-KR" altLang="en-US" dirty="0"/>
              <a:t>사실상 표준</a:t>
            </a:r>
            <a:r>
              <a:rPr lang="en-US" altLang="ko-KR" dirty="0"/>
              <a:t>’ </a:t>
            </a:r>
            <a:r>
              <a:rPr lang="ko-KR" altLang="en-US" dirty="0" err="1"/>
              <a:t>준처리</a:t>
            </a:r>
            <a:r>
              <a:rPr lang="ko-KR" altLang="en-US" dirty="0"/>
              <a:t> 파이프라인</a:t>
            </a:r>
            <a:r>
              <a:rPr lang="en-US" altLang="ko-KR" dirty="0"/>
              <a:t>: IMU(</a:t>
            </a:r>
            <a:r>
              <a:rPr lang="ko-KR" altLang="en-US" dirty="0"/>
              <a:t>관성측정장치</a:t>
            </a:r>
            <a:r>
              <a:rPr lang="en-US" altLang="ko-KR" dirty="0"/>
              <a:t>) – </a:t>
            </a:r>
            <a:r>
              <a:rPr lang="ko-KR" altLang="en-US" dirty="0"/>
              <a:t>상보필터</a:t>
            </a:r>
            <a:r>
              <a:rPr lang="en-US" altLang="ko-KR" dirty="0"/>
              <a:t>, </a:t>
            </a:r>
            <a:r>
              <a:rPr lang="ko-KR" altLang="en-US" dirty="0"/>
              <a:t>칼만 필터</a:t>
            </a:r>
            <a:r>
              <a:rPr lang="en-US" altLang="ko-KR" dirty="0"/>
              <a:t>: </a:t>
            </a:r>
            <a:r>
              <a:rPr lang="ko-KR" altLang="en-US" dirty="0"/>
              <a:t>가속도계의 단기 노이즈와 </a:t>
            </a:r>
            <a:r>
              <a:rPr lang="ko-KR" altLang="en-US" dirty="0" err="1"/>
              <a:t>자이로스코프의</a:t>
            </a:r>
            <a:r>
              <a:rPr lang="ko-KR" altLang="en-US" dirty="0"/>
              <a:t> 장기 누적 오차를 융합하여 정밀한 각도를 계산하는 업계 표준 알고리즘</a:t>
            </a:r>
            <a:endParaRPr lang="en-US" altLang="ko-KR" dirty="0"/>
          </a:p>
          <a:p>
            <a:r>
              <a:rPr lang="ko-KR" altLang="en-US" dirty="0"/>
              <a:t>저주파 통과 필터</a:t>
            </a:r>
            <a:r>
              <a:rPr lang="en-US" altLang="ko-KR" dirty="0"/>
              <a:t>: </a:t>
            </a:r>
            <a:r>
              <a:rPr lang="ko-KR" altLang="en-US" dirty="0"/>
              <a:t>사람의 보행 주파수는 대개 </a:t>
            </a:r>
            <a:r>
              <a:rPr lang="en-US" altLang="ko-KR" dirty="0"/>
              <a:t>1~3Hz </a:t>
            </a:r>
            <a:r>
              <a:rPr lang="ko-KR" altLang="en-US" dirty="0"/>
              <a:t>내외입니다</a:t>
            </a:r>
            <a:r>
              <a:rPr lang="en-US" altLang="ko-KR" dirty="0"/>
              <a:t>. </a:t>
            </a:r>
            <a:r>
              <a:rPr lang="ko-KR" altLang="en-US" dirty="0"/>
              <a:t>로봇 모터나 지면 충격으로 발생하는 고주파 노이즈를 제거하기 위해 </a:t>
            </a:r>
            <a:r>
              <a:rPr lang="en-US" altLang="ko-KR" dirty="0"/>
              <a:t>Cut-off </a:t>
            </a:r>
            <a:r>
              <a:rPr lang="ko-KR" altLang="en-US" dirty="0"/>
              <a:t>주파수를 </a:t>
            </a:r>
            <a:r>
              <a:rPr lang="en-US" altLang="ko-KR" dirty="0"/>
              <a:t>5~10Hz</a:t>
            </a:r>
            <a:r>
              <a:rPr lang="ko-KR" altLang="en-US" dirty="0"/>
              <a:t>로 설정한 </a:t>
            </a:r>
            <a:r>
              <a:rPr lang="ko-KR" altLang="en-US" dirty="0" err="1"/>
              <a:t>버터워스</a:t>
            </a:r>
            <a:r>
              <a:rPr lang="en-US" altLang="ko-KR" dirty="0"/>
              <a:t>(Butterworth) 2</a:t>
            </a:r>
            <a:r>
              <a:rPr lang="ko-KR" altLang="en-US" dirty="0"/>
              <a:t>차</a:t>
            </a:r>
            <a:r>
              <a:rPr lang="en-US" altLang="ko-KR" dirty="0"/>
              <a:t>~4</a:t>
            </a:r>
            <a:r>
              <a:rPr lang="ko-KR" altLang="en-US" dirty="0"/>
              <a:t>차 필터를 적용하는 것이 학계 표준 연구 프로토콜</a:t>
            </a:r>
            <a:endParaRPr lang="en-US" altLang="ko-KR" dirty="0"/>
          </a:p>
          <a:p>
            <a:endParaRPr lang="en-US" dirty="0"/>
          </a:p>
          <a:p>
            <a:r>
              <a:rPr lang="en-US" altLang="ko-KR" dirty="0"/>
              <a:t>1. </a:t>
            </a:r>
            <a:r>
              <a:rPr lang="ko-KR" altLang="en-US" dirty="0"/>
              <a:t>센서별 </a:t>
            </a:r>
            <a:r>
              <a:rPr lang="en-US" altLang="ko-KR" dirty="0"/>
              <a:t>'</a:t>
            </a:r>
            <a:r>
              <a:rPr lang="ko-KR" altLang="en-US" dirty="0"/>
              <a:t>사실상 표준</a:t>
            </a:r>
            <a:r>
              <a:rPr lang="en-US" altLang="ko-KR" dirty="0"/>
              <a:t>(De-facto)' </a:t>
            </a:r>
            <a:r>
              <a:rPr lang="ko-KR" altLang="en-US" dirty="0" err="1"/>
              <a:t>전처리</a:t>
            </a:r>
            <a:r>
              <a:rPr lang="ko-KR" altLang="en-US" dirty="0"/>
              <a:t> 파이프라인</a:t>
            </a:r>
            <a:r>
              <a:rPr lang="en-US" altLang="ko-KR" dirty="0"/>
              <a:t>1) IMU (</a:t>
            </a:r>
            <a:r>
              <a:rPr lang="ko-KR" altLang="en-US" dirty="0"/>
              <a:t>관성측정장치</a:t>
            </a:r>
            <a:r>
              <a:rPr lang="en-US" altLang="ko-KR" dirty="0"/>
              <a:t>: </a:t>
            </a:r>
            <a:r>
              <a:rPr lang="ko-KR" altLang="en-US" dirty="0"/>
              <a:t>가속도</a:t>
            </a:r>
            <a:r>
              <a:rPr lang="en-US" altLang="ko-KR" dirty="0"/>
              <a:t>, </a:t>
            </a:r>
            <a:r>
              <a:rPr lang="ko-KR" altLang="en-US" dirty="0"/>
              <a:t>자이로스코프</a:t>
            </a:r>
            <a:r>
              <a:rPr lang="en-US" altLang="ko-KR" dirty="0"/>
              <a:t>)IMU</a:t>
            </a:r>
            <a:r>
              <a:rPr lang="ko-KR" altLang="en-US" dirty="0"/>
              <a:t>는 누적 오차</a:t>
            </a:r>
            <a:r>
              <a:rPr lang="en-US" altLang="ko-KR" dirty="0"/>
              <a:t>(Drift)</a:t>
            </a:r>
            <a:r>
              <a:rPr lang="ko-KR" altLang="en-US" dirty="0"/>
              <a:t>와 고주파 노이즈</a:t>
            </a:r>
            <a:r>
              <a:rPr lang="en-US" altLang="ko-KR" dirty="0"/>
              <a:t>(</a:t>
            </a:r>
            <a:r>
              <a:rPr lang="ko-KR" altLang="en-US" dirty="0"/>
              <a:t>진동</a:t>
            </a:r>
            <a:r>
              <a:rPr lang="en-US" altLang="ko-KR" dirty="0"/>
              <a:t>)</a:t>
            </a:r>
            <a:r>
              <a:rPr lang="ko-KR" altLang="en-US" dirty="0"/>
              <a:t>를 잡는 전처리가 핵심입니다</a:t>
            </a:r>
            <a:r>
              <a:rPr lang="en-US" altLang="ko-KR" dirty="0"/>
              <a:t>.</a:t>
            </a:r>
            <a:r>
              <a:rPr lang="ko-KR" altLang="en-US" dirty="0"/>
              <a:t>상보 필터</a:t>
            </a:r>
            <a:r>
              <a:rPr lang="en-US" altLang="ko-KR" dirty="0"/>
              <a:t>(Complementary Filter) </a:t>
            </a:r>
            <a:r>
              <a:rPr lang="ko-KR" altLang="en-US" dirty="0"/>
              <a:t>및 칼만 필터</a:t>
            </a:r>
            <a:r>
              <a:rPr lang="en-US" altLang="ko-KR" dirty="0"/>
              <a:t>(Kalman Filter): </a:t>
            </a:r>
            <a:r>
              <a:rPr lang="ko-KR" altLang="en-US" dirty="0"/>
              <a:t>가속도계의 단기 노이즈와 </a:t>
            </a:r>
            <a:r>
              <a:rPr lang="ko-KR" altLang="en-US" dirty="0" err="1"/>
              <a:t>자이로스코프의</a:t>
            </a:r>
            <a:r>
              <a:rPr lang="ko-KR" altLang="en-US" dirty="0"/>
              <a:t> 장기 누적 오차를 융합하여 정밀한 각도를 계산하는 업계 표준 알고리즘입니다</a:t>
            </a:r>
            <a:r>
              <a:rPr lang="en-US" altLang="ko-KR" dirty="0"/>
              <a:t>. </a:t>
            </a:r>
            <a:r>
              <a:rPr lang="ko-KR" altLang="en-US" dirty="0"/>
              <a:t>최근에는 대폭 </a:t>
            </a:r>
            <a:r>
              <a:rPr lang="ko-KR" altLang="en-US" dirty="0" err="1"/>
              <a:t>경량화된</a:t>
            </a:r>
            <a:r>
              <a:rPr lang="ko-KR" altLang="en-US" dirty="0"/>
              <a:t> </a:t>
            </a:r>
            <a:r>
              <a:rPr lang="en-US" altLang="ko-KR" dirty="0"/>
              <a:t>Extended Kalman Filter(EKF)</a:t>
            </a:r>
            <a:r>
              <a:rPr lang="ko-KR" altLang="en-US" dirty="0"/>
              <a:t>가 로봇 임베디드 시스템의 표준으로 쓰입니다</a:t>
            </a:r>
            <a:r>
              <a:rPr lang="en-US" altLang="ko-KR" dirty="0"/>
              <a:t>.</a:t>
            </a:r>
            <a:r>
              <a:rPr lang="ko-KR" altLang="en-US" dirty="0"/>
              <a:t>저주파 통과 필터 </a:t>
            </a:r>
            <a:r>
              <a:rPr lang="en-US" altLang="ko-KR" dirty="0"/>
              <a:t>(Low-Pass Filter): </a:t>
            </a:r>
            <a:r>
              <a:rPr lang="ko-KR" altLang="en-US" dirty="0"/>
              <a:t>사람의 보행 주파수는 대개 </a:t>
            </a:r>
            <a:r>
              <a:rPr lang="en-US" altLang="ko-KR" dirty="0"/>
              <a:t>1~3Hz </a:t>
            </a:r>
            <a:r>
              <a:rPr lang="ko-KR" altLang="en-US" dirty="0"/>
              <a:t>내외입니다</a:t>
            </a:r>
            <a:r>
              <a:rPr lang="en-US" altLang="ko-KR" dirty="0"/>
              <a:t>. </a:t>
            </a:r>
            <a:r>
              <a:rPr lang="ko-KR" altLang="en-US" dirty="0"/>
              <a:t>로봇 모터나 지면 충격으로 발생하는 고주파 노이즈를 제거하기 위해 </a:t>
            </a:r>
            <a:r>
              <a:rPr lang="en-US" altLang="ko-KR" dirty="0"/>
              <a:t>Cut-off </a:t>
            </a:r>
            <a:r>
              <a:rPr lang="ko-KR" altLang="en-US" dirty="0"/>
              <a:t>주파수를 </a:t>
            </a:r>
            <a:r>
              <a:rPr lang="en-US" altLang="ko-KR" dirty="0"/>
              <a:t>5~10Hz</a:t>
            </a:r>
            <a:r>
              <a:rPr lang="ko-KR" altLang="en-US" dirty="0"/>
              <a:t>로 설정한 </a:t>
            </a:r>
            <a:r>
              <a:rPr lang="ko-KR" altLang="en-US" dirty="0" err="1"/>
              <a:t>버터워스</a:t>
            </a:r>
            <a:r>
              <a:rPr lang="en-US" altLang="ko-KR" dirty="0"/>
              <a:t>(Butterworth) 2</a:t>
            </a:r>
            <a:r>
              <a:rPr lang="ko-KR" altLang="en-US" dirty="0"/>
              <a:t>차</a:t>
            </a:r>
            <a:r>
              <a:rPr lang="en-US" altLang="ko-KR" dirty="0"/>
              <a:t>~4</a:t>
            </a:r>
            <a:r>
              <a:rPr lang="ko-KR" altLang="en-US" dirty="0"/>
              <a:t>차 필터를 적용하는 것이 학계 표준 연구 프로토콜입니다</a:t>
            </a:r>
            <a:r>
              <a:rPr lang="en-US" altLang="ko-KR" dirty="0"/>
              <a:t>.2) </a:t>
            </a:r>
            <a:r>
              <a:rPr lang="ko-KR" altLang="en-US" dirty="0" err="1"/>
              <a:t>엔코더</a:t>
            </a:r>
            <a:r>
              <a:rPr lang="ko-KR" altLang="en-US" dirty="0"/>
              <a:t> </a:t>
            </a:r>
            <a:r>
              <a:rPr lang="en-US" altLang="ko-KR" dirty="0"/>
              <a:t>(Encoder: </a:t>
            </a:r>
            <a:r>
              <a:rPr lang="ko-KR" altLang="en-US" dirty="0"/>
              <a:t>모터 관절 각도 센서</a:t>
            </a:r>
            <a:r>
              <a:rPr lang="en-US" altLang="ko-KR" dirty="0"/>
              <a:t>)</a:t>
            </a:r>
            <a:r>
              <a:rPr lang="ko-KR" altLang="en-US" dirty="0" err="1"/>
              <a:t>엔코더는</a:t>
            </a:r>
            <a:r>
              <a:rPr lang="ko-KR" altLang="en-US" dirty="0"/>
              <a:t> 비교적 깨끗한 디지털 데이터가 나오지만</a:t>
            </a:r>
            <a:r>
              <a:rPr lang="en-US" altLang="ko-KR" dirty="0"/>
              <a:t>, </a:t>
            </a:r>
            <a:r>
              <a:rPr lang="ko-KR" altLang="en-US" dirty="0"/>
              <a:t>물리적 한계나 정렬 문제를 처리해야 합니다</a:t>
            </a:r>
            <a:r>
              <a:rPr lang="en-US" altLang="ko-KR" dirty="0"/>
              <a:t>.</a:t>
            </a:r>
            <a:r>
              <a:rPr lang="ko-KR" altLang="en-US" dirty="0"/>
              <a:t>캘리브레이션 및 영점 조절 </a:t>
            </a:r>
            <a:r>
              <a:rPr lang="en-US" altLang="ko-KR" dirty="0"/>
              <a:t>(Zeroing): </a:t>
            </a:r>
            <a:r>
              <a:rPr lang="ko-KR" altLang="en-US" dirty="0"/>
              <a:t>로봇을 착용했을 때 환자의 실제 관절 해부학적 각도</a:t>
            </a:r>
            <a:r>
              <a:rPr lang="en-US" altLang="ko-KR" dirty="0"/>
              <a:t>(Anatomical Angle)</a:t>
            </a:r>
            <a:r>
              <a:rPr lang="ko-KR" altLang="en-US" dirty="0"/>
              <a:t>와 로봇 모터의 각도를 일치시키는 변환 행렬</a:t>
            </a:r>
            <a:r>
              <a:rPr lang="en-US" altLang="ko-KR" dirty="0"/>
              <a:t>(Homogeneous Transformation) </a:t>
            </a:r>
            <a:r>
              <a:rPr lang="ko-KR" altLang="en-US" dirty="0"/>
              <a:t>전처리가 필수입니다</a:t>
            </a:r>
            <a:r>
              <a:rPr lang="en-US" altLang="ko-KR" dirty="0"/>
              <a:t>.</a:t>
            </a:r>
            <a:r>
              <a:rPr lang="ko-KR" altLang="en-US" dirty="0"/>
              <a:t>이상치 제거 및 보간 </a:t>
            </a:r>
            <a:r>
              <a:rPr lang="en-US" altLang="ko-KR" dirty="0"/>
              <a:t>(Outlier Removal &amp; Interpolation): </a:t>
            </a:r>
            <a:r>
              <a:rPr lang="ko-KR" altLang="en-US" dirty="0"/>
              <a:t>통신 순간 오류로 튀는 데이터</a:t>
            </a:r>
            <a:r>
              <a:rPr lang="en-US" altLang="ko-KR" dirty="0"/>
              <a:t>(Spike </a:t>
            </a:r>
            <a:r>
              <a:rPr lang="ko-KR" altLang="en-US" dirty="0"/>
              <a:t>노이즈</a:t>
            </a:r>
            <a:r>
              <a:rPr lang="en-US" altLang="ko-KR" dirty="0"/>
              <a:t>)</a:t>
            </a:r>
            <a:r>
              <a:rPr lang="ko-KR" altLang="en-US" dirty="0"/>
              <a:t>를 미디언 필터</a:t>
            </a:r>
            <a:r>
              <a:rPr lang="en-US" altLang="ko-KR" dirty="0"/>
              <a:t>(Median Filter)</a:t>
            </a:r>
            <a:r>
              <a:rPr lang="ko-KR" altLang="en-US" dirty="0"/>
              <a:t>로 제거하고</a:t>
            </a:r>
            <a:r>
              <a:rPr lang="en-US" altLang="ko-KR" dirty="0"/>
              <a:t>, </a:t>
            </a:r>
            <a:r>
              <a:rPr lang="ko-KR" altLang="en-US" dirty="0"/>
              <a:t>센서 샘플링 속도가 다를 경우 선형 보간</a:t>
            </a:r>
            <a:r>
              <a:rPr lang="en-US" altLang="ko-KR" dirty="0"/>
              <a:t>(Linear Interpolation) </a:t>
            </a:r>
            <a:r>
              <a:rPr lang="ko-KR" altLang="en-US" dirty="0"/>
              <a:t>또는 </a:t>
            </a:r>
            <a:r>
              <a:rPr lang="ko-KR" altLang="en-US" dirty="0" err="1"/>
              <a:t>스플라인</a:t>
            </a:r>
            <a:r>
              <a:rPr lang="en-US" altLang="ko-KR" dirty="0"/>
              <a:t>(Spline) </a:t>
            </a:r>
            <a:r>
              <a:rPr lang="ko-KR" altLang="en-US" dirty="0" err="1"/>
              <a:t>보간을</a:t>
            </a:r>
            <a:r>
              <a:rPr lang="ko-KR" altLang="en-US" dirty="0"/>
              <a:t> 통해 타 센서와 데이터 동기화</a:t>
            </a:r>
            <a:r>
              <a:rPr lang="en-US" altLang="ko-KR" dirty="0"/>
              <a:t>(Synchronization)</a:t>
            </a:r>
            <a:r>
              <a:rPr lang="ko-KR" altLang="en-US" dirty="0"/>
              <a:t>를 맞춥니다</a:t>
            </a:r>
            <a:r>
              <a:rPr lang="en-US" altLang="ko-KR" dirty="0"/>
              <a:t>.3) EMG (</a:t>
            </a:r>
            <a:r>
              <a:rPr lang="ko-KR" altLang="en-US" dirty="0"/>
              <a:t>근전도 센서</a:t>
            </a:r>
            <a:r>
              <a:rPr lang="en-US" altLang="ko-KR" dirty="0"/>
              <a:t>)</a:t>
            </a:r>
            <a:r>
              <a:rPr lang="ko-KR" altLang="en-US" dirty="0"/>
              <a:t>생체 신호인 </a:t>
            </a:r>
            <a:r>
              <a:rPr lang="en-US" altLang="ko-KR" dirty="0"/>
              <a:t>EMG</a:t>
            </a:r>
            <a:r>
              <a:rPr lang="ko-KR" altLang="en-US" dirty="0"/>
              <a:t>는 노이즈가 가장 심해 가장 엄격한 표준 </a:t>
            </a:r>
            <a:r>
              <a:rPr lang="ko-KR" altLang="en-US" dirty="0" err="1"/>
              <a:t>전처리</a:t>
            </a:r>
            <a:r>
              <a:rPr lang="ko-KR" altLang="en-US" dirty="0"/>
              <a:t> 단계를 거칩니다</a:t>
            </a:r>
            <a:r>
              <a:rPr lang="en-US" altLang="ko-KR" dirty="0"/>
              <a:t>.</a:t>
            </a:r>
            <a:r>
              <a:rPr lang="ko-KR" altLang="en-US" dirty="0"/>
              <a:t>대역 통과 필터 </a:t>
            </a:r>
            <a:r>
              <a:rPr lang="en-US" altLang="ko-KR" dirty="0"/>
              <a:t>(Band-pass Filter): </a:t>
            </a:r>
            <a:r>
              <a:rPr lang="ko-KR" altLang="en-US" dirty="0"/>
              <a:t>의미 있는 근육 신호 구간인 </a:t>
            </a:r>
            <a:r>
              <a:rPr lang="en-US" altLang="ko-KR" dirty="0"/>
              <a:t>20Hz ~ 450Hz(</a:t>
            </a:r>
            <a:r>
              <a:rPr lang="ko-KR" altLang="en-US" dirty="0"/>
              <a:t>또는 </a:t>
            </a:r>
            <a:r>
              <a:rPr lang="en-US" altLang="ko-KR" dirty="0"/>
              <a:t>500Hz) </a:t>
            </a:r>
            <a:r>
              <a:rPr lang="ko-KR" altLang="en-US" dirty="0"/>
              <a:t>영역만 남기고</a:t>
            </a:r>
            <a:r>
              <a:rPr lang="en-US" altLang="ko-KR" dirty="0"/>
              <a:t>, 60Hz(</a:t>
            </a:r>
            <a:r>
              <a:rPr lang="ko-KR" altLang="en-US" dirty="0"/>
              <a:t>또는 </a:t>
            </a:r>
            <a:r>
              <a:rPr lang="en-US" altLang="ko-KR" dirty="0"/>
              <a:t>50Hz)</a:t>
            </a:r>
            <a:r>
              <a:rPr lang="ko-KR" altLang="en-US" dirty="0"/>
              <a:t>의 가정용 전원 노이즈를 제거하기 위해 노치 필터</a:t>
            </a:r>
            <a:r>
              <a:rPr lang="en-US" altLang="ko-KR" dirty="0"/>
              <a:t>(Notch Filter)</a:t>
            </a:r>
            <a:r>
              <a:rPr lang="ko-KR" altLang="en-US" dirty="0"/>
              <a:t>를 반드시 통과시킵니다</a:t>
            </a:r>
            <a:r>
              <a:rPr lang="en-US" altLang="ko-KR" dirty="0"/>
              <a:t>.</a:t>
            </a:r>
            <a:r>
              <a:rPr lang="ko-KR" altLang="en-US" dirty="0"/>
              <a:t>정류 </a:t>
            </a:r>
            <a:r>
              <a:rPr lang="en-US" altLang="ko-KR" dirty="0"/>
              <a:t>(Full-wave Rectification): EMG</a:t>
            </a:r>
            <a:r>
              <a:rPr lang="ko-KR" altLang="en-US" dirty="0"/>
              <a:t>는 음수와 양수를 오가는 교류 형태입니다</a:t>
            </a:r>
            <a:r>
              <a:rPr lang="en-US" altLang="ko-KR" dirty="0"/>
              <a:t>. </a:t>
            </a:r>
            <a:r>
              <a:rPr lang="ko-KR" altLang="en-US" dirty="0"/>
              <a:t>전처리를 위해 모든 신호에 절댓값을 씌워 양수 영역으로 뒤집습니다</a:t>
            </a:r>
            <a:r>
              <a:rPr lang="en-US" altLang="ko-KR" dirty="0"/>
              <a:t>.</a:t>
            </a:r>
            <a:r>
              <a:rPr lang="ko-KR" altLang="en-US" dirty="0" err="1"/>
              <a:t>엔벨로프</a:t>
            </a:r>
            <a:r>
              <a:rPr lang="ko-KR" altLang="en-US" dirty="0"/>
              <a:t> 추출 </a:t>
            </a:r>
            <a:r>
              <a:rPr lang="en-US" altLang="ko-KR" dirty="0"/>
              <a:t>(Envelope Extraction): </a:t>
            </a:r>
            <a:r>
              <a:rPr lang="ko-KR" altLang="en-US" dirty="0"/>
              <a:t>정류된 신호에 다시 저주파 통과 필터</a:t>
            </a:r>
            <a:r>
              <a:rPr lang="en-US" altLang="ko-KR" dirty="0"/>
              <a:t>(6~10Hz)</a:t>
            </a:r>
            <a:r>
              <a:rPr lang="ko-KR" altLang="en-US" dirty="0"/>
              <a:t>를 적용해 부드러운 곡선</a:t>
            </a:r>
            <a:r>
              <a:rPr lang="en-US" altLang="ko-KR" dirty="0"/>
              <a:t>(Envelope) </a:t>
            </a:r>
            <a:r>
              <a:rPr lang="ko-KR" altLang="en-US" dirty="0"/>
              <a:t>형태로 만듭니다</a:t>
            </a:r>
            <a:r>
              <a:rPr lang="en-US" altLang="ko-KR" dirty="0"/>
              <a:t>. </a:t>
            </a:r>
            <a:r>
              <a:rPr lang="ko-KR" altLang="en-US" dirty="0"/>
              <a:t>이 곡선의 형태가 곧 </a:t>
            </a:r>
            <a:r>
              <a:rPr lang="en-US" altLang="ko-KR" dirty="0"/>
              <a:t>'</a:t>
            </a:r>
            <a:r>
              <a:rPr lang="ko-KR" altLang="en-US" dirty="0"/>
              <a:t>근육이 발휘하는 힘의 트렌드</a:t>
            </a:r>
            <a:r>
              <a:rPr lang="en-US" altLang="ko-KR" dirty="0"/>
              <a:t>'</a:t>
            </a:r>
            <a:r>
              <a:rPr lang="ko-KR" altLang="en-US" dirty="0"/>
              <a:t>가 됩니다</a:t>
            </a:r>
            <a:r>
              <a:rPr lang="en-US" altLang="ko-KR"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오늘은 여기까지입니다. 마지막으로 다음 시간 예고입니다. 제가 1·2회차 두 번 발표했으니, 다음 시간부터는 여러분이 한 분씩 돌아가며 논문 리뷰를 맡아주시면 좋겠습니다. 첫 논문으로 이걸 추천합니다. 2026년 1월 MDPI Applied Sciences 논문, '하지 웨어러블 센서 데이터를 이용한 신뢰성 있는 보행 단계 검출'입니다. 고른 이유 셋. 첫째, 우리가 하려는 걸 이미 해냈습니다 — 공개 IMU 데이터만으로 보행 단계 분류. 둘째, 오늘 6부에서 배운 게 그대로 나옵니다 — 발 닿음·발 뜸 검출, 전처리, 특징 추출. 셋째, 무거운 딥러닝이 아니라 트리 계열이라 우리도 재현 가능합니다. 정확도 97% 이상. 발표는 지난번 5단계 틀로 부탁드립니다. 무료 논문이니 부담 갖지 마시고, 발표자는 오늘 끝나고 정하겠습니다. 수고하셨습니다.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angel-robotics.com/ko/products/angel-medi/m20" TargetMode="External"/><Relationship Id="rId4" Type="http://schemas.openxmlformats.org/officeDocument/2006/relationships/hyperlink" Target="https://www.biotimes.co.kr/news/articleView.html?idxno=2210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science.cspress.com.cn/uploadfile/202602/210f6b354fd3996.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angel-robotics.com/ko/products/angel-medi/m2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biotimes.co.kr/news/articleView.html?idxno=2210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snu.ac.kr/research/highlights?md=v&amp;bbsidx=125887" TargetMode="External"/><Relationship Id="rId4" Type="http://schemas.openxmlformats.org/officeDocument/2006/relationships/hyperlink" Target="https://www.biorobotics.snu.ac.kr/" TargetMode="External"/><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exoskeletonreport.com/2026/08/fda-clearance-for-eve-wandercrafts-personal-use-self-balancing-walking-exoskeleton/" TargetMode="External"/><Relationship Id="rId4" Type="http://schemas.openxmlformats.org/officeDocument/2006/relationships/hyperlink" Target="https://ir.rewalk.com/news-releases/news-release-details/medicare-revises-2024-fee-schedule-include-payment-rate-rewalk" TargetMode="External"/><Relationship Id="rId5" Type="http://schemas.openxmlformats.org/officeDocument/2006/relationships/hyperlink" Target="https://www.cyberdyne.jp/products/LowerLimb_medical.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exoskeletonreport.com/2026/08/fda-clearance-for-eve-wandercrafts-personal-use-self-balancing-walking-exoskeleton/" TargetMode="External"/><Relationship Id="rId4" Type="http://schemas.openxmlformats.org/officeDocument/2006/relationships/hyperlink" Target="https://www.wandercraft.eu/articles/fda-extension-for-atalante-x"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cyberdyne.jp/products/LowerLimb_medical.html" TargetMode="External"/><Relationship Id="rId4" Type="http://schemas.openxmlformats.org/officeDocument/2006/relationships/hyperlink" Target="https://www.cyberdyne.jp/news/11034.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cochranelibrary.com/cdsr/doi/10.1002/14651858.CD006185.pub6/ful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link.springer.com/article/10.1186/s12984-025-01649-1" TargetMode="External"/><Relationship Id="rId4" Type="http://schemas.openxmlformats.org/officeDocument/2006/relationships/hyperlink" Target="https://www.southcarolinablues.com/web/public/brands/medicalpolicyhb/external-policies/powered-exoskeleton-for-ambulation-in-patients-with-lower-limb-disabiliti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finance.sina.com.cn/tech/digi/2025-05-03/doc-inevhtrv8431188.shtml" TargetMode="External"/><Relationship Id="rId4" Type="http://schemas.openxmlformats.org/officeDocument/2006/relationships/hyperlink" Target="https://news.pedaily.cn/202606/565468.s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www.frontiersin.org/journals/bioengineering-and-biotechnology/articles/10.3389/fbioe.2024.1391322/full" TargetMode="External"/><Relationship Id="rId4" Type="http://schemas.openxmlformats.org/officeDocument/2006/relationships/hyperlink" Target="https://www.mdpi.com/1424-8220/24/22/7125" TargetMode="External"/><Relationship Id="rId5" Type="http://schemas.openxmlformats.org/officeDocument/2006/relationships/hyperlink" Target="https://www.nature.com/articles/s41586-024-07382-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irc.sues.edu.cn/a6/cf/c23941a239311/page.htm" TargetMode="External"/><Relationship Id="rId4" Type="http://schemas.openxmlformats.org/officeDocument/2006/relationships/hyperlink" Target="https://exoskeletonreport.com/2026/06/chinas-silver-economy-helps-draw-rmb-%C2%A51-8b-us270m-into-exoskeletons-as-everyday-mobility-technolog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chart" Target="../charts/chart1.xml"/><Relationship Id="rId4" Type="http://schemas.openxmlformats.org/officeDocument/2006/relationships/hyperlink" Target="https://www.frontiersin.org/journals/bioengineering-and-biotechnology/articles/10.3389/fbioe.2024.1391322/full" TargetMode="External"/><Relationship Id="rId5" Type="http://schemas.openxmlformats.org/officeDocument/2006/relationships/hyperlink" Target="https://www.inews24.com/view/178789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biotimes.co.kr/news/articleView.html?idxno=2210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jcjs.siat.ac.cn/article/doi/10.12146/j.issn.2095-3135.2026032300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www.frontiersin.org/articles/10.3389/fbioe.2023.1006326/full" TargetMode="External"/><Relationship Id="rId4" Type="http://schemas.openxmlformats.org/officeDocument/2006/relationships/hyperlink" Target="https://www.nature.com/articles/s41586-024-07382-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www.angel-robotics.com/ko/products/angel-medi/m2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hyperlink" Target="https://osrp.sustech.edu.cn/news/534.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hyperlink" Target="https://www.cochranelibrary.com/cdsr/doi/10.1002/14651858.CD006185.pub6/full" TargetMode="External"/><Relationship Id="rId4" Type="http://schemas.openxmlformats.org/officeDocument/2006/relationships/hyperlink" Target="https://www.southcarolinablues.com/web/public/brands/medicalpolicyhb/external-policies/powered-exoskeleton-for-ambulation-in-patients-with-lower-limb-disabilities/" TargetMode="External"/><Relationship Id="rId5" Type="http://schemas.openxmlformats.org/officeDocument/2006/relationships/hyperlink" Target="https://science.cspress.com.cn/uploadfile/202602/210f6b354fd3996.pdf"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a:effectLst/>
      </p:bgPr>
    </p:bg>
    <p:spTree>
      <p:nvGrpSpPr>
        <p:cNvPr id="1" name=""/>
        <p:cNvGrpSpPr/>
        <p:nvPr/>
      </p:nvGrpSpPr>
      <p:grpSpPr>
        <a:xfrm>
          <a:off x="0" y="0"/>
          <a:ext cx="0" cy="0"/>
          <a:chOff x="0" y="0"/>
          <a:chExt cx="0" cy="0"/>
        </a:xfrm>
      </p:grpSpPr>
      <p:sp>
        <p:nvSpPr>
          <p:cNvPr id="2" name="Text 0"/>
          <p:cNvSpPr/>
          <p:nvPr/>
        </p:nvSpPr>
        <p:spPr>
          <a:xfrm>
            <a:off x="548640" y="1417320"/>
            <a:ext cx="11064240" cy="274320"/>
          </a:xfrm>
          <a:prstGeom prst="rect">
            <a:avLst/>
          </a:prstGeom>
          <a:noFill/>
          <a:ln/>
        </p:spPr>
        <p:txBody>
          <a:bodyPr wrap="square" lIns="0" tIns="0" rIns="0" bIns="0" rtlCol="0" anchor="ctr"/>
          <a:lstStyle/>
          <a:p>
            <a:pPr marL="0" indent="0">
              <a:buNone/>
            </a:pPr>
            <a:r>
              <a:rPr lang="en-US" sz="1300" b="1" kern="0" spc="200" dirty="0">
                <a:solidFill>
                  <a:srgbClr val="8FC7CE"/>
                </a:solidFill>
                <a:latin typeface="Calibri" pitchFamily="34" charset="0"/>
                <a:ea typeface="Calibri" pitchFamily="34" charset="-122"/>
                <a:cs typeface="Calibri" pitchFamily="34" charset="-120"/>
              </a:rPr>
              <a:t>모두의연구소  ·  Walk AI 랩  ·  2회차</a:t>
            </a:r>
            <a:endParaRPr lang="en-US" sz="1300" dirty="0"/>
          </a:p>
        </p:txBody>
      </p:sp>
      <p:sp>
        <p:nvSpPr>
          <p:cNvPr id="3" name="Text 1"/>
          <p:cNvSpPr/>
          <p:nvPr/>
        </p:nvSpPr>
        <p:spPr>
          <a:xfrm>
            <a:off x="548640" y="1874520"/>
            <a:ext cx="1106424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재활 로봇은 사람을 어떻게 돕는가</a:t>
            </a:r>
            <a:endParaRPr lang="en-US" sz="4600" dirty="0"/>
          </a:p>
        </p:txBody>
      </p:sp>
      <p:sp>
        <p:nvSpPr>
          <p:cNvPr id="4" name="Text 2"/>
          <p:cNvSpPr/>
          <p:nvPr/>
        </p:nvSpPr>
        <p:spPr>
          <a:xfrm>
            <a:off x="548640" y="2880360"/>
            <a:ext cx="11064240" cy="411480"/>
          </a:xfrm>
          <a:prstGeom prst="rect">
            <a:avLst/>
          </a:prstGeom>
          <a:noFill/>
          <a:ln/>
        </p:spPr>
        <p:txBody>
          <a:bodyPr wrap="square" lIns="0" tIns="0" rIns="0" bIns="0" rtlCol="0" anchor="ctr"/>
          <a:lstStyle/>
          <a:p>
            <a:pPr marL="0" indent="0">
              <a:buNone/>
            </a:pPr>
            <a:r>
              <a:rPr lang="en-US" sz="1900" dirty="0">
                <a:solidFill>
                  <a:srgbClr val="8FC7CE"/>
                </a:solidFill>
                <a:latin typeface="Calibri" pitchFamily="34" charset="0"/>
                <a:ea typeface="Calibri" pitchFamily="34" charset="-122"/>
                <a:cs typeface="Calibri" pitchFamily="34" charset="-120"/>
              </a:rPr>
              <a:t>웨어러블 재활로봇의 지형도 · 센서 · 개인차 · 그리고 데이터</a:t>
            </a:r>
            <a:endParaRPr lang="en-US" sz="1900" dirty="0"/>
          </a:p>
        </p:txBody>
      </p:sp>
      <p:sp>
        <p:nvSpPr>
          <p:cNvPr id="5" name="Shape 3"/>
          <p:cNvSpPr/>
          <p:nvPr/>
        </p:nvSpPr>
        <p:spPr>
          <a:xfrm>
            <a:off x="548640" y="3703320"/>
            <a:ext cx="1005840" cy="27432"/>
          </a:xfrm>
          <a:prstGeom prst="rect">
            <a:avLst/>
          </a:prstGeom>
          <a:solidFill>
            <a:srgbClr val="E8871E"/>
          </a:solidFill>
          <a:ln/>
        </p:spPr>
        <p:txBody>
          <a:bodyPr/>
          <a:lstStyle/>
          <a:p>
            <a:endParaRPr lang="ko-KR" altLang="en-US"/>
          </a:p>
        </p:txBody>
      </p:sp>
      <p:sp>
        <p:nvSpPr>
          <p:cNvPr id="6" name="Text 4"/>
          <p:cNvSpPr/>
          <p:nvPr/>
        </p:nvSpPr>
        <p:spPr>
          <a:xfrm>
            <a:off x="548640" y="3977640"/>
            <a:ext cx="54864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발표 · 조효성</a:t>
            </a:r>
            <a:endParaRPr lang="en-US" sz="1500" dirty="0"/>
          </a:p>
        </p:txBody>
      </p:sp>
      <p:sp>
        <p:nvSpPr>
          <p:cNvPr id="7"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100" i="1" dirty="0">
                <a:solidFill>
                  <a:srgbClr val="829AB1"/>
                </a:solidFill>
                <a:latin typeface="Calibri" pitchFamily="34" charset="0"/>
                <a:ea typeface="Calibri" pitchFamily="34" charset="-122"/>
                <a:cs typeface="Calibri" pitchFamily="34" charset="-120"/>
              </a:rPr>
              <a:t>본 자료의 모든 수치와 인용은 공개된 논문·보도·기업 공시 자료에 근거하며, 각 슬라이드 하단에 출처를 링크로 표기했습니다.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지난 회차와 잇기</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관찰했으니, 이제 개입한다</a:t>
            </a:r>
            <a:endParaRPr lang="en-US" sz="3000" dirty="0"/>
          </a:p>
        </p:txBody>
      </p:sp>
      <p:sp>
        <p:nvSpPr>
          <p:cNvPr id="4" name="Shape 2"/>
          <p:cNvSpPr/>
          <p:nvPr/>
        </p:nvSpPr>
        <p:spPr>
          <a:xfrm>
            <a:off x="548640" y="1920240"/>
            <a:ext cx="3291840" cy="2286000"/>
          </a:xfrm>
          <a:prstGeom prst="roundRect">
            <a:avLst>
              <a:gd name="adj" fmla="val 24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68680" y="2148840"/>
            <a:ext cx="2651760" cy="274320"/>
          </a:xfrm>
          <a:prstGeom prst="rect">
            <a:avLst/>
          </a:prstGeom>
          <a:noFill/>
          <a:ln/>
        </p:spPr>
        <p:txBody>
          <a:bodyPr wrap="square" lIns="0" tIns="0" rIns="0" bIns="0" rtlCol="0" anchor="ctr"/>
          <a:lstStyle/>
          <a:p>
            <a:pPr marL="0" indent="0">
              <a:buNone/>
            </a:pPr>
            <a:r>
              <a:rPr lang="en-US" sz="1200" b="1" kern="0" spc="100" dirty="0">
                <a:solidFill>
                  <a:srgbClr val="0E7C86"/>
                </a:solidFill>
                <a:latin typeface="Calibri" pitchFamily="34" charset="0"/>
                <a:ea typeface="Calibri" pitchFamily="34" charset="-122"/>
                <a:cs typeface="Calibri" pitchFamily="34" charset="-120"/>
              </a:rPr>
              <a:t>1회차</a:t>
            </a:r>
            <a:endParaRPr lang="en-US" sz="1200" dirty="0"/>
          </a:p>
        </p:txBody>
      </p:sp>
      <p:sp>
        <p:nvSpPr>
          <p:cNvPr id="6" name="Text 4"/>
          <p:cNvSpPr/>
          <p:nvPr/>
        </p:nvSpPr>
        <p:spPr>
          <a:xfrm>
            <a:off x="868680" y="2450592"/>
            <a:ext cx="2651760" cy="502920"/>
          </a:xfrm>
          <a:prstGeom prst="rect">
            <a:avLst/>
          </a:prstGeom>
          <a:noFill/>
          <a:ln/>
        </p:spPr>
        <p:txBody>
          <a:bodyPr wrap="square" lIns="0" tIns="0" rIns="0" bIns="0" rtlCol="0" anchor="ctr"/>
          <a:lstStyle/>
          <a:p>
            <a:pPr marL="0" indent="0">
              <a:buNone/>
            </a:pPr>
            <a:r>
              <a:rPr lang="en-US" sz="2800" b="1" dirty="0">
                <a:solidFill>
                  <a:srgbClr val="102A43"/>
                </a:solidFill>
                <a:latin typeface="Cambria" pitchFamily="34" charset="0"/>
                <a:ea typeface="Cambria" pitchFamily="34" charset="-122"/>
                <a:cs typeface="Cambria" pitchFamily="34" charset="-120"/>
              </a:rPr>
              <a:t>관찰</a:t>
            </a:r>
            <a:endParaRPr lang="en-US" sz="2800" dirty="0"/>
          </a:p>
        </p:txBody>
      </p:sp>
      <p:sp>
        <p:nvSpPr>
          <p:cNvPr id="7" name="Text 5"/>
          <p:cNvSpPr/>
          <p:nvPr/>
        </p:nvSpPr>
        <p:spPr>
          <a:xfrm>
            <a:off x="868680" y="3035808"/>
            <a:ext cx="2651760" cy="914400"/>
          </a:xfrm>
          <a:prstGeom prst="rect">
            <a:avLst/>
          </a:prstGeom>
          <a:noFill/>
          <a:ln/>
        </p:spPr>
        <p:txBody>
          <a:bodyPr wrap="square" lIns="0" tIns="0" rIns="0" bIns="0" rtlCol="0" anchor="ctr"/>
          <a:lstStyle/>
          <a:p>
            <a:pPr marL="0" indent="0">
              <a:lnSpc>
                <a:spcPct val="120000"/>
              </a:lnSpc>
              <a:buNone/>
            </a:pPr>
            <a:r>
              <a:rPr lang="en-US" sz="1400" dirty="0">
                <a:solidFill>
                  <a:srgbClr val="52606D"/>
                </a:solidFill>
                <a:latin typeface="Calibri" pitchFamily="34" charset="0"/>
                <a:ea typeface="Calibri" pitchFamily="34" charset="-122"/>
                <a:cs typeface="Calibri" pitchFamily="34" charset="-120"/>
              </a:rPr>
              <a:t>보행을 분석하고</a:t>
            </a:r>
            <a:endParaRPr lang="en-US" sz="1400" dirty="0"/>
          </a:p>
          <a:p>
            <a:pPr marL="0" indent="0">
              <a:lnSpc>
                <a:spcPct val="120000"/>
              </a:lnSpc>
              <a:buNone/>
            </a:pPr>
            <a:r>
              <a:rPr lang="en-US" sz="1400" dirty="0">
                <a:solidFill>
                  <a:srgbClr val="52606D"/>
                </a:solidFill>
                <a:latin typeface="Calibri" pitchFamily="34" charset="0"/>
                <a:ea typeface="Calibri" pitchFamily="34" charset="-122"/>
                <a:cs typeface="Calibri" pitchFamily="34" charset="-120"/>
              </a:rPr>
              <a:t>이상 보행에 이름을 붙였다</a:t>
            </a:r>
            <a:endParaRPr lang="en-US" sz="1400" dirty="0"/>
          </a:p>
        </p:txBody>
      </p:sp>
      <p:sp>
        <p:nvSpPr>
          <p:cNvPr id="8" name="Text 6"/>
          <p:cNvSpPr/>
          <p:nvPr/>
        </p:nvSpPr>
        <p:spPr>
          <a:xfrm>
            <a:off x="3886200" y="2788920"/>
            <a:ext cx="502920" cy="548640"/>
          </a:xfrm>
          <a:prstGeom prst="rect">
            <a:avLst/>
          </a:prstGeom>
          <a:noFill/>
          <a:ln/>
        </p:spPr>
        <p:txBody>
          <a:bodyPr wrap="square" lIns="0" tIns="0" rIns="0" bIns="0" rtlCol="0" anchor="ctr"/>
          <a:lstStyle/>
          <a:p>
            <a:pPr marL="0" indent="0" algn="ctr">
              <a:buNone/>
            </a:pPr>
            <a:r>
              <a:rPr lang="en-US" sz="2600" b="1" dirty="0">
                <a:solidFill>
                  <a:srgbClr val="829AB1"/>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434840" y="1920240"/>
            <a:ext cx="3291840" cy="2286000"/>
          </a:xfrm>
          <a:prstGeom prst="roundRect">
            <a:avLst>
              <a:gd name="adj" fmla="val 2400"/>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0" name="Text 8"/>
          <p:cNvSpPr/>
          <p:nvPr/>
        </p:nvSpPr>
        <p:spPr>
          <a:xfrm>
            <a:off x="4754880" y="2148840"/>
            <a:ext cx="2651760" cy="274320"/>
          </a:xfrm>
          <a:prstGeom prst="rect">
            <a:avLst/>
          </a:prstGeom>
          <a:noFill/>
          <a:ln/>
        </p:spPr>
        <p:txBody>
          <a:bodyPr wrap="square" lIns="0" tIns="0" rIns="0" bIns="0" rtlCol="0" anchor="ctr"/>
          <a:lstStyle/>
          <a:p>
            <a:pPr marL="0" indent="0">
              <a:buNone/>
            </a:pPr>
            <a:r>
              <a:rPr lang="en-US" sz="1200" b="1" kern="0" spc="100" dirty="0">
                <a:solidFill>
                  <a:srgbClr val="8FC7CE"/>
                </a:solidFill>
                <a:latin typeface="Calibri" pitchFamily="34" charset="0"/>
                <a:ea typeface="Calibri" pitchFamily="34" charset="-122"/>
                <a:cs typeface="Calibri" pitchFamily="34" charset="-120"/>
              </a:rPr>
              <a:t>2회차</a:t>
            </a:r>
            <a:endParaRPr lang="en-US" sz="1200" dirty="0"/>
          </a:p>
        </p:txBody>
      </p:sp>
      <p:sp>
        <p:nvSpPr>
          <p:cNvPr id="11" name="Text 9"/>
          <p:cNvSpPr/>
          <p:nvPr/>
        </p:nvSpPr>
        <p:spPr>
          <a:xfrm>
            <a:off x="4754880" y="2450592"/>
            <a:ext cx="265176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개입</a:t>
            </a:r>
            <a:endParaRPr lang="en-US" sz="2800" dirty="0"/>
          </a:p>
        </p:txBody>
      </p:sp>
      <p:sp>
        <p:nvSpPr>
          <p:cNvPr id="12" name="Text 10"/>
          <p:cNvSpPr/>
          <p:nvPr/>
        </p:nvSpPr>
        <p:spPr>
          <a:xfrm>
            <a:off x="4754880" y="3035808"/>
            <a:ext cx="2651760" cy="914400"/>
          </a:xfrm>
          <a:prstGeom prst="rect">
            <a:avLst/>
          </a:prstGeom>
          <a:noFill/>
          <a:ln/>
        </p:spPr>
        <p:txBody>
          <a:bodyPr wrap="square" lIns="0" tIns="0" rIns="0" bIns="0" rtlCol="0" anchor="ctr"/>
          <a:lstStyle/>
          <a:p>
            <a:pPr marL="0" indent="0">
              <a:lnSpc>
                <a:spcPct val="120000"/>
              </a:lnSpc>
              <a:buNone/>
            </a:pPr>
            <a:r>
              <a:rPr lang="en-US" sz="1400" dirty="0">
                <a:solidFill>
                  <a:srgbClr val="8FC7CE"/>
                </a:solidFill>
                <a:latin typeface="Calibri" pitchFamily="34" charset="0"/>
                <a:ea typeface="Calibri" pitchFamily="34" charset="-122"/>
                <a:cs typeface="Calibri" pitchFamily="34" charset="-120"/>
              </a:rPr>
              <a:t>그래서 무엇을,</a:t>
            </a:r>
            <a:endParaRPr lang="en-US" sz="1400" dirty="0"/>
          </a:p>
          <a:p>
            <a:pPr marL="0" indent="0">
              <a:lnSpc>
                <a:spcPct val="120000"/>
              </a:lnSpc>
              <a:buNone/>
            </a:pPr>
            <a:r>
              <a:rPr lang="en-US" sz="1400" dirty="0">
                <a:solidFill>
                  <a:srgbClr val="8FC7CE"/>
                </a:solidFill>
                <a:latin typeface="Calibri" pitchFamily="34" charset="0"/>
                <a:ea typeface="Calibri" pitchFamily="34" charset="-122"/>
                <a:cs typeface="Calibri" pitchFamily="34" charset="-120"/>
              </a:rPr>
              <a:t>어떻게 도울 것인가</a:t>
            </a:r>
            <a:endParaRPr lang="en-US" sz="1400" dirty="0"/>
          </a:p>
        </p:txBody>
      </p:sp>
      <p:sp>
        <p:nvSpPr>
          <p:cNvPr id="13" name="Text 11"/>
          <p:cNvSpPr/>
          <p:nvPr/>
        </p:nvSpPr>
        <p:spPr>
          <a:xfrm>
            <a:off x="7772400" y="2788920"/>
            <a:ext cx="502920" cy="548640"/>
          </a:xfrm>
          <a:prstGeom prst="rect">
            <a:avLst/>
          </a:prstGeom>
          <a:noFill/>
          <a:ln/>
        </p:spPr>
        <p:txBody>
          <a:bodyPr wrap="square" lIns="0" tIns="0" rIns="0" bIns="0" rtlCol="0" anchor="ctr"/>
          <a:lstStyle/>
          <a:p>
            <a:pPr marL="0" indent="0" algn="ctr">
              <a:buNone/>
            </a:pPr>
            <a:r>
              <a:rPr lang="en-US" sz="2600" b="1" dirty="0">
                <a:solidFill>
                  <a:srgbClr val="829AB1"/>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8321040" y="1920240"/>
            <a:ext cx="3291840" cy="2286000"/>
          </a:xfrm>
          <a:prstGeom prst="roundRect">
            <a:avLst>
              <a:gd name="adj" fmla="val 24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8641080" y="2148840"/>
            <a:ext cx="2651760" cy="274320"/>
          </a:xfrm>
          <a:prstGeom prst="rect">
            <a:avLst/>
          </a:prstGeom>
          <a:noFill/>
          <a:ln/>
        </p:spPr>
        <p:txBody>
          <a:bodyPr wrap="square" lIns="0" tIns="0" rIns="0" bIns="0" rtlCol="0" anchor="ctr"/>
          <a:lstStyle/>
          <a:p>
            <a:pPr marL="0" indent="0">
              <a:buNone/>
            </a:pPr>
            <a:r>
              <a:rPr lang="en-US" sz="1200" b="1" kern="0" spc="100" dirty="0">
                <a:solidFill>
                  <a:srgbClr val="0E7C86"/>
                </a:solidFill>
                <a:latin typeface="Calibri" pitchFamily="34" charset="0"/>
                <a:ea typeface="Calibri" pitchFamily="34" charset="-122"/>
                <a:cs typeface="Calibri" pitchFamily="34" charset="-120"/>
              </a:rPr>
              <a:t>7주차~</a:t>
            </a:r>
            <a:endParaRPr lang="en-US" sz="1200" dirty="0"/>
          </a:p>
        </p:txBody>
      </p:sp>
      <p:sp>
        <p:nvSpPr>
          <p:cNvPr id="16" name="Text 14"/>
          <p:cNvSpPr/>
          <p:nvPr/>
        </p:nvSpPr>
        <p:spPr>
          <a:xfrm>
            <a:off x="8641080" y="2450592"/>
            <a:ext cx="2651760" cy="502920"/>
          </a:xfrm>
          <a:prstGeom prst="rect">
            <a:avLst/>
          </a:prstGeom>
          <a:noFill/>
          <a:ln/>
        </p:spPr>
        <p:txBody>
          <a:bodyPr wrap="square" lIns="0" tIns="0" rIns="0" bIns="0" rtlCol="0" anchor="ctr"/>
          <a:lstStyle/>
          <a:p>
            <a:pPr marL="0" indent="0">
              <a:buNone/>
            </a:pPr>
            <a:r>
              <a:rPr lang="en-US" sz="2800" b="1" dirty="0">
                <a:solidFill>
                  <a:srgbClr val="102A43"/>
                </a:solidFill>
                <a:latin typeface="Cambria" pitchFamily="34" charset="0"/>
                <a:ea typeface="Cambria" pitchFamily="34" charset="-122"/>
                <a:cs typeface="Cambria" pitchFamily="34" charset="-120"/>
              </a:rPr>
              <a:t>증명</a:t>
            </a:r>
            <a:endParaRPr lang="en-US" sz="2800" dirty="0"/>
          </a:p>
        </p:txBody>
      </p:sp>
      <p:sp>
        <p:nvSpPr>
          <p:cNvPr id="17" name="Text 15"/>
          <p:cNvSpPr/>
          <p:nvPr/>
        </p:nvSpPr>
        <p:spPr>
          <a:xfrm>
            <a:off x="8641080" y="3035808"/>
            <a:ext cx="2651760" cy="914400"/>
          </a:xfrm>
          <a:prstGeom prst="rect">
            <a:avLst/>
          </a:prstGeom>
          <a:noFill/>
          <a:ln/>
        </p:spPr>
        <p:txBody>
          <a:bodyPr wrap="square" lIns="0" tIns="0" rIns="0" bIns="0" rtlCol="0" anchor="ctr"/>
          <a:lstStyle/>
          <a:p>
            <a:pPr marL="0" indent="0">
              <a:lnSpc>
                <a:spcPct val="120000"/>
              </a:lnSpc>
              <a:buNone/>
            </a:pPr>
            <a:r>
              <a:rPr lang="en-US" sz="1400" dirty="0">
                <a:solidFill>
                  <a:srgbClr val="52606D"/>
                </a:solidFill>
                <a:latin typeface="Calibri" pitchFamily="34" charset="0"/>
                <a:ea typeface="Calibri" pitchFamily="34" charset="-122"/>
                <a:cs typeface="Calibri" pitchFamily="34" charset="-120"/>
              </a:rPr>
              <a:t>로봇이 남긴 데이터로</a:t>
            </a:r>
            <a:endParaRPr lang="en-US" sz="1400" dirty="0"/>
          </a:p>
          <a:p>
            <a:pPr marL="0" indent="0">
              <a:lnSpc>
                <a:spcPct val="120000"/>
              </a:lnSpc>
              <a:buNone/>
            </a:pPr>
            <a:r>
              <a:rPr lang="en-US" sz="1400" dirty="0">
                <a:solidFill>
                  <a:srgbClr val="52606D"/>
                </a:solidFill>
                <a:latin typeface="Calibri" pitchFamily="34" charset="0"/>
                <a:ea typeface="Calibri" pitchFamily="34" charset="-122"/>
                <a:cs typeface="Calibri" pitchFamily="34" charset="-120"/>
              </a:rPr>
              <a:t>회복을 증명한다</a:t>
            </a:r>
            <a:endParaRPr lang="en-US" sz="1400" dirty="0"/>
          </a:p>
        </p:txBody>
      </p:sp>
      <p:sp>
        <p:nvSpPr>
          <p:cNvPr id="18" name="Text 16"/>
          <p:cNvSpPr/>
          <p:nvPr/>
        </p:nvSpPr>
        <p:spPr>
          <a:xfrm>
            <a:off x="548640" y="4617720"/>
            <a:ext cx="11064240" cy="457200"/>
          </a:xfrm>
          <a:prstGeom prst="rect">
            <a:avLst/>
          </a:prstGeom>
          <a:noFill/>
          <a:ln/>
        </p:spPr>
        <p:txBody>
          <a:bodyPr wrap="square" lIns="0" tIns="0" rIns="0" bIns="0" rtlCol="0" anchor="ctr"/>
          <a:lstStyle/>
          <a:p>
            <a:pPr marL="0" indent="0">
              <a:buNone/>
            </a:pPr>
            <a:r>
              <a:rPr lang="en-US" sz="1500" i="1" dirty="0">
                <a:solidFill>
                  <a:srgbClr val="102A43"/>
                </a:solidFill>
                <a:latin typeface="Calibri" pitchFamily="34" charset="0"/>
                <a:ea typeface="Calibri" pitchFamily="34" charset="-122"/>
                <a:cs typeface="Calibri" pitchFamily="34" charset="-120"/>
              </a:rPr>
              <a:t>CSV </a:t>
            </a:r>
            <a:r>
              <a:rPr lang="en-US" sz="1500" i="1" dirty="0" err="1">
                <a:solidFill>
                  <a:srgbClr val="102A43"/>
                </a:solidFill>
                <a:latin typeface="Calibri" pitchFamily="34" charset="0"/>
                <a:ea typeface="Calibri" pitchFamily="34" charset="-122"/>
                <a:cs typeface="Calibri" pitchFamily="34" charset="-120"/>
              </a:rPr>
              <a:t>파일</a:t>
            </a:r>
            <a:r>
              <a:rPr lang="en-US" sz="1500" i="1" dirty="0">
                <a:solidFill>
                  <a:srgbClr val="102A43"/>
                </a:solidFill>
                <a:latin typeface="Calibri" pitchFamily="34" charset="0"/>
                <a:ea typeface="Calibri" pitchFamily="34" charset="-122"/>
                <a:cs typeface="Calibri" pitchFamily="34" charset="-120"/>
              </a:rPr>
              <a:t>?, 그 끝</a:t>
            </a:r>
            <a:r>
              <a:rPr lang="ko-KR" altLang="en-US" sz="1500" i="1" dirty="0">
                <a:solidFill>
                  <a:srgbClr val="102A43"/>
                </a:solidFill>
                <a:latin typeface="Calibri" pitchFamily="34" charset="0"/>
                <a:ea typeface="Calibri" pitchFamily="34" charset="-122"/>
                <a:cs typeface="Calibri" pitchFamily="34" charset="-120"/>
              </a:rPr>
              <a:t>은</a:t>
            </a:r>
            <a:r>
              <a:rPr lang="en-US" sz="1500" i="1" dirty="0">
                <a:solidFill>
                  <a:srgbClr val="102A43"/>
                </a:solidFill>
                <a:latin typeface="Calibri" pitchFamily="34" charset="0"/>
                <a:ea typeface="Calibri" pitchFamily="34" charset="-122"/>
                <a:cs typeface="Calibri" pitchFamily="34" charset="-120"/>
              </a:rPr>
              <a:t> </a:t>
            </a:r>
            <a:r>
              <a:rPr lang="en-US" sz="1500" i="1" dirty="0" err="1">
                <a:solidFill>
                  <a:srgbClr val="102A43"/>
                </a:solidFill>
                <a:latin typeface="Calibri" pitchFamily="34" charset="0"/>
                <a:ea typeface="Calibri" pitchFamily="34" charset="-122"/>
                <a:cs typeface="Calibri" pitchFamily="34" charset="-120"/>
              </a:rPr>
              <a:t>사람의</a:t>
            </a:r>
            <a:r>
              <a:rPr lang="en-US" sz="1500" i="1" dirty="0">
                <a:solidFill>
                  <a:srgbClr val="102A43"/>
                </a:solidFill>
                <a:latin typeface="Calibri" pitchFamily="34" charset="0"/>
                <a:ea typeface="Calibri" pitchFamily="34" charset="-122"/>
                <a:cs typeface="Calibri" pitchFamily="34" charset="-120"/>
              </a:rPr>
              <a:t> </a:t>
            </a:r>
            <a:r>
              <a:rPr lang="en-US" sz="1500" i="1" dirty="0" err="1">
                <a:solidFill>
                  <a:srgbClr val="102A43"/>
                </a:solidFill>
                <a:latin typeface="Calibri" pitchFamily="34" charset="0"/>
                <a:ea typeface="Calibri" pitchFamily="34" charset="-122"/>
                <a:cs typeface="Calibri" pitchFamily="34" charset="-120"/>
              </a:rPr>
              <a:t>보행</a:t>
            </a:r>
            <a:r>
              <a:rPr lang="en-US" sz="1500" i="1" dirty="0">
                <a:solidFill>
                  <a:srgbClr val="102A43"/>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AGENDA</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오늘의 순서</a:t>
            </a:r>
            <a:endParaRPr lang="en-US" sz="3000" dirty="0"/>
          </a:p>
        </p:txBody>
      </p:sp>
      <p:sp>
        <p:nvSpPr>
          <p:cNvPr id="4" name="Shape 2"/>
          <p:cNvSpPr/>
          <p:nvPr/>
        </p:nvSpPr>
        <p:spPr>
          <a:xfrm>
            <a:off x="548640" y="1572768"/>
            <a:ext cx="11064240" cy="658368"/>
          </a:xfrm>
          <a:prstGeom prst="roundRect">
            <a:avLst>
              <a:gd name="adj" fmla="val 833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Shape 3"/>
          <p:cNvSpPr/>
          <p:nvPr/>
        </p:nvSpPr>
        <p:spPr>
          <a:xfrm>
            <a:off x="768096" y="1719072"/>
            <a:ext cx="365760" cy="365760"/>
          </a:xfrm>
          <a:prstGeom prst="ellipse">
            <a:avLst/>
          </a:prstGeom>
          <a:solidFill>
            <a:srgbClr val="0E7C86"/>
          </a:solidFill>
          <a:ln/>
        </p:spPr>
        <p:txBody>
          <a:bodyPr/>
          <a:lstStyle/>
          <a:p>
            <a:endParaRPr lang="ko-KR" altLang="en-US"/>
          </a:p>
        </p:txBody>
      </p:sp>
      <p:sp>
        <p:nvSpPr>
          <p:cNvPr id="6" name="Text 4"/>
          <p:cNvSpPr/>
          <p:nvPr/>
        </p:nvSpPr>
        <p:spPr>
          <a:xfrm>
            <a:off x="768096" y="17190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98448" y="1645920"/>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웨어러블 재활로봇이란</a:t>
            </a:r>
            <a:endParaRPr lang="en-US" sz="1550" dirty="0"/>
          </a:p>
        </p:txBody>
      </p:sp>
      <p:sp>
        <p:nvSpPr>
          <p:cNvPr id="8" name="Text 6"/>
          <p:cNvSpPr/>
          <p:nvPr/>
        </p:nvSpPr>
        <p:spPr>
          <a:xfrm>
            <a:off x="1298448" y="1920240"/>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원리는 하나, 갈라지는 건 '누구를 위해서냐'</a:t>
            </a:r>
            <a:endParaRPr lang="en-US" sz="1200" dirty="0"/>
          </a:p>
        </p:txBody>
      </p:sp>
      <p:sp>
        <p:nvSpPr>
          <p:cNvPr id="10" name="Shape 8"/>
          <p:cNvSpPr/>
          <p:nvPr/>
        </p:nvSpPr>
        <p:spPr>
          <a:xfrm>
            <a:off x="548640" y="2340864"/>
            <a:ext cx="11064240" cy="658368"/>
          </a:xfrm>
          <a:prstGeom prst="roundRect">
            <a:avLst>
              <a:gd name="adj" fmla="val 833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Shape 9"/>
          <p:cNvSpPr/>
          <p:nvPr/>
        </p:nvSpPr>
        <p:spPr>
          <a:xfrm>
            <a:off x="768096" y="2487168"/>
            <a:ext cx="365760" cy="365760"/>
          </a:xfrm>
          <a:prstGeom prst="ellipse">
            <a:avLst/>
          </a:prstGeom>
          <a:solidFill>
            <a:srgbClr val="0E7C86"/>
          </a:solidFill>
          <a:ln/>
        </p:spPr>
        <p:txBody>
          <a:bodyPr/>
          <a:lstStyle/>
          <a:p>
            <a:endParaRPr lang="ko-KR" altLang="en-US"/>
          </a:p>
        </p:txBody>
      </p:sp>
      <p:sp>
        <p:nvSpPr>
          <p:cNvPr id="12" name="Text 10"/>
          <p:cNvSpPr/>
          <p:nvPr/>
        </p:nvSpPr>
        <p:spPr>
          <a:xfrm>
            <a:off x="768096" y="24871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298448" y="2414016"/>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국내 지형도</a:t>
            </a:r>
            <a:endParaRPr lang="en-US" sz="1550" dirty="0"/>
          </a:p>
        </p:txBody>
      </p:sp>
      <p:sp>
        <p:nvSpPr>
          <p:cNvPr id="14" name="Text 12"/>
          <p:cNvSpPr/>
          <p:nvPr/>
        </p:nvSpPr>
        <p:spPr>
          <a:xfrm>
            <a:off x="1298448" y="2688336"/>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서울대(손·소프트) / 카이스트(성능 상한) / 엔젤로보틱스(현장 보급)</a:t>
            </a:r>
            <a:endParaRPr lang="en-US" sz="1200" dirty="0"/>
          </a:p>
        </p:txBody>
      </p:sp>
      <p:sp>
        <p:nvSpPr>
          <p:cNvPr id="16" name="Shape 14"/>
          <p:cNvSpPr/>
          <p:nvPr/>
        </p:nvSpPr>
        <p:spPr>
          <a:xfrm>
            <a:off x="548640" y="3108960"/>
            <a:ext cx="11064240" cy="658368"/>
          </a:xfrm>
          <a:prstGeom prst="roundRect">
            <a:avLst>
              <a:gd name="adj" fmla="val 8333"/>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7" name="Shape 15"/>
          <p:cNvSpPr/>
          <p:nvPr/>
        </p:nvSpPr>
        <p:spPr>
          <a:xfrm>
            <a:off x="768096" y="3255264"/>
            <a:ext cx="365760" cy="365760"/>
          </a:xfrm>
          <a:prstGeom prst="ellipse">
            <a:avLst/>
          </a:prstGeom>
          <a:solidFill>
            <a:srgbClr val="E8871E"/>
          </a:solidFill>
          <a:ln/>
        </p:spPr>
        <p:txBody>
          <a:bodyPr/>
          <a:lstStyle/>
          <a:p>
            <a:endParaRPr lang="ko-KR" altLang="en-US"/>
          </a:p>
        </p:txBody>
      </p:sp>
      <p:sp>
        <p:nvSpPr>
          <p:cNvPr id="18" name="Text 16"/>
          <p:cNvSpPr/>
          <p:nvPr/>
        </p:nvSpPr>
        <p:spPr>
          <a:xfrm>
            <a:off x="768096" y="32552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3182112"/>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해외 지형도</a:t>
            </a:r>
            <a:endParaRPr lang="en-US" sz="1550" dirty="0"/>
          </a:p>
        </p:txBody>
      </p:sp>
      <p:sp>
        <p:nvSpPr>
          <p:cNvPr id="20" name="Text 18"/>
          <p:cNvSpPr/>
          <p:nvPr/>
        </p:nvSpPr>
        <p:spPr>
          <a:xfrm>
            <a:off x="1298448" y="3456432"/>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서구는 '근거와 보험'으로, 중국은 '물량과 가격'으로</a:t>
            </a:r>
            <a:endParaRPr lang="en-US" sz="1200" dirty="0"/>
          </a:p>
        </p:txBody>
      </p:sp>
      <p:sp>
        <p:nvSpPr>
          <p:cNvPr id="22" name="Shape 20"/>
          <p:cNvSpPr/>
          <p:nvPr/>
        </p:nvSpPr>
        <p:spPr>
          <a:xfrm>
            <a:off x="548640" y="3877056"/>
            <a:ext cx="11064240" cy="658368"/>
          </a:xfrm>
          <a:prstGeom prst="roundRect">
            <a:avLst>
              <a:gd name="adj" fmla="val 833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3" name="Shape 21"/>
          <p:cNvSpPr/>
          <p:nvPr/>
        </p:nvSpPr>
        <p:spPr>
          <a:xfrm>
            <a:off x="768096" y="4023360"/>
            <a:ext cx="365760" cy="365760"/>
          </a:xfrm>
          <a:prstGeom prst="ellipse">
            <a:avLst/>
          </a:prstGeom>
          <a:solidFill>
            <a:srgbClr val="0E7C86"/>
          </a:solidFill>
          <a:ln/>
        </p:spPr>
        <p:txBody>
          <a:bodyPr/>
          <a:lstStyle/>
          <a:p>
            <a:endParaRPr lang="ko-KR" altLang="en-US"/>
          </a:p>
        </p:txBody>
      </p:sp>
      <p:sp>
        <p:nvSpPr>
          <p:cNvPr id="24" name="Text 22"/>
          <p:cNvSpPr/>
          <p:nvPr/>
        </p:nvSpPr>
        <p:spPr>
          <a:xfrm>
            <a:off x="768096" y="4023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298448" y="3950208"/>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로봇은 어떻게 사람을 읽는가</a:t>
            </a:r>
            <a:endParaRPr lang="en-US" sz="1550" dirty="0"/>
          </a:p>
        </p:txBody>
      </p:sp>
      <p:sp>
        <p:nvSpPr>
          <p:cNvPr id="26" name="Text 24"/>
          <p:cNvSpPr/>
          <p:nvPr/>
        </p:nvSpPr>
        <p:spPr>
          <a:xfrm>
            <a:off x="1298448" y="4224528"/>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몸에 붙여 재기(웨어러블) vs 밖에서 보기(VICON)</a:t>
            </a:r>
            <a:endParaRPr lang="en-US" sz="1200" dirty="0"/>
          </a:p>
        </p:txBody>
      </p:sp>
      <p:sp>
        <p:nvSpPr>
          <p:cNvPr id="28" name="Shape 26"/>
          <p:cNvSpPr/>
          <p:nvPr/>
        </p:nvSpPr>
        <p:spPr>
          <a:xfrm>
            <a:off x="548640" y="4645152"/>
            <a:ext cx="11064240" cy="658368"/>
          </a:xfrm>
          <a:prstGeom prst="roundRect">
            <a:avLst>
              <a:gd name="adj" fmla="val 833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9" name="Shape 27"/>
          <p:cNvSpPr/>
          <p:nvPr/>
        </p:nvSpPr>
        <p:spPr>
          <a:xfrm>
            <a:off x="768096" y="4791456"/>
            <a:ext cx="365760" cy="365760"/>
          </a:xfrm>
          <a:prstGeom prst="ellipse">
            <a:avLst/>
          </a:prstGeom>
          <a:solidFill>
            <a:srgbClr val="0E7C86"/>
          </a:solidFill>
          <a:ln/>
        </p:spPr>
        <p:txBody>
          <a:bodyPr/>
          <a:lstStyle/>
          <a:p>
            <a:endParaRPr lang="ko-KR" altLang="en-US"/>
          </a:p>
        </p:txBody>
      </p:sp>
      <p:sp>
        <p:nvSpPr>
          <p:cNvPr id="30" name="Text 28"/>
          <p:cNvSpPr/>
          <p:nvPr/>
        </p:nvSpPr>
        <p:spPr>
          <a:xfrm>
            <a:off x="768096" y="47914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1298448" y="4718304"/>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정답이 없는 문제</a:t>
            </a:r>
            <a:endParaRPr lang="en-US" sz="1550" dirty="0"/>
          </a:p>
        </p:txBody>
      </p:sp>
      <p:sp>
        <p:nvSpPr>
          <p:cNvPr id="32" name="Text 30"/>
          <p:cNvSpPr/>
          <p:nvPr/>
        </p:nvSpPr>
        <p:spPr>
          <a:xfrm>
            <a:off x="1298448" y="4992624"/>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표준이 없다 → 그래서 개인화가 기술이 된다</a:t>
            </a:r>
            <a:endParaRPr lang="en-US" sz="1200" dirty="0"/>
          </a:p>
        </p:txBody>
      </p:sp>
      <p:sp>
        <p:nvSpPr>
          <p:cNvPr id="34" name="Shape 32"/>
          <p:cNvSpPr/>
          <p:nvPr/>
        </p:nvSpPr>
        <p:spPr>
          <a:xfrm>
            <a:off x="548640" y="5413248"/>
            <a:ext cx="11064240" cy="658368"/>
          </a:xfrm>
          <a:prstGeom prst="roundRect">
            <a:avLst>
              <a:gd name="adj" fmla="val 833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35" name="Shape 33"/>
          <p:cNvSpPr/>
          <p:nvPr/>
        </p:nvSpPr>
        <p:spPr>
          <a:xfrm>
            <a:off x="768096" y="5559552"/>
            <a:ext cx="365760" cy="365760"/>
          </a:xfrm>
          <a:prstGeom prst="ellipse">
            <a:avLst/>
          </a:prstGeom>
          <a:solidFill>
            <a:srgbClr val="0E7C86"/>
          </a:solidFill>
          <a:ln/>
        </p:spPr>
        <p:txBody>
          <a:bodyPr/>
          <a:lstStyle/>
          <a:p>
            <a:endParaRPr lang="ko-KR" altLang="en-US"/>
          </a:p>
        </p:txBody>
      </p:sp>
      <p:sp>
        <p:nvSpPr>
          <p:cNvPr id="36" name="Text 34"/>
          <p:cNvSpPr/>
          <p:nvPr/>
        </p:nvSpPr>
        <p:spPr>
          <a:xfrm>
            <a:off x="768096" y="55595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298448" y="5486400"/>
            <a:ext cx="3200400" cy="274320"/>
          </a:xfrm>
          <a:prstGeom prst="rect">
            <a:avLst/>
          </a:prstGeom>
          <a:noFill/>
          <a:ln/>
        </p:spPr>
        <p:txBody>
          <a:bodyPr wrap="square" lIns="0" tIns="0" rIns="0" bIns="0" rtlCol="0" anchor="ctr"/>
          <a:lstStyle/>
          <a:p>
            <a:pPr marL="0" indent="0">
              <a:buNone/>
            </a:pPr>
            <a:r>
              <a:rPr lang="en-US" sz="1550" b="1" dirty="0">
                <a:solidFill>
                  <a:srgbClr val="102A43"/>
                </a:solidFill>
                <a:latin typeface="Cambria" pitchFamily="34" charset="0"/>
                <a:ea typeface="Cambria" pitchFamily="34" charset="-122"/>
                <a:cs typeface="Cambria" pitchFamily="34" charset="-120"/>
              </a:rPr>
              <a:t>로봇이 남기는 데이터</a:t>
            </a:r>
            <a:endParaRPr lang="en-US" sz="1550" dirty="0"/>
          </a:p>
        </p:txBody>
      </p:sp>
      <p:sp>
        <p:nvSpPr>
          <p:cNvPr id="38" name="Text 36"/>
          <p:cNvSpPr/>
          <p:nvPr/>
        </p:nvSpPr>
        <p:spPr>
          <a:xfrm>
            <a:off x="1298448" y="5760720"/>
            <a:ext cx="8595360" cy="274320"/>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전처리를 거쳐야 비로소 근거가 된다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1</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웨어러블 재활로봇이란</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어떤 회사, 어떤 대학의 제품이든 원리는 똑같습니다.</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갈라지는 건 '누구를, 어디까지 돕느냐'입니다.</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1-1 · 공통 원리</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센싱 → 제어 → 구동, 이게 전부입니다</a:t>
            </a:r>
            <a:endParaRPr lang="en-US" sz="3000" dirty="0"/>
          </a:p>
        </p:txBody>
      </p:sp>
      <p:sp>
        <p:nvSpPr>
          <p:cNvPr id="4" name="Shape 2"/>
          <p:cNvSpPr/>
          <p:nvPr/>
        </p:nvSpPr>
        <p:spPr>
          <a:xfrm>
            <a:off x="548640" y="1828800"/>
            <a:ext cx="3291840" cy="2514600"/>
          </a:xfrm>
          <a:prstGeom prst="roundRect">
            <a:avLst>
              <a:gd name="adj" fmla="val 218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Shape 3"/>
          <p:cNvSpPr/>
          <p:nvPr/>
        </p:nvSpPr>
        <p:spPr>
          <a:xfrm>
            <a:off x="841248" y="2084832"/>
            <a:ext cx="457200" cy="457200"/>
          </a:xfrm>
          <a:prstGeom prst="ellipse">
            <a:avLst/>
          </a:prstGeom>
          <a:solidFill>
            <a:srgbClr val="0E7C86"/>
          </a:solidFill>
          <a:ln/>
        </p:spPr>
        <p:txBody>
          <a:bodyPr/>
          <a:lstStyle/>
          <a:p>
            <a:endParaRPr lang="ko-KR" altLang="en-US"/>
          </a:p>
        </p:txBody>
      </p:sp>
      <p:sp>
        <p:nvSpPr>
          <p:cNvPr id="6" name="Text 4"/>
          <p:cNvSpPr/>
          <p:nvPr/>
        </p:nvSpPr>
        <p:spPr>
          <a:xfrm>
            <a:off x="841248" y="208483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44752" y="2103120"/>
            <a:ext cx="2103120" cy="41148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센싱</a:t>
            </a:r>
            <a:endParaRPr lang="en-US" sz="2400" dirty="0"/>
          </a:p>
        </p:txBody>
      </p:sp>
      <p:sp>
        <p:nvSpPr>
          <p:cNvPr id="8" name="Text 6"/>
          <p:cNvSpPr/>
          <p:nvPr/>
        </p:nvSpPr>
        <p:spPr>
          <a:xfrm>
            <a:off x="841248" y="2697480"/>
            <a:ext cx="2706624" cy="292608"/>
          </a:xfrm>
          <a:prstGeom prst="rect">
            <a:avLst/>
          </a:prstGeom>
          <a:noFill/>
          <a:ln/>
        </p:spPr>
        <p:txBody>
          <a:bodyPr wrap="square" lIns="0" tIns="0" rIns="0" bIns="0" rtlCol="0" anchor="ctr"/>
          <a:lstStyle/>
          <a:p>
            <a:pPr marL="0" indent="0">
              <a:buNone/>
            </a:pPr>
            <a:r>
              <a:rPr lang="en-US" sz="1450" b="1" dirty="0">
                <a:solidFill>
                  <a:srgbClr val="0E7C86"/>
                </a:solidFill>
                <a:latin typeface="Calibri" pitchFamily="34" charset="0"/>
                <a:ea typeface="Calibri" pitchFamily="34" charset="-122"/>
                <a:cs typeface="Calibri" pitchFamily="34" charset="-120"/>
              </a:rPr>
              <a:t>의도를 읽는다</a:t>
            </a:r>
            <a:endParaRPr lang="en-US" sz="1450" dirty="0"/>
          </a:p>
        </p:txBody>
      </p:sp>
      <p:sp>
        <p:nvSpPr>
          <p:cNvPr id="9" name="Text 7"/>
          <p:cNvSpPr/>
          <p:nvPr/>
        </p:nvSpPr>
        <p:spPr>
          <a:xfrm>
            <a:off x="841248" y="3072384"/>
            <a:ext cx="2706624"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IMU · EMG · 힘/토크 센서 ·</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관절 엔코더 · 압력 깔창</a:t>
            </a:r>
            <a:endParaRPr lang="en-US" sz="1250" dirty="0"/>
          </a:p>
        </p:txBody>
      </p:sp>
      <p:sp>
        <p:nvSpPr>
          <p:cNvPr id="10" name="Text 8"/>
          <p:cNvSpPr/>
          <p:nvPr/>
        </p:nvSpPr>
        <p:spPr>
          <a:xfrm>
            <a:off x="3886200" y="2788920"/>
            <a:ext cx="502920" cy="548640"/>
          </a:xfrm>
          <a:prstGeom prst="rect">
            <a:avLst/>
          </a:prstGeom>
          <a:noFill/>
          <a:ln/>
        </p:spPr>
        <p:txBody>
          <a:bodyPr wrap="square" lIns="0" tIns="0" rIns="0" bIns="0" rtlCol="0" anchor="ctr"/>
          <a:lstStyle/>
          <a:p>
            <a:pPr marL="0" indent="0" algn="ctr">
              <a:buNone/>
            </a:pPr>
            <a:r>
              <a:rPr lang="en-US" sz="2600" b="1" dirty="0">
                <a:solidFill>
                  <a:srgbClr val="829AB1"/>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4434840" y="1828800"/>
            <a:ext cx="3291840" cy="2514600"/>
          </a:xfrm>
          <a:prstGeom prst="roundRect">
            <a:avLst>
              <a:gd name="adj" fmla="val 218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2" name="Shape 10"/>
          <p:cNvSpPr/>
          <p:nvPr/>
        </p:nvSpPr>
        <p:spPr>
          <a:xfrm>
            <a:off x="4727448" y="2084832"/>
            <a:ext cx="457200" cy="457200"/>
          </a:xfrm>
          <a:prstGeom prst="ellipse">
            <a:avLst/>
          </a:prstGeom>
          <a:solidFill>
            <a:srgbClr val="0E7C86"/>
          </a:solidFill>
          <a:ln/>
        </p:spPr>
        <p:txBody>
          <a:bodyPr/>
          <a:lstStyle/>
          <a:p>
            <a:endParaRPr lang="ko-KR" altLang="en-US"/>
          </a:p>
        </p:txBody>
      </p:sp>
      <p:sp>
        <p:nvSpPr>
          <p:cNvPr id="13" name="Text 11"/>
          <p:cNvSpPr/>
          <p:nvPr/>
        </p:nvSpPr>
        <p:spPr>
          <a:xfrm>
            <a:off x="4727448" y="208483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330952" y="2103120"/>
            <a:ext cx="2103120" cy="41148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제어</a:t>
            </a:r>
            <a:endParaRPr lang="en-US" sz="2400" dirty="0"/>
          </a:p>
        </p:txBody>
      </p:sp>
      <p:sp>
        <p:nvSpPr>
          <p:cNvPr id="15" name="Text 13"/>
          <p:cNvSpPr/>
          <p:nvPr/>
        </p:nvSpPr>
        <p:spPr>
          <a:xfrm>
            <a:off x="4727448" y="2697480"/>
            <a:ext cx="2706624" cy="292608"/>
          </a:xfrm>
          <a:prstGeom prst="rect">
            <a:avLst/>
          </a:prstGeom>
          <a:noFill/>
          <a:ln/>
        </p:spPr>
        <p:txBody>
          <a:bodyPr wrap="square" lIns="0" tIns="0" rIns="0" bIns="0" rtlCol="0" anchor="ctr"/>
          <a:lstStyle/>
          <a:p>
            <a:pPr marL="0" indent="0">
              <a:buNone/>
            </a:pPr>
            <a:r>
              <a:rPr lang="en-US" sz="1450" b="1" dirty="0">
                <a:solidFill>
                  <a:srgbClr val="0E7C86"/>
                </a:solidFill>
                <a:latin typeface="Calibri" pitchFamily="34" charset="0"/>
                <a:ea typeface="Calibri" pitchFamily="34" charset="-122"/>
                <a:cs typeface="Calibri" pitchFamily="34" charset="-120"/>
              </a:rPr>
              <a:t>무엇을 도울지 정한다</a:t>
            </a:r>
            <a:endParaRPr lang="en-US" sz="1450" dirty="0"/>
          </a:p>
        </p:txBody>
      </p:sp>
      <p:sp>
        <p:nvSpPr>
          <p:cNvPr id="16" name="Text 14"/>
          <p:cNvSpPr/>
          <p:nvPr/>
        </p:nvSpPr>
        <p:spPr>
          <a:xfrm>
            <a:off x="4727448" y="3072384"/>
            <a:ext cx="2706624"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보행 위상 추정 · 임피던스 조절 ·</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힘 제어 · 궤적 계획</a:t>
            </a:r>
            <a:endParaRPr lang="en-US" sz="1250" dirty="0"/>
          </a:p>
        </p:txBody>
      </p:sp>
      <p:sp>
        <p:nvSpPr>
          <p:cNvPr id="17" name="Text 15"/>
          <p:cNvSpPr/>
          <p:nvPr/>
        </p:nvSpPr>
        <p:spPr>
          <a:xfrm>
            <a:off x="7772400" y="2788920"/>
            <a:ext cx="502920" cy="548640"/>
          </a:xfrm>
          <a:prstGeom prst="rect">
            <a:avLst/>
          </a:prstGeom>
          <a:noFill/>
          <a:ln/>
        </p:spPr>
        <p:txBody>
          <a:bodyPr wrap="square" lIns="0" tIns="0" rIns="0" bIns="0" rtlCol="0" anchor="ctr"/>
          <a:lstStyle/>
          <a:p>
            <a:pPr marL="0" indent="0" algn="ctr">
              <a:buNone/>
            </a:pPr>
            <a:r>
              <a:rPr lang="en-US" sz="2600" b="1" dirty="0">
                <a:solidFill>
                  <a:srgbClr val="829AB1"/>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8321040" y="1828800"/>
            <a:ext cx="3291840" cy="2514600"/>
          </a:xfrm>
          <a:prstGeom prst="roundRect">
            <a:avLst>
              <a:gd name="adj" fmla="val 218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9" name="Shape 17"/>
          <p:cNvSpPr/>
          <p:nvPr/>
        </p:nvSpPr>
        <p:spPr>
          <a:xfrm>
            <a:off x="8613648" y="2084832"/>
            <a:ext cx="457200" cy="457200"/>
          </a:xfrm>
          <a:prstGeom prst="ellipse">
            <a:avLst/>
          </a:prstGeom>
          <a:solidFill>
            <a:srgbClr val="0E7C86"/>
          </a:solidFill>
          <a:ln/>
        </p:spPr>
        <p:txBody>
          <a:bodyPr/>
          <a:lstStyle/>
          <a:p>
            <a:endParaRPr lang="ko-KR" altLang="en-US"/>
          </a:p>
        </p:txBody>
      </p:sp>
      <p:sp>
        <p:nvSpPr>
          <p:cNvPr id="20" name="Text 18"/>
          <p:cNvSpPr/>
          <p:nvPr/>
        </p:nvSpPr>
        <p:spPr>
          <a:xfrm>
            <a:off x="8613648" y="208483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9217152" y="2103120"/>
            <a:ext cx="2103120" cy="41148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구동</a:t>
            </a:r>
            <a:endParaRPr lang="en-US" sz="2400" dirty="0"/>
          </a:p>
        </p:txBody>
      </p:sp>
      <p:sp>
        <p:nvSpPr>
          <p:cNvPr id="22" name="Text 20"/>
          <p:cNvSpPr/>
          <p:nvPr/>
        </p:nvSpPr>
        <p:spPr>
          <a:xfrm>
            <a:off x="8613648" y="2697480"/>
            <a:ext cx="2706624" cy="292608"/>
          </a:xfrm>
          <a:prstGeom prst="rect">
            <a:avLst/>
          </a:prstGeom>
          <a:noFill/>
          <a:ln/>
        </p:spPr>
        <p:txBody>
          <a:bodyPr wrap="square" lIns="0" tIns="0" rIns="0" bIns="0" rtlCol="0" anchor="ctr"/>
          <a:lstStyle/>
          <a:p>
            <a:pPr marL="0" indent="0">
              <a:buNone/>
            </a:pPr>
            <a:r>
              <a:rPr lang="en-US" sz="1450" b="1" dirty="0">
                <a:solidFill>
                  <a:srgbClr val="0E7C86"/>
                </a:solidFill>
                <a:latin typeface="Calibri" pitchFamily="34" charset="0"/>
                <a:ea typeface="Calibri" pitchFamily="34" charset="-122"/>
                <a:cs typeface="Calibri" pitchFamily="34" charset="-120"/>
              </a:rPr>
              <a:t>부족한 만큼 힘을 준다</a:t>
            </a:r>
            <a:endParaRPr lang="en-US" sz="1450" dirty="0"/>
          </a:p>
        </p:txBody>
      </p:sp>
      <p:sp>
        <p:nvSpPr>
          <p:cNvPr id="23" name="Text 21"/>
          <p:cNvSpPr/>
          <p:nvPr/>
        </p:nvSpPr>
        <p:spPr>
          <a:xfrm>
            <a:off x="8613648" y="3072384"/>
            <a:ext cx="2706624"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모터 · 감속기 · 케이블 구동 ·</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공압 소프트 액추에이터</a:t>
            </a:r>
            <a:endParaRPr lang="en-US" sz="1250" dirty="0"/>
          </a:p>
        </p:txBody>
      </p:sp>
      <p:sp>
        <p:nvSpPr>
          <p:cNvPr id="24" name="Shape 22"/>
          <p:cNvSpPr/>
          <p:nvPr/>
        </p:nvSpPr>
        <p:spPr>
          <a:xfrm>
            <a:off x="548640" y="4663440"/>
            <a:ext cx="11064240" cy="1005840"/>
          </a:xfrm>
          <a:prstGeom prst="roundRect">
            <a:avLst>
              <a:gd name="adj" fmla="val 5455"/>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25" name="Text 23"/>
          <p:cNvSpPr/>
          <p:nvPr/>
        </p:nvSpPr>
        <p:spPr>
          <a:xfrm>
            <a:off x="914400" y="4864608"/>
            <a:ext cx="10332720" cy="5943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이 세 단계가 전부입니다. 뒤에 나오는 모든 차이는 '이 세 단계를 누구를 위해, 어디까지 하느냐'의 차이입니다.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1-2 · 갈라지는 4개의 축</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앞으로 어떤 제품·논문을 봐도 좌표를 찍을 수 있게</a:t>
            </a:r>
            <a:endParaRPr lang="en-US" sz="3000" dirty="0"/>
          </a:p>
        </p:txBody>
      </p:sp>
      <p:sp>
        <p:nvSpPr>
          <p:cNvPr id="4" name="Shape 2"/>
          <p:cNvSpPr/>
          <p:nvPr/>
        </p:nvSpPr>
        <p:spPr>
          <a:xfrm>
            <a:off x="548640" y="1600200"/>
            <a:ext cx="11064240" cy="960120"/>
          </a:xfrm>
          <a:prstGeom prst="roundRect">
            <a:avLst>
              <a:gd name="adj" fmla="val 571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04672" y="1901952"/>
            <a:ext cx="105156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목적</a:t>
            </a:r>
            <a:endParaRPr lang="en-US" sz="1700" dirty="0"/>
          </a:p>
        </p:txBody>
      </p:sp>
      <p:sp>
        <p:nvSpPr>
          <p:cNvPr id="6" name="Text 4"/>
          <p:cNvSpPr/>
          <p:nvPr/>
        </p:nvSpPr>
        <p:spPr>
          <a:xfrm>
            <a:off x="2011680" y="1746504"/>
            <a:ext cx="411480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기능 대체</a:t>
            </a:r>
            <a:endParaRPr lang="en-US" sz="1500" dirty="0"/>
          </a:p>
        </p:txBody>
      </p:sp>
      <p:sp>
        <p:nvSpPr>
          <p:cNvPr id="7" name="Text 5"/>
          <p:cNvSpPr/>
          <p:nvPr/>
        </p:nvSpPr>
        <p:spPr>
          <a:xfrm>
            <a:off x="2011680" y="2084832"/>
            <a:ext cx="411480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못 걷는 사람을 걷게 한다</a:t>
            </a:r>
            <a:endParaRPr lang="en-US" sz="1250" dirty="0"/>
          </a:p>
        </p:txBody>
      </p:sp>
      <p:sp>
        <p:nvSpPr>
          <p:cNvPr id="8" name="Text 6"/>
          <p:cNvSpPr/>
          <p:nvPr/>
        </p:nvSpPr>
        <p:spPr>
          <a:xfrm>
            <a:off x="6217920" y="1874520"/>
            <a:ext cx="457200" cy="365760"/>
          </a:xfrm>
          <a:prstGeom prst="rect">
            <a:avLst/>
          </a:prstGeom>
          <a:noFill/>
          <a:ln/>
        </p:spPr>
        <p:txBody>
          <a:bodyPr wrap="square" lIns="0" tIns="0" rIns="0" bIns="0" rtlCol="0" anchor="ctr"/>
          <a:lstStyle/>
          <a:p>
            <a:pPr marL="0" indent="0" algn="ctr">
              <a:buNone/>
            </a:pPr>
            <a:r>
              <a:rPr lang="en-US" sz="1800" b="1" dirty="0">
                <a:solidFill>
                  <a:srgbClr val="829AB1"/>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6858000" y="1746504"/>
            <a:ext cx="448056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기능 회복</a:t>
            </a:r>
            <a:endParaRPr lang="en-US" sz="1500" dirty="0"/>
          </a:p>
        </p:txBody>
      </p:sp>
      <p:sp>
        <p:nvSpPr>
          <p:cNvPr id="10" name="Text 8"/>
          <p:cNvSpPr/>
          <p:nvPr/>
        </p:nvSpPr>
        <p:spPr>
          <a:xfrm>
            <a:off x="6858000" y="2084832"/>
            <a:ext cx="448056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훈련 후 로봇 없이 더 잘 걷게</a:t>
            </a:r>
            <a:endParaRPr lang="en-US" sz="1250" dirty="0"/>
          </a:p>
        </p:txBody>
      </p:sp>
      <p:sp>
        <p:nvSpPr>
          <p:cNvPr id="11" name="Shape 9"/>
          <p:cNvSpPr/>
          <p:nvPr/>
        </p:nvSpPr>
        <p:spPr>
          <a:xfrm>
            <a:off x="548640" y="2688336"/>
            <a:ext cx="11064240" cy="960120"/>
          </a:xfrm>
          <a:prstGeom prst="roundRect">
            <a:avLst>
              <a:gd name="adj" fmla="val 571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2" name="Text 10"/>
          <p:cNvSpPr/>
          <p:nvPr/>
        </p:nvSpPr>
        <p:spPr>
          <a:xfrm>
            <a:off x="804672" y="2990088"/>
            <a:ext cx="105156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형태</a:t>
            </a:r>
            <a:endParaRPr lang="en-US" sz="1700" dirty="0"/>
          </a:p>
        </p:txBody>
      </p:sp>
      <p:sp>
        <p:nvSpPr>
          <p:cNvPr id="13" name="Text 11"/>
          <p:cNvSpPr/>
          <p:nvPr/>
        </p:nvSpPr>
        <p:spPr>
          <a:xfrm>
            <a:off x="2011680" y="2834640"/>
            <a:ext cx="411480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강성 외골격</a:t>
            </a:r>
            <a:endParaRPr lang="en-US" sz="1500" dirty="0"/>
          </a:p>
        </p:txBody>
      </p:sp>
      <p:sp>
        <p:nvSpPr>
          <p:cNvPr id="14" name="Text 12"/>
          <p:cNvSpPr/>
          <p:nvPr/>
        </p:nvSpPr>
        <p:spPr>
          <a:xfrm>
            <a:off x="2011680" y="3172968"/>
            <a:ext cx="411480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프레임·모터, 무겁고 강하다</a:t>
            </a:r>
            <a:endParaRPr lang="en-US" sz="1250" dirty="0"/>
          </a:p>
        </p:txBody>
      </p:sp>
      <p:sp>
        <p:nvSpPr>
          <p:cNvPr id="15" name="Text 13"/>
          <p:cNvSpPr/>
          <p:nvPr/>
        </p:nvSpPr>
        <p:spPr>
          <a:xfrm>
            <a:off x="6217920" y="2962656"/>
            <a:ext cx="457200" cy="365760"/>
          </a:xfrm>
          <a:prstGeom prst="rect">
            <a:avLst/>
          </a:prstGeom>
          <a:noFill/>
          <a:ln/>
        </p:spPr>
        <p:txBody>
          <a:bodyPr wrap="square" lIns="0" tIns="0" rIns="0" bIns="0" rtlCol="0" anchor="ctr"/>
          <a:lstStyle/>
          <a:p>
            <a:pPr marL="0" indent="0" algn="ctr">
              <a:buNone/>
            </a:pPr>
            <a:r>
              <a:rPr lang="en-US" sz="1800" b="1" dirty="0">
                <a:solidFill>
                  <a:srgbClr val="829AB1"/>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6858000" y="2834640"/>
            <a:ext cx="448056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소프트 슈트/글러브</a:t>
            </a:r>
            <a:endParaRPr lang="en-US" sz="1500" dirty="0"/>
          </a:p>
        </p:txBody>
      </p:sp>
      <p:sp>
        <p:nvSpPr>
          <p:cNvPr id="17" name="Text 15"/>
          <p:cNvSpPr/>
          <p:nvPr/>
        </p:nvSpPr>
        <p:spPr>
          <a:xfrm>
            <a:off x="6858000" y="3172968"/>
            <a:ext cx="448056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직물·공압, 가볍고 약하다</a:t>
            </a:r>
            <a:endParaRPr lang="en-US" sz="1250" dirty="0"/>
          </a:p>
        </p:txBody>
      </p:sp>
      <p:sp>
        <p:nvSpPr>
          <p:cNvPr id="18" name="Shape 16"/>
          <p:cNvSpPr/>
          <p:nvPr/>
        </p:nvSpPr>
        <p:spPr>
          <a:xfrm>
            <a:off x="548640" y="3776472"/>
            <a:ext cx="11064240" cy="960120"/>
          </a:xfrm>
          <a:prstGeom prst="roundRect">
            <a:avLst>
              <a:gd name="adj" fmla="val 571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9" name="Text 17"/>
          <p:cNvSpPr/>
          <p:nvPr/>
        </p:nvSpPr>
        <p:spPr>
          <a:xfrm>
            <a:off x="804672" y="4078224"/>
            <a:ext cx="105156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범위</a:t>
            </a:r>
            <a:endParaRPr lang="en-US" sz="1700" dirty="0"/>
          </a:p>
        </p:txBody>
      </p:sp>
      <p:sp>
        <p:nvSpPr>
          <p:cNvPr id="20" name="Text 18"/>
          <p:cNvSpPr/>
          <p:nvPr/>
        </p:nvSpPr>
        <p:spPr>
          <a:xfrm>
            <a:off x="2011680" y="3922776"/>
            <a:ext cx="411480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전신·다관절</a:t>
            </a:r>
            <a:endParaRPr lang="en-US" sz="1500" dirty="0"/>
          </a:p>
        </p:txBody>
      </p:sp>
      <p:sp>
        <p:nvSpPr>
          <p:cNvPr id="21" name="Text 19"/>
          <p:cNvSpPr/>
          <p:nvPr/>
        </p:nvSpPr>
        <p:spPr>
          <a:xfrm>
            <a:off x="2011680" y="4261104"/>
            <a:ext cx="411480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고관절 + 무릎 + 발목</a:t>
            </a:r>
            <a:endParaRPr lang="en-US" sz="1250" dirty="0"/>
          </a:p>
        </p:txBody>
      </p:sp>
      <p:sp>
        <p:nvSpPr>
          <p:cNvPr id="22" name="Text 20"/>
          <p:cNvSpPr/>
          <p:nvPr/>
        </p:nvSpPr>
        <p:spPr>
          <a:xfrm>
            <a:off x="6217920" y="4050792"/>
            <a:ext cx="457200" cy="365760"/>
          </a:xfrm>
          <a:prstGeom prst="rect">
            <a:avLst/>
          </a:prstGeom>
          <a:noFill/>
          <a:ln/>
        </p:spPr>
        <p:txBody>
          <a:bodyPr wrap="square" lIns="0" tIns="0" rIns="0" bIns="0" rtlCol="0" anchor="ctr"/>
          <a:lstStyle/>
          <a:p>
            <a:pPr marL="0" indent="0" algn="ctr">
              <a:buNone/>
            </a:pPr>
            <a:r>
              <a:rPr lang="en-US" sz="1800" b="1" dirty="0">
                <a:solidFill>
                  <a:srgbClr val="829AB1"/>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6858000" y="3922776"/>
            <a:ext cx="448056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단관절</a:t>
            </a:r>
            <a:endParaRPr lang="en-US" sz="1500" dirty="0"/>
          </a:p>
        </p:txBody>
      </p:sp>
      <p:sp>
        <p:nvSpPr>
          <p:cNvPr id="24" name="Text 22"/>
          <p:cNvSpPr/>
          <p:nvPr/>
        </p:nvSpPr>
        <p:spPr>
          <a:xfrm>
            <a:off x="6858000" y="4261104"/>
            <a:ext cx="448056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고관절만, 무릎만</a:t>
            </a:r>
            <a:endParaRPr lang="en-US" sz="1250" dirty="0"/>
          </a:p>
        </p:txBody>
      </p:sp>
      <p:sp>
        <p:nvSpPr>
          <p:cNvPr id="25" name="Shape 23"/>
          <p:cNvSpPr/>
          <p:nvPr/>
        </p:nvSpPr>
        <p:spPr>
          <a:xfrm>
            <a:off x="548640" y="4864608"/>
            <a:ext cx="11064240" cy="960120"/>
          </a:xfrm>
          <a:prstGeom prst="roundRect">
            <a:avLst>
              <a:gd name="adj" fmla="val 571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6" name="Text 24"/>
          <p:cNvSpPr/>
          <p:nvPr/>
        </p:nvSpPr>
        <p:spPr>
          <a:xfrm>
            <a:off x="804672" y="5166360"/>
            <a:ext cx="105156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사용처</a:t>
            </a:r>
            <a:endParaRPr lang="en-US" sz="1700" dirty="0"/>
          </a:p>
        </p:txBody>
      </p:sp>
      <p:sp>
        <p:nvSpPr>
          <p:cNvPr id="27" name="Text 25"/>
          <p:cNvSpPr/>
          <p:nvPr/>
        </p:nvSpPr>
        <p:spPr>
          <a:xfrm>
            <a:off x="2011680" y="5010912"/>
            <a:ext cx="411480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병원·연구실</a:t>
            </a:r>
            <a:endParaRPr lang="en-US" sz="1500" dirty="0"/>
          </a:p>
        </p:txBody>
      </p:sp>
      <p:sp>
        <p:nvSpPr>
          <p:cNvPr id="28" name="Text 26"/>
          <p:cNvSpPr/>
          <p:nvPr/>
        </p:nvSpPr>
        <p:spPr>
          <a:xfrm>
            <a:off x="2011680" y="5349240"/>
            <a:ext cx="411480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전문가 감독 아래</a:t>
            </a:r>
            <a:endParaRPr lang="en-US" sz="1250" dirty="0"/>
          </a:p>
        </p:txBody>
      </p:sp>
      <p:sp>
        <p:nvSpPr>
          <p:cNvPr id="29" name="Text 27"/>
          <p:cNvSpPr/>
          <p:nvPr/>
        </p:nvSpPr>
        <p:spPr>
          <a:xfrm>
            <a:off x="6217920" y="5138928"/>
            <a:ext cx="457200" cy="365760"/>
          </a:xfrm>
          <a:prstGeom prst="rect">
            <a:avLst/>
          </a:prstGeom>
          <a:noFill/>
          <a:ln/>
        </p:spPr>
        <p:txBody>
          <a:bodyPr wrap="square" lIns="0" tIns="0" rIns="0" bIns="0" rtlCol="0" anchor="ctr"/>
          <a:lstStyle/>
          <a:p>
            <a:pPr marL="0" indent="0" algn="ctr">
              <a:buNone/>
            </a:pPr>
            <a:r>
              <a:rPr lang="en-US" sz="1800" b="1" dirty="0">
                <a:solidFill>
                  <a:srgbClr val="829AB1"/>
                </a:solidFill>
                <a:latin typeface="Calibri" pitchFamily="34" charset="0"/>
                <a:ea typeface="Calibri" pitchFamily="34" charset="-122"/>
                <a:cs typeface="Calibri" pitchFamily="34" charset="-120"/>
              </a:rPr>
              <a:t>↔</a:t>
            </a:r>
            <a:endParaRPr lang="en-US" sz="1800" dirty="0"/>
          </a:p>
        </p:txBody>
      </p:sp>
      <p:sp>
        <p:nvSpPr>
          <p:cNvPr id="30" name="Text 28"/>
          <p:cNvSpPr/>
          <p:nvPr/>
        </p:nvSpPr>
        <p:spPr>
          <a:xfrm>
            <a:off x="6858000" y="5010912"/>
            <a:ext cx="4480560" cy="310896"/>
          </a:xfrm>
          <a:prstGeom prst="rect">
            <a:avLst/>
          </a:prstGeom>
          <a:noFill/>
          <a:ln/>
        </p:spPr>
        <p:txBody>
          <a:bodyPr wrap="square" lIns="0" tIns="0" rIns="0" bIns="0" rtlCol="0" anchor="ctr"/>
          <a:lstStyle/>
          <a:p>
            <a:pPr marL="0" indent="0">
              <a:buNone/>
            </a:pPr>
            <a:r>
              <a:rPr lang="en-US" sz="1500" b="1" dirty="0">
                <a:solidFill>
                  <a:srgbClr val="102A43"/>
                </a:solidFill>
                <a:latin typeface="Calibri" pitchFamily="34" charset="0"/>
                <a:ea typeface="Calibri" pitchFamily="34" charset="-122"/>
                <a:cs typeface="Calibri" pitchFamily="34" charset="-120"/>
              </a:rPr>
              <a:t>일상·산업·야외</a:t>
            </a:r>
            <a:endParaRPr lang="en-US" sz="1500" dirty="0"/>
          </a:p>
        </p:txBody>
      </p:sp>
      <p:sp>
        <p:nvSpPr>
          <p:cNvPr id="31" name="Text 29"/>
          <p:cNvSpPr/>
          <p:nvPr/>
        </p:nvSpPr>
        <p:spPr>
          <a:xfrm>
            <a:off x="6858000" y="5349240"/>
            <a:ext cx="4480560" cy="310896"/>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혼자 사용한다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1-3 · 좌표를 찍어보면</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ko-KR" altLang="en-US" sz="3000" b="1" dirty="0">
                <a:solidFill>
                  <a:srgbClr val="102A43"/>
                </a:solidFill>
                <a:latin typeface="Cambria" pitchFamily="34" charset="0"/>
                <a:ea typeface="Cambria" pitchFamily="34" charset="-122"/>
                <a:cs typeface="Cambria" pitchFamily="34" charset="-120"/>
              </a:rPr>
              <a:t>하나의</a:t>
            </a:r>
            <a:r>
              <a:rPr lang="en-US" sz="3000" b="1" dirty="0">
                <a:solidFill>
                  <a:srgbClr val="102A43"/>
                </a:solidFill>
                <a:latin typeface="Cambria" pitchFamily="34" charset="0"/>
                <a:ea typeface="Cambria" pitchFamily="34" charset="-122"/>
                <a:cs typeface="Cambria" pitchFamily="34" charset="-120"/>
              </a:rPr>
              <a:t> 회사 안에서도 좌표가 다릅니다</a:t>
            </a:r>
            <a:endParaRPr lang="en-US" sz="3000" dirty="0"/>
          </a:p>
        </p:txBody>
      </p:sp>
      <p:sp>
        <p:nvSpPr>
          <p:cNvPr id="4" name="Shape 2"/>
          <p:cNvSpPr/>
          <p:nvPr/>
        </p:nvSpPr>
        <p:spPr>
          <a:xfrm>
            <a:off x="548640" y="1737360"/>
            <a:ext cx="3352830" cy="356616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22960" y="1938528"/>
            <a:ext cx="2804190" cy="256032"/>
          </a:xfrm>
          <a:prstGeom prst="rect">
            <a:avLst/>
          </a:prstGeom>
          <a:noFill/>
          <a:ln/>
        </p:spPr>
        <p:txBody>
          <a:bodyPr wrap="square" lIns="0" tIns="0" rIns="0" bIns="0" rtlCol="0" anchor="ctr"/>
          <a:lstStyle/>
          <a:p>
            <a:pPr marL="0" indent="0">
              <a:buNone/>
            </a:pPr>
            <a:r>
              <a:rPr lang="en-US" sz="1100" b="1" kern="0" spc="80" dirty="0">
                <a:solidFill>
                  <a:srgbClr val="0E7C86"/>
                </a:solidFill>
                <a:latin typeface="Calibri" pitchFamily="34" charset="0"/>
                <a:ea typeface="Calibri" pitchFamily="34" charset="-122"/>
                <a:cs typeface="Calibri" pitchFamily="34" charset="-120"/>
              </a:rPr>
              <a:t>Angel Robotics</a:t>
            </a:r>
            <a:endParaRPr lang="en-US" sz="1100" dirty="0"/>
          </a:p>
        </p:txBody>
      </p:sp>
      <p:sp>
        <p:nvSpPr>
          <p:cNvPr id="6" name="Text 4"/>
          <p:cNvSpPr/>
          <p:nvPr/>
        </p:nvSpPr>
        <p:spPr>
          <a:xfrm>
            <a:off x="822960" y="2212848"/>
            <a:ext cx="2804190" cy="566928"/>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엔젤렉스 M20</a:t>
            </a:r>
            <a:endParaRPr lang="en-US" sz="1900" dirty="0"/>
          </a:p>
        </p:txBody>
      </p:sp>
      <p:sp>
        <p:nvSpPr>
          <p:cNvPr id="7" name="Shape 5"/>
          <p:cNvSpPr/>
          <p:nvPr/>
        </p:nvSpPr>
        <p:spPr>
          <a:xfrm>
            <a:off x="822960" y="2880360"/>
            <a:ext cx="1371600" cy="329184"/>
          </a:xfrm>
          <a:prstGeom prst="roundRect">
            <a:avLst>
              <a:gd name="adj" fmla="val 50000"/>
            </a:avLst>
          </a:prstGeom>
          <a:solidFill>
            <a:srgbClr val="0E7C86"/>
          </a:solidFill>
          <a:ln/>
        </p:spPr>
        <p:txBody>
          <a:bodyPr/>
          <a:lstStyle/>
          <a:p>
            <a:endParaRPr lang="ko-KR" altLang="en-US"/>
          </a:p>
        </p:txBody>
      </p:sp>
      <p:sp>
        <p:nvSpPr>
          <p:cNvPr id="8" name="Text 6"/>
          <p:cNvSpPr/>
          <p:nvPr/>
        </p:nvSpPr>
        <p:spPr>
          <a:xfrm>
            <a:off x="822960"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회복</a:t>
            </a:r>
            <a:endParaRPr lang="en-US" sz="1150" dirty="0"/>
          </a:p>
        </p:txBody>
      </p:sp>
      <p:sp>
        <p:nvSpPr>
          <p:cNvPr id="9" name="Shape 7"/>
          <p:cNvSpPr/>
          <p:nvPr/>
        </p:nvSpPr>
        <p:spPr>
          <a:xfrm>
            <a:off x="2377440" y="2880360"/>
            <a:ext cx="1371600" cy="329184"/>
          </a:xfrm>
          <a:prstGeom prst="roundRect">
            <a:avLst>
              <a:gd name="adj" fmla="val 50000"/>
            </a:avLst>
          </a:prstGeom>
          <a:solidFill>
            <a:srgbClr val="0E7C86"/>
          </a:solidFill>
          <a:ln/>
        </p:spPr>
        <p:txBody>
          <a:bodyPr/>
          <a:lstStyle/>
          <a:p>
            <a:endParaRPr lang="ko-KR" altLang="en-US"/>
          </a:p>
        </p:txBody>
      </p:sp>
      <p:sp>
        <p:nvSpPr>
          <p:cNvPr id="10" name="Text 8"/>
          <p:cNvSpPr/>
          <p:nvPr/>
        </p:nvSpPr>
        <p:spPr>
          <a:xfrm>
            <a:off x="2377440"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강성</a:t>
            </a:r>
            <a:endParaRPr lang="en-US" sz="1150" dirty="0"/>
          </a:p>
        </p:txBody>
      </p:sp>
      <p:sp>
        <p:nvSpPr>
          <p:cNvPr id="11" name="Shape 9"/>
          <p:cNvSpPr/>
          <p:nvPr/>
        </p:nvSpPr>
        <p:spPr>
          <a:xfrm>
            <a:off x="822960" y="3319272"/>
            <a:ext cx="1371600" cy="329184"/>
          </a:xfrm>
          <a:prstGeom prst="roundRect">
            <a:avLst>
              <a:gd name="adj" fmla="val 50000"/>
            </a:avLst>
          </a:prstGeom>
          <a:solidFill>
            <a:srgbClr val="0E7C86"/>
          </a:solidFill>
          <a:ln/>
        </p:spPr>
        <p:txBody>
          <a:bodyPr/>
          <a:lstStyle/>
          <a:p>
            <a:endParaRPr lang="ko-KR" altLang="en-US"/>
          </a:p>
        </p:txBody>
      </p:sp>
      <p:sp>
        <p:nvSpPr>
          <p:cNvPr id="12" name="Text 10"/>
          <p:cNvSpPr/>
          <p:nvPr/>
        </p:nvSpPr>
        <p:spPr>
          <a:xfrm>
            <a:off x="822960"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다관절</a:t>
            </a:r>
            <a:endParaRPr lang="en-US" sz="1150" dirty="0"/>
          </a:p>
        </p:txBody>
      </p:sp>
      <p:sp>
        <p:nvSpPr>
          <p:cNvPr id="13" name="Shape 11"/>
          <p:cNvSpPr/>
          <p:nvPr/>
        </p:nvSpPr>
        <p:spPr>
          <a:xfrm>
            <a:off x="2377440" y="3319272"/>
            <a:ext cx="1371600" cy="329184"/>
          </a:xfrm>
          <a:prstGeom prst="roundRect">
            <a:avLst>
              <a:gd name="adj" fmla="val 50000"/>
            </a:avLst>
          </a:prstGeom>
          <a:solidFill>
            <a:srgbClr val="0E7C86"/>
          </a:solidFill>
          <a:ln/>
        </p:spPr>
        <p:txBody>
          <a:bodyPr/>
          <a:lstStyle/>
          <a:p>
            <a:endParaRPr lang="ko-KR" altLang="en-US"/>
          </a:p>
        </p:txBody>
      </p:sp>
      <p:sp>
        <p:nvSpPr>
          <p:cNvPr id="14" name="Text 12"/>
          <p:cNvSpPr/>
          <p:nvPr/>
        </p:nvSpPr>
        <p:spPr>
          <a:xfrm>
            <a:off x="2377440"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병원</a:t>
            </a:r>
            <a:endParaRPr lang="en-US" sz="1150" dirty="0"/>
          </a:p>
        </p:txBody>
      </p:sp>
      <p:sp>
        <p:nvSpPr>
          <p:cNvPr id="15" name="Text 13"/>
          <p:cNvSpPr/>
          <p:nvPr/>
        </p:nvSpPr>
        <p:spPr>
          <a:xfrm>
            <a:off x="822960" y="3931920"/>
            <a:ext cx="2804190" cy="1188720"/>
          </a:xfrm>
          <a:prstGeom prst="rect">
            <a:avLst/>
          </a:prstGeom>
          <a:noFill/>
          <a:ln/>
        </p:spPr>
        <p:txBody>
          <a:bodyPr wrap="square" lIns="0" tIns="0" rIns="0" bIns="0" rtlCol="0" anchor="ctr"/>
          <a:lstStyle/>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재활 치료·근력 보조.</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힘 제어로 필요한 만큼만.</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7가지 훈련 모드.</a:t>
            </a:r>
            <a:endParaRPr lang="en-US" sz="1300" dirty="0"/>
          </a:p>
        </p:txBody>
      </p:sp>
      <p:sp>
        <p:nvSpPr>
          <p:cNvPr id="16" name="Shape 14"/>
          <p:cNvSpPr/>
          <p:nvPr/>
        </p:nvSpPr>
        <p:spPr>
          <a:xfrm>
            <a:off x="4404390" y="1737360"/>
            <a:ext cx="3352830" cy="356616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4678710" y="1938528"/>
            <a:ext cx="2804190" cy="256032"/>
          </a:xfrm>
          <a:prstGeom prst="rect">
            <a:avLst/>
          </a:prstGeom>
          <a:noFill/>
          <a:ln/>
        </p:spPr>
        <p:txBody>
          <a:bodyPr wrap="square" lIns="0" tIns="0" rIns="0" bIns="0" rtlCol="0" anchor="ctr"/>
          <a:lstStyle/>
          <a:p>
            <a:pPr marL="0" indent="0">
              <a:buNone/>
            </a:pPr>
            <a:r>
              <a:rPr lang="en-US" sz="1100" b="1" kern="0" spc="80" dirty="0">
                <a:solidFill>
                  <a:srgbClr val="0E7C86"/>
                </a:solidFill>
                <a:latin typeface="Calibri" pitchFamily="34" charset="0"/>
                <a:ea typeface="Calibri" pitchFamily="34" charset="-122"/>
                <a:cs typeface="Calibri" pitchFamily="34" charset="-120"/>
              </a:rPr>
              <a:t>Angel Robotics</a:t>
            </a:r>
            <a:endParaRPr lang="en-US" sz="1100" dirty="0"/>
          </a:p>
        </p:txBody>
      </p:sp>
      <p:sp>
        <p:nvSpPr>
          <p:cNvPr id="18" name="Text 16"/>
          <p:cNvSpPr/>
          <p:nvPr/>
        </p:nvSpPr>
        <p:spPr>
          <a:xfrm>
            <a:off x="4678710" y="2212848"/>
            <a:ext cx="2804190" cy="566928"/>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엔젤슈트 H10 · K10</a:t>
            </a:r>
            <a:endParaRPr lang="en-US" sz="1900" dirty="0"/>
          </a:p>
        </p:txBody>
      </p:sp>
      <p:sp>
        <p:nvSpPr>
          <p:cNvPr id="19" name="Shape 17"/>
          <p:cNvSpPr/>
          <p:nvPr/>
        </p:nvSpPr>
        <p:spPr>
          <a:xfrm>
            <a:off x="4678710" y="2880360"/>
            <a:ext cx="1371600" cy="329184"/>
          </a:xfrm>
          <a:prstGeom prst="roundRect">
            <a:avLst>
              <a:gd name="adj" fmla="val 50000"/>
            </a:avLst>
          </a:prstGeom>
          <a:solidFill>
            <a:srgbClr val="0E7C86"/>
          </a:solidFill>
          <a:ln/>
        </p:spPr>
        <p:txBody>
          <a:bodyPr/>
          <a:lstStyle/>
          <a:p>
            <a:endParaRPr lang="ko-KR" altLang="en-US"/>
          </a:p>
        </p:txBody>
      </p:sp>
      <p:sp>
        <p:nvSpPr>
          <p:cNvPr id="20" name="Text 18"/>
          <p:cNvSpPr/>
          <p:nvPr/>
        </p:nvSpPr>
        <p:spPr>
          <a:xfrm>
            <a:off x="4678710"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보조</a:t>
            </a:r>
            <a:endParaRPr lang="en-US" sz="1150" dirty="0"/>
          </a:p>
        </p:txBody>
      </p:sp>
      <p:sp>
        <p:nvSpPr>
          <p:cNvPr id="21" name="Shape 19"/>
          <p:cNvSpPr/>
          <p:nvPr/>
        </p:nvSpPr>
        <p:spPr>
          <a:xfrm>
            <a:off x="6233190" y="2880360"/>
            <a:ext cx="1371600" cy="329184"/>
          </a:xfrm>
          <a:prstGeom prst="roundRect">
            <a:avLst>
              <a:gd name="adj" fmla="val 50000"/>
            </a:avLst>
          </a:prstGeom>
          <a:solidFill>
            <a:srgbClr val="0E7C86"/>
          </a:solidFill>
          <a:ln/>
        </p:spPr>
        <p:txBody>
          <a:bodyPr/>
          <a:lstStyle/>
          <a:p>
            <a:endParaRPr lang="ko-KR" altLang="en-US"/>
          </a:p>
        </p:txBody>
      </p:sp>
      <p:sp>
        <p:nvSpPr>
          <p:cNvPr id="22" name="Text 20"/>
          <p:cNvSpPr/>
          <p:nvPr/>
        </p:nvSpPr>
        <p:spPr>
          <a:xfrm>
            <a:off x="6233190"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경량</a:t>
            </a:r>
            <a:endParaRPr lang="en-US" sz="1150" dirty="0"/>
          </a:p>
        </p:txBody>
      </p:sp>
      <p:sp>
        <p:nvSpPr>
          <p:cNvPr id="23" name="Shape 21"/>
          <p:cNvSpPr/>
          <p:nvPr/>
        </p:nvSpPr>
        <p:spPr>
          <a:xfrm>
            <a:off x="4678710" y="3319272"/>
            <a:ext cx="1371600" cy="329184"/>
          </a:xfrm>
          <a:prstGeom prst="roundRect">
            <a:avLst>
              <a:gd name="adj" fmla="val 50000"/>
            </a:avLst>
          </a:prstGeom>
          <a:solidFill>
            <a:srgbClr val="0E7C86"/>
          </a:solidFill>
          <a:ln/>
        </p:spPr>
        <p:txBody>
          <a:bodyPr/>
          <a:lstStyle/>
          <a:p>
            <a:endParaRPr lang="ko-KR" altLang="en-US"/>
          </a:p>
        </p:txBody>
      </p:sp>
      <p:sp>
        <p:nvSpPr>
          <p:cNvPr id="24" name="Text 22"/>
          <p:cNvSpPr/>
          <p:nvPr/>
        </p:nvSpPr>
        <p:spPr>
          <a:xfrm>
            <a:off x="4678710"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단관절</a:t>
            </a:r>
            <a:endParaRPr lang="en-US" sz="1150" dirty="0"/>
          </a:p>
        </p:txBody>
      </p:sp>
      <p:sp>
        <p:nvSpPr>
          <p:cNvPr id="25" name="Shape 23"/>
          <p:cNvSpPr/>
          <p:nvPr/>
        </p:nvSpPr>
        <p:spPr>
          <a:xfrm>
            <a:off x="6233190" y="3319272"/>
            <a:ext cx="1371600" cy="329184"/>
          </a:xfrm>
          <a:prstGeom prst="roundRect">
            <a:avLst>
              <a:gd name="adj" fmla="val 50000"/>
            </a:avLst>
          </a:prstGeom>
          <a:solidFill>
            <a:srgbClr val="0E7C86"/>
          </a:solidFill>
          <a:ln/>
        </p:spPr>
        <p:txBody>
          <a:bodyPr/>
          <a:lstStyle/>
          <a:p>
            <a:endParaRPr lang="ko-KR" altLang="en-US"/>
          </a:p>
        </p:txBody>
      </p:sp>
      <p:sp>
        <p:nvSpPr>
          <p:cNvPr id="26" name="Text 24"/>
          <p:cNvSpPr/>
          <p:nvPr/>
        </p:nvSpPr>
        <p:spPr>
          <a:xfrm>
            <a:off x="6233190"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일상</a:t>
            </a:r>
            <a:endParaRPr lang="en-US" sz="1150" dirty="0"/>
          </a:p>
        </p:txBody>
      </p:sp>
      <p:sp>
        <p:nvSpPr>
          <p:cNvPr id="27" name="Text 25"/>
          <p:cNvSpPr/>
          <p:nvPr/>
        </p:nvSpPr>
        <p:spPr>
          <a:xfrm>
            <a:off x="4678710" y="3931920"/>
            <a:ext cx="2804190" cy="1188720"/>
          </a:xfrm>
          <a:prstGeom prst="rect">
            <a:avLst/>
          </a:prstGeom>
          <a:noFill/>
          <a:ln/>
        </p:spPr>
        <p:txBody>
          <a:bodyPr wrap="square" lIns="0" tIns="0" rIns="0" bIns="0" rtlCol="0" anchor="ctr"/>
          <a:lstStyle/>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H10은 고관절, K10은 무릎.</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일상 수준의 힘을</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작고 간편하게.</a:t>
            </a:r>
            <a:endParaRPr lang="en-US" sz="1300" dirty="0"/>
          </a:p>
        </p:txBody>
      </p:sp>
      <p:sp>
        <p:nvSpPr>
          <p:cNvPr id="28" name="Shape 26"/>
          <p:cNvSpPr/>
          <p:nvPr/>
        </p:nvSpPr>
        <p:spPr>
          <a:xfrm>
            <a:off x="8260141" y="1737360"/>
            <a:ext cx="3352830" cy="356616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9" name="Text 27"/>
          <p:cNvSpPr/>
          <p:nvPr/>
        </p:nvSpPr>
        <p:spPr>
          <a:xfrm>
            <a:off x="8534461" y="1938528"/>
            <a:ext cx="2804190" cy="256032"/>
          </a:xfrm>
          <a:prstGeom prst="rect">
            <a:avLst/>
          </a:prstGeom>
          <a:noFill/>
          <a:ln/>
        </p:spPr>
        <p:txBody>
          <a:bodyPr wrap="square" lIns="0" tIns="0" rIns="0" bIns="0" rtlCol="0" anchor="ctr"/>
          <a:lstStyle/>
          <a:p>
            <a:pPr marL="0" indent="0">
              <a:buNone/>
            </a:pPr>
            <a:r>
              <a:rPr lang="en-US" sz="1100" b="1" kern="0" spc="80" dirty="0">
                <a:solidFill>
                  <a:srgbClr val="E8871E"/>
                </a:solidFill>
                <a:latin typeface="Calibri" pitchFamily="34" charset="0"/>
                <a:ea typeface="Calibri" pitchFamily="34" charset="-122"/>
                <a:cs typeface="Calibri" pitchFamily="34" charset="-120"/>
              </a:rPr>
              <a:t>Kenqing · Hypershell 등</a:t>
            </a:r>
            <a:endParaRPr lang="en-US" sz="1100" dirty="0"/>
          </a:p>
        </p:txBody>
      </p:sp>
      <p:sp>
        <p:nvSpPr>
          <p:cNvPr id="30" name="Text 28"/>
          <p:cNvSpPr/>
          <p:nvPr/>
        </p:nvSpPr>
        <p:spPr>
          <a:xfrm>
            <a:off x="8534461" y="2212848"/>
            <a:ext cx="2804190" cy="566928"/>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중국 등산 보조 외골격</a:t>
            </a:r>
            <a:endParaRPr lang="en-US" sz="1900" dirty="0"/>
          </a:p>
        </p:txBody>
      </p:sp>
      <p:sp>
        <p:nvSpPr>
          <p:cNvPr id="31" name="Shape 29"/>
          <p:cNvSpPr/>
          <p:nvPr/>
        </p:nvSpPr>
        <p:spPr>
          <a:xfrm>
            <a:off x="8534461" y="2880360"/>
            <a:ext cx="1371600" cy="329184"/>
          </a:xfrm>
          <a:prstGeom prst="roundRect">
            <a:avLst>
              <a:gd name="adj" fmla="val 50000"/>
            </a:avLst>
          </a:prstGeom>
          <a:solidFill>
            <a:srgbClr val="E8871E"/>
          </a:solidFill>
          <a:ln/>
        </p:spPr>
        <p:txBody>
          <a:bodyPr/>
          <a:lstStyle/>
          <a:p>
            <a:endParaRPr lang="ko-KR" altLang="en-US"/>
          </a:p>
        </p:txBody>
      </p:sp>
      <p:sp>
        <p:nvSpPr>
          <p:cNvPr id="32" name="Text 30"/>
          <p:cNvSpPr/>
          <p:nvPr/>
        </p:nvSpPr>
        <p:spPr>
          <a:xfrm>
            <a:off x="8534461"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보조</a:t>
            </a:r>
            <a:endParaRPr lang="en-US" sz="1150" dirty="0"/>
          </a:p>
        </p:txBody>
      </p:sp>
      <p:sp>
        <p:nvSpPr>
          <p:cNvPr id="33" name="Shape 31"/>
          <p:cNvSpPr/>
          <p:nvPr/>
        </p:nvSpPr>
        <p:spPr>
          <a:xfrm>
            <a:off x="10088941" y="2880360"/>
            <a:ext cx="1371600" cy="329184"/>
          </a:xfrm>
          <a:prstGeom prst="roundRect">
            <a:avLst>
              <a:gd name="adj" fmla="val 50000"/>
            </a:avLst>
          </a:prstGeom>
          <a:solidFill>
            <a:srgbClr val="E8871E"/>
          </a:solidFill>
          <a:ln/>
        </p:spPr>
        <p:txBody>
          <a:bodyPr/>
          <a:lstStyle/>
          <a:p>
            <a:endParaRPr lang="ko-KR" altLang="en-US"/>
          </a:p>
        </p:txBody>
      </p:sp>
      <p:sp>
        <p:nvSpPr>
          <p:cNvPr id="34" name="Text 32"/>
          <p:cNvSpPr/>
          <p:nvPr/>
        </p:nvSpPr>
        <p:spPr>
          <a:xfrm>
            <a:off x="10088941" y="2880360"/>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초경량</a:t>
            </a:r>
            <a:endParaRPr lang="en-US" sz="1150" dirty="0"/>
          </a:p>
        </p:txBody>
      </p:sp>
      <p:sp>
        <p:nvSpPr>
          <p:cNvPr id="35" name="Shape 33"/>
          <p:cNvSpPr/>
          <p:nvPr/>
        </p:nvSpPr>
        <p:spPr>
          <a:xfrm>
            <a:off x="8534461" y="3319272"/>
            <a:ext cx="1371600" cy="329184"/>
          </a:xfrm>
          <a:prstGeom prst="roundRect">
            <a:avLst>
              <a:gd name="adj" fmla="val 50000"/>
            </a:avLst>
          </a:prstGeom>
          <a:solidFill>
            <a:srgbClr val="E8871E"/>
          </a:solidFill>
          <a:ln/>
        </p:spPr>
        <p:txBody>
          <a:bodyPr/>
          <a:lstStyle/>
          <a:p>
            <a:endParaRPr lang="ko-KR" altLang="en-US"/>
          </a:p>
        </p:txBody>
      </p:sp>
      <p:sp>
        <p:nvSpPr>
          <p:cNvPr id="36" name="Text 34"/>
          <p:cNvSpPr/>
          <p:nvPr/>
        </p:nvSpPr>
        <p:spPr>
          <a:xfrm>
            <a:off x="8534461"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단관절</a:t>
            </a:r>
            <a:endParaRPr lang="en-US" sz="1150" dirty="0"/>
          </a:p>
        </p:txBody>
      </p:sp>
      <p:sp>
        <p:nvSpPr>
          <p:cNvPr id="37" name="Shape 35"/>
          <p:cNvSpPr/>
          <p:nvPr/>
        </p:nvSpPr>
        <p:spPr>
          <a:xfrm>
            <a:off x="10088941" y="3319272"/>
            <a:ext cx="1371600" cy="329184"/>
          </a:xfrm>
          <a:prstGeom prst="roundRect">
            <a:avLst>
              <a:gd name="adj" fmla="val 50000"/>
            </a:avLst>
          </a:prstGeom>
          <a:solidFill>
            <a:srgbClr val="E8871E"/>
          </a:solidFill>
          <a:ln/>
        </p:spPr>
        <p:txBody>
          <a:bodyPr/>
          <a:lstStyle/>
          <a:p>
            <a:endParaRPr lang="ko-KR" altLang="en-US"/>
          </a:p>
        </p:txBody>
      </p:sp>
      <p:sp>
        <p:nvSpPr>
          <p:cNvPr id="38" name="Text 36"/>
          <p:cNvSpPr/>
          <p:nvPr/>
        </p:nvSpPr>
        <p:spPr>
          <a:xfrm>
            <a:off x="10088941" y="3319272"/>
            <a:ext cx="1371600"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야외</a:t>
            </a:r>
            <a:endParaRPr lang="en-US" sz="1150" dirty="0"/>
          </a:p>
        </p:txBody>
      </p:sp>
      <p:sp>
        <p:nvSpPr>
          <p:cNvPr id="39" name="Text 37"/>
          <p:cNvSpPr/>
          <p:nvPr/>
        </p:nvSpPr>
        <p:spPr>
          <a:xfrm>
            <a:off x="8534461" y="3931920"/>
            <a:ext cx="2804190" cy="1188720"/>
          </a:xfrm>
          <a:prstGeom prst="rect">
            <a:avLst/>
          </a:prstGeom>
          <a:noFill/>
          <a:ln/>
        </p:spPr>
        <p:txBody>
          <a:bodyPr wrap="square" lIns="0" tIns="0" rIns="0" bIns="0" rtlCol="0" anchor="ctr"/>
          <a:lstStyle/>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관광지 대여 1.8kg.</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환자가 아니라</a:t>
            </a:r>
            <a:endParaRPr lang="en-US" sz="1300" dirty="0"/>
          </a:p>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등산객을 찾아냈다.</a:t>
            </a:r>
            <a:endParaRPr lang="en-US" sz="1300" dirty="0"/>
          </a:p>
        </p:txBody>
      </p:sp>
      <p:sp>
        <p:nvSpPr>
          <p:cNvPr id="40" name="Text 38"/>
          <p:cNvSpPr/>
          <p:nvPr/>
        </p:nvSpPr>
        <p:spPr>
          <a:xfrm>
            <a:off x="548640" y="5532120"/>
            <a:ext cx="11064240" cy="411480"/>
          </a:xfrm>
          <a:prstGeom prst="rect">
            <a:avLst/>
          </a:prstGeom>
          <a:noFill/>
          <a:ln/>
        </p:spPr>
        <p:txBody>
          <a:bodyPr wrap="square" lIns="0" tIns="0" rIns="0" bIns="0" rtlCol="0" anchor="ctr"/>
          <a:lstStyle/>
          <a:p>
            <a:pPr marL="0" indent="0">
              <a:buNone/>
            </a:pPr>
            <a:r>
              <a:rPr lang="en-US" sz="1500" i="1" dirty="0">
                <a:solidFill>
                  <a:srgbClr val="102A43"/>
                </a:solidFill>
                <a:latin typeface="Calibri" pitchFamily="34" charset="0"/>
                <a:ea typeface="Calibri" pitchFamily="34" charset="-122"/>
                <a:cs typeface="Calibri" pitchFamily="34" charset="-120"/>
              </a:rPr>
              <a:t>같은 기술 뿌리에서 완전히 다른 시장이 나옵니다. 오른쪽 칸이 3부에서 다룰 이야기입니다.</a:t>
            </a:r>
            <a:endParaRPr lang="en-US" sz="1500" dirty="0"/>
          </a:p>
        </p:txBody>
      </p:sp>
      <p:sp>
        <p:nvSpPr>
          <p:cNvPr id="41" name="Text 39"/>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ANGEL LEGS M20 (엔젤로보틱스)">
                  <a:extLst>
                    <a:ext uri="{A12FA001-AC4F-418D-AE19-62706E023703}">
                      <ahyp:hlinkClr xmlns:ahyp="http://schemas.microsoft.com/office/drawing/2018/hyperlinkcolor" val="tx"/>
                    </a:ext>
                  </a:extLst>
                </a:hlinkClick>
              </a:rPr>
              <a:t>ANGEL LEGS M20 (엔젤로보틱스)</a:t>
            </a:r>
            <a:r>
              <a:rPr lang="en-US" sz="900" dirty="0">
                <a:solidFill>
                  <a:srgbClr val="829AB1"/>
                </a:solidFill>
              </a:rPr>
              <a:t>   ·   </a:t>
            </a:r>
            <a:r>
              <a:rPr lang="en-US" sz="900" u="sng" dirty="0">
                <a:solidFill>
                  <a:srgbClr val="0E7C86"/>
                </a:solidFill>
                <a:hlinkClick r:id="rId4" tooltip="엔젤슈트 H10 출시 (BioTimes)">
                  <a:extLst>
                    <a:ext uri="{A12FA001-AC4F-418D-AE19-62706E023703}">
                      <ahyp:hlinkClr xmlns:ahyp="http://schemas.microsoft.com/office/drawing/2018/hyperlinkcolor" val="tx"/>
                    </a:ext>
                  </a:extLst>
                </a:hlinkClick>
              </a:rPr>
              <a:t>엔젤슈트 H10 출시 (BioTimes)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1-4 · 왜 지금인가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네 가지가 동시에 맞물린 시점</a:t>
            </a:r>
            <a:endParaRPr lang="en-US" sz="3000" dirty="0"/>
          </a:p>
        </p:txBody>
      </p:sp>
      <p:sp>
        <p:nvSpPr>
          <p:cNvPr id="4" name="Shape 2"/>
          <p:cNvSpPr/>
          <p:nvPr/>
        </p:nvSpPr>
        <p:spPr>
          <a:xfrm>
            <a:off x="548640" y="1828800"/>
            <a:ext cx="2491740" cy="1828800"/>
          </a:xfrm>
          <a:prstGeom prst="roundRect">
            <a:avLst>
              <a:gd name="adj" fmla="val 3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777240" y="2011680"/>
            <a:ext cx="2034540" cy="457200"/>
          </a:xfrm>
          <a:prstGeom prst="rect">
            <a:avLst/>
          </a:prstGeom>
          <a:noFill/>
          <a:ln/>
        </p:spPr>
        <p:txBody>
          <a:bodyPr wrap="square" lIns="0" tIns="0" rIns="0" bIns="0" rtlCol="0" anchor="ctr"/>
          <a:lstStyle/>
          <a:p>
            <a:pPr marL="0" indent="0">
              <a:buNone/>
            </a:pPr>
            <a:r>
              <a:rPr lang="en-US" sz="1650" b="1" dirty="0">
                <a:solidFill>
                  <a:srgbClr val="102A43"/>
                </a:solidFill>
                <a:latin typeface="Cambria" pitchFamily="34" charset="0"/>
                <a:ea typeface="Cambria" pitchFamily="34" charset="-122"/>
                <a:cs typeface="Cambria" pitchFamily="34" charset="-120"/>
              </a:rPr>
              <a:t>고령화</a:t>
            </a:r>
            <a:endParaRPr lang="en-US" sz="1650" dirty="0"/>
          </a:p>
        </p:txBody>
      </p:sp>
      <p:sp>
        <p:nvSpPr>
          <p:cNvPr id="6" name="Text 4"/>
          <p:cNvSpPr/>
          <p:nvPr/>
        </p:nvSpPr>
        <p:spPr>
          <a:xfrm>
            <a:off x="777240" y="2542032"/>
            <a:ext cx="2034540" cy="91440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보행 보조 수요의</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구조적 증가</a:t>
            </a:r>
            <a:endParaRPr lang="en-US" sz="1250" dirty="0"/>
          </a:p>
        </p:txBody>
      </p:sp>
      <p:sp>
        <p:nvSpPr>
          <p:cNvPr id="7" name="Shape 5"/>
          <p:cNvSpPr/>
          <p:nvPr/>
        </p:nvSpPr>
        <p:spPr>
          <a:xfrm>
            <a:off x="3406140" y="1828800"/>
            <a:ext cx="2491740" cy="1828800"/>
          </a:xfrm>
          <a:prstGeom prst="roundRect">
            <a:avLst>
              <a:gd name="adj" fmla="val 3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3634740" y="2011680"/>
            <a:ext cx="2034540" cy="457200"/>
          </a:xfrm>
          <a:prstGeom prst="rect">
            <a:avLst/>
          </a:prstGeom>
          <a:noFill/>
          <a:ln/>
        </p:spPr>
        <p:txBody>
          <a:bodyPr wrap="square" lIns="0" tIns="0" rIns="0" bIns="0" rtlCol="0" anchor="ctr"/>
          <a:lstStyle/>
          <a:p>
            <a:pPr marL="0" indent="0">
              <a:buNone/>
            </a:pPr>
            <a:r>
              <a:rPr lang="en-US" sz="1650" b="1" dirty="0">
                <a:solidFill>
                  <a:srgbClr val="102A43"/>
                </a:solidFill>
                <a:latin typeface="Cambria" pitchFamily="34" charset="0"/>
                <a:ea typeface="Cambria" pitchFamily="34" charset="-122"/>
                <a:cs typeface="Cambria" pitchFamily="34" charset="-120"/>
              </a:rPr>
              <a:t>재활 인력 부족</a:t>
            </a:r>
            <a:endParaRPr lang="en-US" sz="1650" dirty="0"/>
          </a:p>
        </p:txBody>
      </p:sp>
      <p:sp>
        <p:nvSpPr>
          <p:cNvPr id="9" name="Text 7"/>
          <p:cNvSpPr/>
          <p:nvPr/>
        </p:nvSpPr>
        <p:spPr>
          <a:xfrm>
            <a:off x="3634740" y="2542032"/>
            <a:ext cx="2034540" cy="91440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치료사 1명이</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감당할 수 있는 한계</a:t>
            </a:r>
            <a:endParaRPr lang="en-US" sz="1250" dirty="0"/>
          </a:p>
        </p:txBody>
      </p:sp>
      <p:sp>
        <p:nvSpPr>
          <p:cNvPr id="10" name="Shape 8"/>
          <p:cNvSpPr/>
          <p:nvPr/>
        </p:nvSpPr>
        <p:spPr>
          <a:xfrm>
            <a:off x="6263640" y="1828800"/>
            <a:ext cx="2491740" cy="1828800"/>
          </a:xfrm>
          <a:prstGeom prst="roundRect">
            <a:avLst>
              <a:gd name="adj" fmla="val 3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6492240" y="2011680"/>
            <a:ext cx="2034540" cy="457200"/>
          </a:xfrm>
          <a:prstGeom prst="rect">
            <a:avLst/>
          </a:prstGeom>
          <a:noFill/>
          <a:ln/>
        </p:spPr>
        <p:txBody>
          <a:bodyPr wrap="square" lIns="0" tIns="0" rIns="0" bIns="0" rtlCol="0" anchor="ctr"/>
          <a:lstStyle/>
          <a:p>
            <a:pPr marL="0" indent="0">
              <a:buNone/>
            </a:pPr>
            <a:r>
              <a:rPr lang="en-US" sz="1650" b="1" dirty="0">
                <a:solidFill>
                  <a:srgbClr val="102A43"/>
                </a:solidFill>
                <a:latin typeface="Cambria" pitchFamily="34" charset="0"/>
                <a:ea typeface="Cambria" pitchFamily="34" charset="-122"/>
                <a:cs typeface="Cambria" pitchFamily="34" charset="-120"/>
              </a:rPr>
              <a:t>하드웨어 원가 하락</a:t>
            </a:r>
            <a:endParaRPr lang="en-US" sz="1650" dirty="0"/>
          </a:p>
        </p:txBody>
      </p:sp>
      <p:sp>
        <p:nvSpPr>
          <p:cNvPr id="12" name="Text 10"/>
          <p:cNvSpPr/>
          <p:nvPr/>
        </p:nvSpPr>
        <p:spPr>
          <a:xfrm>
            <a:off x="6492240" y="2542032"/>
            <a:ext cx="2034540" cy="91440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모터·IMU·배터리</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공급망의 성숙</a:t>
            </a:r>
            <a:endParaRPr lang="en-US" sz="1250" dirty="0"/>
          </a:p>
        </p:txBody>
      </p:sp>
      <p:sp>
        <p:nvSpPr>
          <p:cNvPr id="13" name="Shape 11"/>
          <p:cNvSpPr/>
          <p:nvPr/>
        </p:nvSpPr>
        <p:spPr>
          <a:xfrm>
            <a:off x="9121140" y="1828800"/>
            <a:ext cx="2491740" cy="1828800"/>
          </a:xfrm>
          <a:prstGeom prst="roundRect">
            <a:avLst>
              <a:gd name="adj" fmla="val 3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9349740" y="2011680"/>
            <a:ext cx="2034540" cy="457200"/>
          </a:xfrm>
          <a:prstGeom prst="rect">
            <a:avLst/>
          </a:prstGeom>
          <a:noFill/>
          <a:ln/>
        </p:spPr>
        <p:txBody>
          <a:bodyPr wrap="square" lIns="0" tIns="0" rIns="0" bIns="0" rtlCol="0" anchor="ctr"/>
          <a:lstStyle/>
          <a:p>
            <a:pPr marL="0" indent="0">
              <a:buNone/>
            </a:pPr>
            <a:r>
              <a:rPr lang="en-US" sz="1650" b="1" dirty="0">
                <a:solidFill>
                  <a:srgbClr val="102A43"/>
                </a:solidFill>
                <a:latin typeface="Cambria" pitchFamily="34" charset="0"/>
                <a:ea typeface="Cambria" pitchFamily="34" charset="-122"/>
                <a:cs typeface="Cambria" pitchFamily="34" charset="-120"/>
              </a:rPr>
              <a:t>AI 제어의 성숙</a:t>
            </a:r>
            <a:endParaRPr lang="en-US" sz="1650" dirty="0"/>
          </a:p>
        </p:txBody>
      </p:sp>
      <p:sp>
        <p:nvSpPr>
          <p:cNvPr id="15" name="Text 13"/>
          <p:cNvSpPr/>
          <p:nvPr/>
        </p:nvSpPr>
        <p:spPr>
          <a:xfrm>
            <a:off x="9349740" y="2542032"/>
            <a:ext cx="2034540" cy="91440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의도 인식과</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개인화 제어의 가능성</a:t>
            </a:r>
            <a:endParaRPr lang="en-US" sz="1250" dirty="0"/>
          </a:p>
        </p:txBody>
      </p:sp>
      <p:sp>
        <p:nvSpPr>
          <p:cNvPr id="16" name="Shape 14"/>
          <p:cNvSpPr/>
          <p:nvPr/>
        </p:nvSpPr>
        <p:spPr>
          <a:xfrm>
            <a:off x="548640" y="3977640"/>
            <a:ext cx="11064240" cy="1600200"/>
          </a:xfrm>
          <a:prstGeom prst="roundRect">
            <a:avLst>
              <a:gd name="adj" fmla="val 342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1005840" y="4206240"/>
            <a:ext cx="237744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$3.9억</a:t>
            </a:r>
            <a:endParaRPr lang="en-US" sz="4000" dirty="0"/>
          </a:p>
        </p:txBody>
      </p:sp>
      <p:sp>
        <p:nvSpPr>
          <p:cNvPr id="18" name="Text 16"/>
          <p:cNvSpPr/>
          <p:nvPr/>
        </p:nvSpPr>
        <p:spPr>
          <a:xfrm>
            <a:off x="1005840" y="4937760"/>
            <a:ext cx="2377440" cy="274320"/>
          </a:xfrm>
          <a:prstGeom prst="rect">
            <a:avLst/>
          </a:prstGeom>
          <a:noFill/>
          <a:ln/>
        </p:spPr>
        <p:txBody>
          <a:bodyPr wrap="square" lIns="0" tIns="0" rIns="0" bIns="0" rtlCol="0" anchor="ctr"/>
          <a:lstStyle/>
          <a:p>
            <a:pPr marL="0" indent="0">
              <a:buNone/>
            </a:pPr>
            <a:r>
              <a:rPr lang="en-US" sz="1300" dirty="0">
                <a:solidFill>
                  <a:srgbClr val="8FC7CE"/>
                </a:solidFill>
                <a:latin typeface="Calibri" pitchFamily="34" charset="0"/>
                <a:ea typeface="Calibri" pitchFamily="34" charset="-122"/>
                <a:cs typeface="Calibri" pitchFamily="34" charset="-120"/>
              </a:rPr>
              <a:t>2020년 글로벌</a:t>
            </a:r>
            <a:endParaRPr lang="en-US" sz="1300" dirty="0"/>
          </a:p>
        </p:txBody>
      </p:sp>
      <p:sp>
        <p:nvSpPr>
          <p:cNvPr id="19" name="Text 17"/>
          <p:cNvSpPr/>
          <p:nvPr/>
        </p:nvSpPr>
        <p:spPr>
          <a:xfrm>
            <a:off x="3474720" y="4343400"/>
            <a:ext cx="640080" cy="548640"/>
          </a:xfrm>
          <a:prstGeom prst="rect">
            <a:avLst/>
          </a:prstGeom>
          <a:noFill/>
          <a:ln/>
        </p:spPr>
        <p:txBody>
          <a:bodyPr wrap="square" lIns="0" tIns="0" rIns="0" bIns="0" rtlCol="0" anchor="ctr"/>
          <a:lstStyle/>
          <a:p>
            <a:pPr marL="0" indent="0" algn="ctr">
              <a:buNone/>
            </a:pPr>
            <a:r>
              <a:rPr lang="en-US" sz="3000" b="1" dirty="0">
                <a:solidFill>
                  <a:srgbClr val="8FC7CE"/>
                </a:solidFill>
                <a:latin typeface="Calibri" pitchFamily="34" charset="0"/>
                <a:ea typeface="Calibri" pitchFamily="34" charset="-122"/>
                <a:cs typeface="Calibri" pitchFamily="34" charset="-120"/>
              </a:rPr>
              <a:t>→</a:t>
            </a:r>
            <a:endParaRPr lang="en-US" sz="3000" dirty="0"/>
          </a:p>
        </p:txBody>
      </p:sp>
      <p:sp>
        <p:nvSpPr>
          <p:cNvPr id="20" name="Text 18"/>
          <p:cNvSpPr/>
          <p:nvPr/>
        </p:nvSpPr>
        <p:spPr>
          <a:xfrm>
            <a:off x="4206240" y="4206240"/>
            <a:ext cx="2377440" cy="685800"/>
          </a:xfrm>
          <a:prstGeom prst="rect">
            <a:avLst/>
          </a:prstGeom>
          <a:noFill/>
          <a:ln/>
        </p:spPr>
        <p:txBody>
          <a:bodyPr wrap="square" lIns="0" tIns="0" rIns="0" bIns="0" rtlCol="0" anchor="ctr"/>
          <a:lstStyle/>
          <a:p>
            <a:pPr marL="0" indent="0">
              <a:buNone/>
            </a:pPr>
            <a:r>
              <a:rPr lang="en-US" sz="4000" b="1" dirty="0">
                <a:solidFill>
                  <a:srgbClr val="E8871E"/>
                </a:solidFill>
                <a:latin typeface="Cambria" pitchFamily="34" charset="0"/>
                <a:ea typeface="Cambria" pitchFamily="34" charset="-122"/>
                <a:cs typeface="Cambria" pitchFamily="34" charset="-120"/>
              </a:rPr>
              <a:t>$68억</a:t>
            </a:r>
            <a:endParaRPr lang="en-US" sz="4000" dirty="0"/>
          </a:p>
        </p:txBody>
      </p:sp>
      <p:sp>
        <p:nvSpPr>
          <p:cNvPr id="21" name="Text 19"/>
          <p:cNvSpPr/>
          <p:nvPr/>
        </p:nvSpPr>
        <p:spPr>
          <a:xfrm>
            <a:off x="4206240" y="4937760"/>
            <a:ext cx="3108960" cy="274320"/>
          </a:xfrm>
          <a:prstGeom prst="rect">
            <a:avLst/>
          </a:prstGeom>
          <a:noFill/>
          <a:ln/>
        </p:spPr>
        <p:txBody>
          <a:bodyPr wrap="square" lIns="0" tIns="0" rIns="0" bIns="0" rtlCol="0" anchor="ctr"/>
          <a:lstStyle/>
          <a:p>
            <a:pPr marL="0" indent="0">
              <a:buNone/>
            </a:pPr>
            <a:r>
              <a:rPr lang="en-US" sz="1300" dirty="0">
                <a:solidFill>
                  <a:srgbClr val="8FC7CE"/>
                </a:solidFill>
                <a:latin typeface="Calibri" pitchFamily="34" charset="0"/>
                <a:ea typeface="Calibri" pitchFamily="34" charset="-122"/>
                <a:cs typeface="Calibri" pitchFamily="34" charset="-120"/>
              </a:rPr>
              <a:t>2030년 전망 · CAGR 33%</a:t>
            </a:r>
            <a:endParaRPr lang="en-US" sz="1300" dirty="0"/>
          </a:p>
        </p:txBody>
      </p:sp>
      <p:sp>
        <p:nvSpPr>
          <p:cNvPr id="22" name="Text 20"/>
          <p:cNvSpPr/>
          <p:nvPr/>
        </p:nvSpPr>
        <p:spPr>
          <a:xfrm>
            <a:off x="7680960" y="4315968"/>
            <a:ext cx="3657600" cy="914400"/>
          </a:xfrm>
          <a:prstGeom prst="rect">
            <a:avLst/>
          </a:prstGeom>
          <a:noFill/>
          <a:ln/>
        </p:spPr>
        <p:txBody>
          <a:bodyPr wrap="square" lIns="0" tIns="0" rIns="0" bIns="0" rtlCol="0" anchor="ctr"/>
          <a:lstStyle/>
          <a:p>
            <a:pPr marL="0" indent="0">
              <a:lnSpc>
                <a:spcPct val="125000"/>
              </a:lnSpc>
              <a:buNone/>
            </a:pPr>
            <a:r>
              <a:rPr lang="en-US" sz="1300" i="1" dirty="0">
                <a:solidFill>
                  <a:srgbClr val="FFFFFF"/>
                </a:solidFill>
                <a:latin typeface="Calibri" pitchFamily="34" charset="0"/>
                <a:ea typeface="Calibri" pitchFamily="34" charset="-122"/>
                <a:cs typeface="Calibri" pitchFamily="34" charset="-120"/>
              </a:rPr>
              <a:t>전망치는 출처마다 편차가 큽니다.</a:t>
            </a:r>
            <a:endParaRPr lang="en-US" sz="1300" dirty="0"/>
          </a:p>
          <a:p>
            <a:pPr marL="0" indent="0">
              <a:lnSpc>
                <a:spcPct val="125000"/>
              </a:lnSpc>
              <a:buNone/>
            </a:pPr>
            <a:r>
              <a:rPr lang="en-US" sz="1300" i="1" dirty="0">
                <a:solidFill>
                  <a:srgbClr val="FFFFFF"/>
                </a:solidFill>
                <a:latin typeface="Calibri" pitchFamily="34" charset="0"/>
                <a:ea typeface="Calibri" pitchFamily="34" charset="-122"/>
                <a:cs typeface="Calibri" pitchFamily="34" charset="-120"/>
              </a:rPr>
              <a:t>정확한 숫자보다 '기울기'로 이해해 주십시오.</a:t>
            </a:r>
            <a:endParaRPr lang="en-US" sz="1300" dirty="0"/>
          </a:p>
        </p:txBody>
      </p:sp>
      <p:sp>
        <p:nvSpPr>
          <p:cNvPr id="23" name="Text 21"/>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중국 외골격 표준화 현황 (《标准科学》 2026, ABI Research 인용치 포함)">
                  <a:extLst>
                    <a:ext uri="{A12FA001-AC4F-418D-AE19-62706E023703}">
                      <ahyp:hlinkClr xmlns:ahyp="http://schemas.microsoft.com/office/drawing/2018/hyperlinkcolor" val="tx"/>
                    </a:ext>
                  </a:extLst>
                </a:hlinkClick>
              </a:rPr>
              <a:t>중국 외골격 표준화 현황 (《标准科学》 2026, ABI Research 인용치 포함)</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2</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국내 지형도</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서울대 · 카이스트 · 엔젤로보틱스.</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우열이 아니라 분업입니다 — 세 곳이 서로 다른 문제를 풀고 있습니다.</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2-1 · 국내 3대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서로 다른 문제를 푼다</a:t>
            </a:r>
            <a:endParaRPr lang="en-US" sz="3000" dirty="0"/>
          </a:p>
        </p:txBody>
      </p:sp>
      <p:sp>
        <p:nvSpPr>
          <p:cNvPr id="4" name="Shape 2"/>
          <p:cNvSpPr/>
          <p:nvPr/>
        </p:nvSpPr>
        <p:spPr>
          <a:xfrm>
            <a:off x="548640" y="1691640"/>
            <a:ext cx="3352830" cy="379476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22960" y="1874520"/>
            <a:ext cx="2804190" cy="256032"/>
          </a:xfrm>
          <a:prstGeom prst="rect">
            <a:avLst/>
          </a:prstGeom>
          <a:noFill/>
          <a:ln/>
        </p:spPr>
        <p:txBody>
          <a:bodyPr wrap="square" lIns="0" tIns="0" rIns="0" bIns="0" rtlCol="0" anchor="ctr"/>
          <a:lstStyle/>
          <a:p>
            <a:pPr marL="0" indent="0">
              <a:buNone/>
            </a:pPr>
            <a:r>
              <a:rPr lang="en-US" sz="1100" b="1" kern="0" spc="100" dirty="0">
                <a:solidFill>
                  <a:srgbClr val="0E7C86"/>
                </a:solidFill>
                <a:latin typeface="Calibri" pitchFamily="34" charset="0"/>
                <a:ea typeface="Calibri" pitchFamily="34" charset="-122"/>
                <a:cs typeface="Calibri" pitchFamily="34" charset="-120"/>
              </a:rPr>
              <a:t>KAIST</a:t>
            </a:r>
            <a:endParaRPr lang="en-US" sz="1100" dirty="0"/>
          </a:p>
        </p:txBody>
      </p:sp>
      <p:sp>
        <p:nvSpPr>
          <p:cNvPr id="6" name="Text 4"/>
          <p:cNvSpPr/>
          <p:nvPr/>
        </p:nvSpPr>
        <p:spPr>
          <a:xfrm>
            <a:off x="822960" y="2148840"/>
            <a:ext cx="2804190" cy="457200"/>
          </a:xfrm>
          <a:prstGeom prst="rect">
            <a:avLst/>
          </a:prstGeom>
          <a:noFill/>
          <a:ln/>
        </p:spPr>
        <p:txBody>
          <a:bodyPr wrap="square" lIns="0" tIns="0" rIns="0" bIns="0" rtlCol="0" anchor="ctr"/>
          <a:lstStyle/>
          <a:p>
            <a:pPr marL="0" indent="0">
              <a:buNone/>
            </a:pPr>
            <a:r>
              <a:rPr lang="en-US" sz="2200" b="1" dirty="0">
                <a:solidFill>
                  <a:srgbClr val="102A43"/>
                </a:solidFill>
                <a:latin typeface="Cambria" pitchFamily="34" charset="0"/>
                <a:ea typeface="Cambria" pitchFamily="34" charset="-122"/>
                <a:cs typeface="Cambria" pitchFamily="34" charset="-120"/>
              </a:rPr>
              <a:t>성능의 상한선</a:t>
            </a:r>
            <a:endParaRPr lang="en-US" sz="2200" dirty="0"/>
          </a:p>
        </p:txBody>
      </p:sp>
      <p:sp>
        <p:nvSpPr>
          <p:cNvPr id="7" name="Text 5"/>
          <p:cNvSpPr/>
          <p:nvPr/>
        </p:nvSpPr>
        <p:spPr>
          <a:xfrm>
            <a:off x="822960" y="2697480"/>
            <a:ext cx="2804190" cy="256032"/>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공경철 교수팀</a:t>
            </a:r>
            <a:endParaRPr lang="en-US" sz="1250" dirty="0"/>
          </a:p>
        </p:txBody>
      </p:sp>
      <p:sp>
        <p:nvSpPr>
          <p:cNvPr id="8" name="Text 6"/>
          <p:cNvSpPr/>
          <p:nvPr/>
        </p:nvSpPr>
        <p:spPr>
          <a:xfrm>
            <a:off x="822960" y="2999232"/>
            <a:ext cx="2804190" cy="502920"/>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워크온슈트 (WalkON Suit)</a:t>
            </a:r>
            <a:endParaRPr lang="en-US" sz="1350" dirty="0"/>
          </a:p>
        </p:txBody>
      </p:sp>
      <p:sp>
        <p:nvSpPr>
          <p:cNvPr id="9" name="Text 7"/>
          <p:cNvSpPr/>
          <p:nvPr/>
        </p:nvSpPr>
        <p:spPr>
          <a:xfrm>
            <a:off x="822960" y="3611880"/>
            <a:ext cx="2804190" cy="118872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하반신 완전마비(ASIA-A).</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스스로 착용하고 스스로 </a:t>
            </a:r>
            <a:r>
              <a:rPr lang="en-US" sz="1250" dirty="0" err="1">
                <a:solidFill>
                  <a:srgbClr val="52606D"/>
                </a:solidFill>
                <a:latin typeface="Calibri" pitchFamily="34" charset="0"/>
                <a:ea typeface="Calibri" pitchFamily="34" charset="-122"/>
                <a:cs typeface="Calibri" pitchFamily="34" charset="-120"/>
              </a:rPr>
              <a:t>걷는다</a:t>
            </a:r>
            <a:r>
              <a:rPr lang="en-US" sz="1250" dirty="0">
                <a:solidFill>
                  <a:srgbClr val="52606D"/>
                </a:solidFill>
                <a:latin typeface="Calibri" pitchFamily="34" charset="0"/>
                <a:ea typeface="Calibri" pitchFamily="34" charset="-122"/>
                <a:cs typeface="Calibri" pitchFamily="34" charset="-120"/>
              </a:rPr>
              <a:t>.</a:t>
            </a:r>
            <a:endParaRPr lang="en-US" sz="1250" dirty="0"/>
          </a:p>
        </p:txBody>
      </p:sp>
      <p:sp>
        <p:nvSpPr>
          <p:cNvPr id="10" name="Text 8"/>
          <p:cNvSpPr/>
          <p:nvPr/>
        </p:nvSpPr>
        <p:spPr>
          <a:xfrm>
            <a:off x="822960" y="4956048"/>
            <a:ext cx="2804190" cy="320040"/>
          </a:xfrm>
          <a:prstGeom prst="rect">
            <a:avLst/>
          </a:prstGeom>
          <a:noFill/>
          <a:ln/>
        </p:spPr>
        <p:txBody>
          <a:bodyPr wrap="square" lIns="0" tIns="0" rIns="0" bIns="0" rtlCol="0" anchor="ctr"/>
          <a:lstStyle/>
          <a:p>
            <a:pPr marL="0" indent="0">
              <a:buNone/>
            </a:pPr>
            <a:r>
              <a:rPr lang="en-US" sz="1400" b="1" i="1" dirty="0">
                <a:solidFill>
                  <a:srgbClr val="E8871E"/>
                </a:solidFill>
                <a:latin typeface="Calibri" pitchFamily="34" charset="0"/>
                <a:ea typeface="Calibri" pitchFamily="34" charset="-122"/>
                <a:cs typeface="Calibri" pitchFamily="34" charset="-120"/>
              </a:rPr>
              <a:t>가능성을 증명한다</a:t>
            </a:r>
            <a:endParaRPr lang="en-US" sz="1400" dirty="0"/>
          </a:p>
        </p:txBody>
      </p:sp>
      <p:sp>
        <p:nvSpPr>
          <p:cNvPr id="11" name="Shape 9"/>
          <p:cNvSpPr/>
          <p:nvPr/>
        </p:nvSpPr>
        <p:spPr>
          <a:xfrm>
            <a:off x="4404390" y="1691640"/>
            <a:ext cx="3352830" cy="3794760"/>
          </a:xfrm>
          <a:prstGeom prst="roundRect">
            <a:avLst>
              <a:gd name="adj" fmla="val 1636"/>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2" name="Text 10"/>
          <p:cNvSpPr/>
          <p:nvPr/>
        </p:nvSpPr>
        <p:spPr>
          <a:xfrm>
            <a:off x="4678710" y="1874520"/>
            <a:ext cx="2804190" cy="256032"/>
          </a:xfrm>
          <a:prstGeom prst="rect">
            <a:avLst/>
          </a:prstGeom>
          <a:noFill/>
          <a:ln/>
        </p:spPr>
        <p:txBody>
          <a:bodyPr wrap="square" lIns="0" tIns="0" rIns="0" bIns="0" rtlCol="0" anchor="ctr"/>
          <a:lstStyle/>
          <a:p>
            <a:pPr marL="0" indent="0">
              <a:buNone/>
            </a:pPr>
            <a:r>
              <a:rPr lang="en-US" sz="1100" b="1" kern="0" spc="100" dirty="0">
                <a:solidFill>
                  <a:srgbClr val="8FC7CE"/>
                </a:solidFill>
                <a:latin typeface="Calibri" pitchFamily="34" charset="0"/>
                <a:ea typeface="Calibri" pitchFamily="34" charset="-122"/>
                <a:cs typeface="Calibri" pitchFamily="34" charset="-120"/>
              </a:rPr>
              <a:t>Angel Robotics</a:t>
            </a:r>
            <a:endParaRPr lang="en-US" sz="1100" dirty="0"/>
          </a:p>
        </p:txBody>
      </p:sp>
      <p:sp>
        <p:nvSpPr>
          <p:cNvPr id="13" name="Text 11"/>
          <p:cNvSpPr/>
          <p:nvPr/>
        </p:nvSpPr>
        <p:spPr>
          <a:xfrm>
            <a:off x="4678710" y="2148840"/>
            <a:ext cx="280419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현장의 보급</a:t>
            </a:r>
            <a:endParaRPr lang="en-US" sz="2200" dirty="0"/>
          </a:p>
        </p:txBody>
      </p:sp>
      <p:sp>
        <p:nvSpPr>
          <p:cNvPr id="14" name="Text 12"/>
          <p:cNvSpPr/>
          <p:nvPr/>
        </p:nvSpPr>
        <p:spPr>
          <a:xfrm>
            <a:off x="4678710" y="2697480"/>
            <a:ext cx="2804190" cy="256032"/>
          </a:xfrm>
          <a:prstGeom prst="rect">
            <a:avLst/>
          </a:prstGeom>
          <a:noFill/>
          <a:ln/>
        </p:spPr>
        <p:txBody>
          <a:bodyPr wrap="square" lIns="0" tIns="0" rIns="0" bIns="0" rtlCol="0" anchor="ctr"/>
          <a:lstStyle/>
          <a:p>
            <a:pPr marL="0" indent="0">
              <a:buNone/>
            </a:pPr>
            <a:r>
              <a:rPr lang="en-US" sz="1250" dirty="0">
                <a:solidFill>
                  <a:srgbClr val="8FC7CE"/>
                </a:solidFill>
                <a:latin typeface="Calibri" pitchFamily="34" charset="0"/>
                <a:ea typeface="Calibri" pitchFamily="34" charset="-122"/>
                <a:cs typeface="Calibri" pitchFamily="34" charset="-120"/>
              </a:rPr>
              <a:t>상용 제품군</a:t>
            </a:r>
            <a:endParaRPr lang="en-US" sz="1250" dirty="0"/>
          </a:p>
        </p:txBody>
      </p:sp>
      <p:sp>
        <p:nvSpPr>
          <p:cNvPr id="15" name="Text 13"/>
          <p:cNvSpPr/>
          <p:nvPr/>
        </p:nvSpPr>
        <p:spPr>
          <a:xfrm>
            <a:off x="4678710" y="2999232"/>
            <a:ext cx="280419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엔젤렉스 M20 / 엔젤슈트 H10·K10</a:t>
            </a:r>
            <a:endParaRPr lang="en-US" sz="1350" dirty="0"/>
          </a:p>
        </p:txBody>
      </p:sp>
      <p:sp>
        <p:nvSpPr>
          <p:cNvPr id="16" name="Text 14"/>
          <p:cNvSpPr/>
          <p:nvPr/>
        </p:nvSpPr>
        <p:spPr>
          <a:xfrm>
            <a:off x="4678710" y="3611880"/>
            <a:ext cx="2804190" cy="1188720"/>
          </a:xfrm>
          <a:prstGeom prst="rect">
            <a:avLst/>
          </a:prstGeom>
          <a:noFill/>
          <a:ln/>
        </p:spPr>
        <p:txBody>
          <a:bodyPr wrap="square" lIns="0" tIns="0" rIns="0" bIns="0" rtlCol="0" anchor="ctr"/>
          <a:lstStyle/>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재활 치료와 근력 보조.</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병원 현장에 실제로 놓인다.</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인증·교육·A/S까지.</a:t>
            </a:r>
            <a:endParaRPr lang="en-US" sz="1250" dirty="0"/>
          </a:p>
        </p:txBody>
      </p:sp>
      <p:sp>
        <p:nvSpPr>
          <p:cNvPr id="17" name="Text 15"/>
          <p:cNvSpPr/>
          <p:nvPr/>
        </p:nvSpPr>
        <p:spPr>
          <a:xfrm>
            <a:off x="4678710" y="4956048"/>
            <a:ext cx="2804190" cy="320040"/>
          </a:xfrm>
          <a:prstGeom prst="rect">
            <a:avLst/>
          </a:prstGeom>
          <a:noFill/>
          <a:ln/>
        </p:spPr>
        <p:txBody>
          <a:bodyPr wrap="square" lIns="0" tIns="0" rIns="0" bIns="0" rtlCol="0" anchor="ctr"/>
          <a:lstStyle/>
          <a:p>
            <a:pPr marL="0" indent="0">
              <a:buNone/>
            </a:pPr>
            <a:r>
              <a:rPr lang="en-US" sz="1400" b="1" i="1" dirty="0">
                <a:solidFill>
                  <a:srgbClr val="E8871E"/>
                </a:solidFill>
                <a:latin typeface="Calibri" pitchFamily="34" charset="0"/>
                <a:ea typeface="Calibri" pitchFamily="34" charset="-122"/>
                <a:cs typeface="Calibri" pitchFamily="34" charset="-120"/>
              </a:rPr>
              <a:t>현실에 안착시킨다</a:t>
            </a:r>
            <a:endParaRPr lang="en-US" sz="1400" dirty="0"/>
          </a:p>
        </p:txBody>
      </p:sp>
      <p:sp>
        <p:nvSpPr>
          <p:cNvPr id="18" name="Shape 16"/>
          <p:cNvSpPr/>
          <p:nvPr/>
        </p:nvSpPr>
        <p:spPr>
          <a:xfrm>
            <a:off x="8260141" y="1691640"/>
            <a:ext cx="3352830" cy="379476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9" name="Text 17"/>
          <p:cNvSpPr/>
          <p:nvPr/>
        </p:nvSpPr>
        <p:spPr>
          <a:xfrm>
            <a:off x="8534461" y="1874520"/>
            <a:ext cx="2804190" cy="256032"/>
          </a:xfrm>
          <a:prstGeom prst="rect">
            <a:avLst/>
          </a:prstGeom>
          <a:noFill/>
          <a:ln/>
        </p:spPr>
        <p:txBody>
          <a:bodyPr wrap="square" lIns="0" tIns="0" rIns="0" bIns="0" rtlCol="0" anchor="ctr"/>
          <a:lstStyle/>
          <a:p>
            <a:pPr marL="0" indent="0">
              <a:buNone/>
            </a:pPr>
            <a:r>
              <a:rPr lang="en-US" sz="1100" b="1" kern="0" spc="100" dirty="0">
                <a:solidFill>
                  <a:srgbClr val="0E7C86"/>
                </a:solidFill>
                <a:latin typeface="Calibri" pitchFamily="34" charset="0"/>
                <a:ea typeface="Calibri" pitchFamily="34" charset="-122"/>
                <a:cs typeface="Calibri" pitchFamily="34" charset="-120"/>
              </a:rPr>
              <a:t>서울대</a:t>
            </a:r>
            <a:endParaRPr lang="en-US" sz="1100" dirty="0"/>
          </a:p>
        </p:txBody>
      </p:sp>
      <p:sp>
        <p:nvSpPr>
          <p:cNvPr id="20" name="Text 18"/>
          <p:cNvSpPr/>
          <p:nvPr/>
        </p:nvSpPr>
        <p:spPr>
          <a:xfrm>
            <a:off x="8534461" y="2148840"/>
            <a:ext cx="2804190" cy="457200"/>
          </a:xfrm>
          <a:prstGeom prst="rect">
            <a:avLst/>
          </a:prstGeom>
          <a:noFill/>
          <a:ln/>
        </p:spPr>
        <p:txBody>
          <a:bodyPr wrap="square" lIns="0" tIns="0" rIns="0" bIns="0" rtlCol="0" anchor="ctr"/>
          <a:lstStyle/>
          <a:p>
            <a:pPr marL="0" indent="0">
              <a:buNone/>
            </a:pPr>
            <a:r>
              <a:rPr lang="en-US" sz="2200" b="1" dirty="0">
                <a:solidFill>
                  <a:srgbClr val="102A43"/>
                </a:solidFill>
                <a:latin typeface="Cambria" pitchFamily="34" charset="0"/>
                <a:ea typeface="Cambria" pitchFamily="34" charset="-122"/>
                <a:cs typeface="Cambria" pitchFamily="34" charset="-120"/>
              </a:rPr>
              <a:t>손과 소프트</a:t>
            </a:r>
            <a:endParaRPr lang="en-US" sz="2200" dirty="0"/>
          </a:p>
        </p:txBody>
      </p:sp>
      <p:sp>
        <p:nvSpPr>
          <p:cNvPr id="21" name="Text 19"/>
          <p:cNvSpPr/>
          <p:nvPr/>
        </p:nvSpPr>
        <p:spPr>
          <a:xfrm>
            <a:off x="8534461" y="2697480"/>
            <a:ext cx="2804190" cy="256032"/>
          </a:xfrm>
          <a:prstGeom prst="rect">
            <a:avLst/>
          </a:prstGeom>
          <a:noFill/>
          <a:ln/>
        </p:spPr>
        <p:txBody>
          <a:bodyPr wrap="square" lIns="0" tIns="0" rIns="0" bIns="0" rtlCol="0" anchor="ctr"/>
          <a:lstStyle/>
          <a:p>
            <a:pPr marL="0" indent="0">
              <a:buNone/>
            </a:pPr>
            <a:r>
              <a:rPr lang="en-US" sz="1250" dirty="0">
                <a:solidFill>
                  <a:srgbClr val="52606D"/>
                </a:solidFill>
                <a:latin typeface="Calibri" pitchFamily="34" charset="0"/>
                <a:ea typeface="Calibri" pitchFamily="34" charset="-122"/>
                <a:cs typeface="Calibri" pitchFamily="34" charset="-120"/>
              </a:rPr>
              <a:t>조규진 교수 연구실</a:t>
            </a:r>
            <a:endParaRPr lang="en-US" sz="1250" dirty="0"/>
          </a:p>
        </p:txBody>
      </p:sp>
      <p:sp>
        <p:nvSpPr>
          <p:cNvPr id="22" name="Text 20"/>
          <p:cNvSpPr/>
          <p:nvPr/>
        </p:nvSpPr>
        <p:spPr>
          <a:xfrm>
            <a:off x="8534461" y="2999232"/>
            <a:ext cx="2804190" cy="502920"/>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Exo-Glove · VideoNet</a:t>
            </a:r>
            <a:endParaRPr lang="en-US" sz="1350" dirty="0"/>
          </a:p>
        </p:txBody>
      </p:sp>
      <p:sp>
        <p:nvSpPr>
          <p:cNvPr id="23" name="Text 21"/>
          <p:cNvSpPr/>
          <p:nvPr/>
        </p:nvSpPr>
        <p:spPr>
          <a:xfrm>
            <a:off x="8534461" y="3611880"/>
            <a:ext cx="2804190" cy="118872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직물·와이어 기반 소프트 로봇.</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영상만으로 의도를 예측.</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Science Robotics.</a:t>
            </a:r>
            <a:endParaRPr lang="en-US" sz="1250" dirty="0"/>
          </a:p>
        </p:txBody>
      </p:sp>
      <p:sp>
        <p:nvSpPr>
          <p:cNvPr id="24" name="Text 22"/>
          <p:cNvSpPr/>
          <p:nvPr/>
        </p:nvSpPr>
        <p:spPr>
          <a:xfrm>
            <a:off x="8534461" y="4956048"/>
            <a:ext cx="2804190" cy="320040"/>
          </a:xfrm>
          <a:prstGeom prst="rect">
            <a:avLst/>
          </a:prstGeom>
          <a:noFill/>
          <a:ln/>
        </p:spPr>
        <p:txBody>
          <a:bodyPr wrap="square" lIns="0" tIns="0" rIns="0" bIns="0" rtlCol="0" anchor="ctr"/>
          <a:lstStyle/>
          <a:p>
            <a:pPr marL="0" indent="0">
              <a:buNone/>
            </a:pPr>
            <a:r>
              <a:rPr lang="en-US" sz="1400" b="1" i="1" dirty="0">
                <a:solidFill>
                  <a:srgbClr val="E8871E"/>
                </a:solidFill>
                <a:latin typeface="Calibri" pitchFamily="34" charset="0"/>
                <a:ea typeface="Calibri" pitchFamily="34" charset="-122"/>
                <a:cs typeface="Calibri" pitchFamily="34" charset="-120"/>
              </a:rPr>
              <a:t>다른 길을 낸다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2-2 · KAIST</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워크온슈트 — 성능의 한계를 밀어붙이는 쪽</a:t>
            </a:r>
            <a:endParaRPr lang="en-US" sz="3000" dirty="0"/>
          </a:p>
        </p:txBody>
      </p:sp>
      <p:sp>
        <p:nvSpPr>
          <p:cNvPr id="4" name="Shape 2"/>
          <p:cNvSpPr/>
          <p:nvPr/>
        </p:nvSpPr>
        <p:spPr>
          <a:xfrm>
            <a:off x="548640" y="1691640"/>
            <a:ext cx="6766560" cy="2148840"/>
          </a:xfrm>
          <a:prstGeom prst="roundRect">
            <a:avLst>
              <a:gd name="adj" fmla="val 255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68680" y="1920240"/>
            <a:ext cx="11887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대상</a:t>
            </a:r>
            <a:endParaRPr lang="en-US" sz="1200" dirty="0"/>
          </a:p>
        </p:txBody>
      </p:sp>
      <p:sp>
        <p:nvSpPr>
          <p:cNvPr id="6" name="Text 4"/>
          <p:cNvSpPr/>
          <p:nvPr/>
        </p:nvSpPr>
        <p:spPr>
          <a:xfrm>
            <a:off x="2148840" y="1901952"/>
            <a:ext cx="4846320" cy="310896"/>
          </a:xfrm>
          <a:prstGeom prst="rect">
            <a:avLst/>
          </a:prstGeom>
          <a:noFill/>
          <a:ln/>
        </p:spPr>
        <p:txBody>
          <a:bodyPr wrap="square" lIns="0" tIns="0" rIns="0" bIns="0" rtlCol="0" anchor="ctr"/>
          <a:lstStyle/>
          <a:p>
            <a:pPr marL="0" indent="0">
              <a:buNone/>
            </a:pPr>
            <a:r>
              <a:rPr lang="en-US" sz="1550" b="1" dirty="0">
                <a:solidFill>
                  <a:srgbClr val="102A43"/>
                </a:solidFill>
                <a:latin typeface="Calibri" pitchFamily="34" charset="0"/>
                <a:ea typeface="Calibri" pitchFamily="34" charset="-122"/>
                <a:cs typeface="Calibri" pitchFamily="34" charset="-120"/>
              </a:rPr>
              <a:t>하반신 완전마비 (ASIA-A)</a:t>
            </a:r>
            <a:endParaRPr lang="en-US" sz="1550" dirty="0"/>
          </a:p>
        </p:txBody>
      </p:sp>
      <p:sp>
        <p:nvSpPr>
          <p:cNvPr id="7" name="Text 5"/>
          <p:cNvSpPr/>
          <p:nvPr/>
        </p:nvSpPr>
        <p:spPr>
          <a:xfrm>
            <a:off x="868680" y="2395728"/>
            <a:ext cx="11887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목표</a:t>
            </a:r>
            <a:endParaRPr lang="en-US" sz="1200" dirty="0"/>
          </a:p>
        </p:txBody>
      </p:sp>
      <p:sp>
        <p:nvSpPr>
          <p:cNvPr id="8" name="Text 6"/>
          <p:cNvSpPr/>
          <p:nvPr/>
        </p:nvSpPr>
        <p:spPr>
          <a:xfrm>
            <a:off x="2148840" y="2377440"/>
            <a:ext cx="4846320" cy="310896"/>
          </a:xfrm>
          <a:prstGeom prst="rect">
            <a:avLst/>
          </a:prstGeom>
          <a:noFill/>
          <a:ln/>
        </p:spPr>
        <p:txBody>
          <a:bodyPr wrap="square" lIns="0" tIns="0" rIns="0" bIns="0" rtlCol="0" anchor="ctr"/>
          <a:lstStyle/>
          <a:p>
            <a:pPr marL="0" indent="0">
              <a:buNone/>
            </a:pPr>
            <a:r>
              <a:rPr lang="en-US" sz="1550" b="1" dirty="0">
                <a:solidFill>
                  <a:srgbClr val="102A43"/>
                </a:solidFill>
                <a:latin typeface="Calibri" pitchFamily="34" charset="0"/>
                <a:ea typeface="Calibri" pitchFamily="34" charset="-122"/>
                <a:cs typeface="Calibri" pitchFamily="34" charset="-120"/>
              </a:rPr>
              <a:t>스스로 착용하고, 스스로 걷는다</a:t>
            </a:r>
            <a:endParaRPr lang="en-US" sz="1550" dirty="0"/>
          </a:p>
        </p:txBody>
      </p:sp>
      <p:sp>
        <p:nvSpPr>
          <p:cNvPr id="9" name="Text 7"/>
          <p:cNvSpPr/>
          <p:nvPr/>
        </p:nvSpPr>
        <p:spPr>
          <a:xfrm>
            <a:off x="868680" y="2871216"/>
            <a:ext cx="11887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성과</a:t>
            </a:r>
            <a:endParaRPr lang="en-US" sz="1200" dirty="0"/>
          </a:p>
        </p:txBody>
      </p:sp>
      <p:sp>
        <p:nvSpPr>
          <p:cNvPr id="10" name="Text 8"/>
          <p:cNvSpPr/>
          <p:nvPr/>
        </p:nvSpPr>
        <p:spPr>
          <a:xfrm>
            <a:off x="2148840" y="2834640"/>
            <a:ext cx="4846320" cy="640080"/>
          </a:xfrm>
          <a:prstGeom prst="rect">
            <a:avLst/>
          </a:prstGeom>
          <a:noFill/>
          <a:ln/>
        </p:spPr>
        <p:txBody>
          <a:bodyPr wrap="square" lIns="0" tIns="0" rIns="0" bIns="0" rtlCol="0" anchor="ctr"/>
          <a:lstStyle/>
          <a:p>
            <a:pPr marL="0" indent="0">
              <a:lnSpc>
                <a:spcPct val="120000"/>
              </a:lnSpc>
              <a:buNone/>
            </a:pPr>
            <a:r>
              <a:rPr lang="en-US" sz="1400" dirty="0">
                <a:solidFill>
                  <a:srgbClr val="52606D"/>
                </a:solidFill>
                <a:latin typeface="Calibri" pitchFamily="34" charset="0"/>
                <a:ea typeface="Calibri" pitchFamily="34" charset="-122"/>
                <a:cs typeface="Calibri" pitchFamily="34" charset="-120"/>
              </a:rPr>
              <a:t>사이배슬론(국제 사이보그 올림픽) </a:t>
            </a:r>
            <a:r>
              <a:rPr lang="en-US" sz="1400" dirty="0" err="1">
                <a:solidFill>
                  <a:srgbClr val="52606D"/>
                </a:solidFill>
                <a:latin typeface="Calibri" pitchFamily="34" charset="0"/>
                <a:ea typeface="Calibri" pitchFamily="34" charset="-122"/>
                <a:cs typeface="Calibri" pitchFamily="34" charset="-120"/>
              </a:rPr>
              <a:t>외골격</a:t>
            </a:r>
            <a:r>
              <a:rPr lang="en-US" sz="1400" dirty="0">
                <a:solidFill>
                  <a:srgbClr val="52606D"/>
                </a:solidFill>
                <a:latin typeface="Calibri" pitchFamily="34" charset="0"/>
                <a:ea typeface="Calibri" pitchFamily="34" charset="-122"/>
                <a:cs typeface="Calibri" pitchFamily="34" charset="-120"/>
              </a:rPr>
              <a:t> </a:t>
            </a:r>
            <a:r>
              <a:rPr lang="en-US" sz="1400" dirty="0" err="1">
                <a:solidFill>
                  <a:srgbClr val="52606D"/>
                </a:solidFill>
                <a:latin typeface="Calibri" pitchFamily="34" charset="0"/>
                <a:ea typeface="Calibri" pitchFamily="34" charset="-122"/>
                <a:cs typeface="Calibri" pitchFamily="34" charset="-120"/>
              </a:rPr>
              <a:t>종목</a:t>
            </a:r>
            <a:endParaRPr lang="en-US" sz="1400" dirty="0"/>
          </a:p>
        </p:txBody>
      </p:sp>
      <p:sp>
        <p:nvSpPr>
          <p:cNvPr id="11" name="Shape 9"/>
          <p:cNvSpPr/>
          <p:nvPr/>
        </p:nvSpPr>
        <p:spPr>
          <a:xfrm>
            <a:off x="7726680" y="1691640"/>
            <a:ext cx="3886200" cy="2148840"/>
          </a:xfrm>
          <a:prstGeom prst="roundRect">
            <a:avLst>
              <a:gd name="adj" fmla="val 2553"/>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12" name="Text 10"/>
          <p:cNvSpPr/>
          <p:nvPr/>
        </p:nvSpPr>
        <p:spPr>
          <a:xfrm>
            <a:off x="8001000" y="1920240"/>
            <a:ext cx="3337560" cy="274320"/>
          </a:xfrm>
          <a:prstGeom prst="rect">
            <a:avLst/>
          </a:prstGeom>
          <a:noFill/>
          <a:ln/>
        </p:spPr>
        <p:txBody>
          <a:bodyPr wrap="square" lIns="0" tIns="0" rIns="0" bIns="0" rtlCol="0" anchor="ctr"/>
          <a:lstStyle/>
          <a:p>
            <a:pPr marL="0" indent="0">
              <a:buNone/>
            </a:pPr>
            <a:r>
              <a:rPr lang="en-US" sz="1200" b="1" dirty="0">
                <a:solidFill>
                  <a:srgbClr val="FFF3E0"/>
                </a:solidFill>
                <a:latin typeface="Calibri" pitchFamily="34" charset="0"/>
                <a:ea typeface="Calibri" pitchFamily="34" charset="-122"/>
                <a:cs typeface="Calibri" pitchFamily="34" charset="-120"/>
              </a:rPr>
              <a:t>핵심은 이겁니다</a:t>
            </a:r>
            <a:endParaRPr lang="en-US" sz="1200" dirty="0"/>
          </a:p>
        </p:txBody>
      </p:sp>
      <p:sp>
        <p:nvSpPr>
          <p:cNvPr id="13" name="Text 11"/>
          <p:cNvSpPr/>
          <p:nvPr/>
        </p:nvSpPr>
        <p:spPr>
          <a:xfrm>
            <a:off x="8001000" y="2267712"/>
            <a:ext cx="3337560" cy="1371600"/>
          </a:xfrm>
          <a:prstGeom prst="rect">
            <a:avLst/>
          </a:prstGeom>
          <a:noFill/>
          <a:ln/>
        </p:spPr>
        <p:txBody>
          <a:bodyPr wrap="square" lIns="0" tIns="0" rIns="0" bIns="0" rtlCol="0" anchor="ctr"/>
          <a:lstStyle/>
          <a:p>
            <a:pPr marL="0" indent="0">
              <a:lnSpc>
                <a:spcPct val="130000"/>
              </a:lnSpc>
              <a:buNone/>
            </a:pPr>
            <a:r>
              <a:rPr lang="en-US" sz="1500" b="1" dirty="0">
                <a:solidFill>
                  <a:srgbClr val="FFFFFF"/>
                </a:solidFill>
                <a:latin typeface="Calibri" pitchFamily="34" charset="0"/>
                <a:ea typeface="Calibri" pitchFamily="34" charset="-122"/>
                <a:cs typeface="Calibri" pitchFamily="34" charset="-120"/>
              </a:rPr>
              <a:t>'가능성의 상한선'을 </a:t>
            </a:r>
            <a:r>
              <a:rPr lang="en-US" sz="1500" b="1" dirty="0" err="1">
                <a:solidFill>
                  <a:srgbClr val="FFFFFF"/>
                </a:solidFill>
                <a:latin typeface="Calibri" pitchFamily="34" charset="0"/>
                <a:ea typeface="Calibri" pitchFamily="34" charset="-122"/>
                <a:cs typeface="Calibri" pitchFamily="34" charset="-120"/>
              </a:rPr>
              <a:t>증명하는</a:t>
            </a:r>
            <a:r>
              <a:rPr lang="en-US" sz="1500" b="1" dirty="0">
                <a:solidFill>
                  <a:srgbClr val="FFFFFF"/>
                </a:solidFill>
                <a:latin typeface="Calibri" pitchFamily="34" charset="0"/>
                <a:ea typeface="Calibri" pitchFamily="34" charset="-122"/>
                <a:cs typeface="Calibri" pitchFamily="34" charset="-120"/>
              </a:rPr>
              <a:t> </a:t>
            </a:r>
            <a:r>
              <a:rPr lang="en-US" sz="1500" b="1" dirty="0" err="1">
                <a:solidFill>
                  <a:srgbClr val="FFFFFF"/>
                </a:solidFill>
                <a:latin typeface="Calibri" pitchFamily="34" charset="0"/>
                <a:ea typeface="Calibri" pitchFamily="34" charset="-122"/>
                <a:cs typeface="Calibri" pitchFamily="34" charset="-120"/>
              </a:rPr>
              <a:t>연구</a:t>
            </a:r>
            <a:r>
              <a:rPr lang="ko-KR" altLang="en-US" sz="1500" b="1" dirty="0">
                <a:solidFill>
                  <a:srgbClr val="FFFFFF"/>
                </a:solidFill>
                <a:latin typeface="Calibri" pitchFamily="34" charset="0"/>
                <a:ea typeface="Calibri" pitchFamily="34" charset="-122"/>
                <a:cs typeface="Calibri" pitchFamily="34" charset="-120"/>
              </a:rPr>
              <a:t>이면서 제품의 상용을 현실화 앞 당김</a:t>
            </a:r>
            <a:endParaRPr lang="en-US" sz="1500" dirty="0"/>
          </a:p>
        </p:txBody>
      </p:sp>
      <p:sp>
        <p:nvSpPr>
          <p:cNvPr id="14" name="Shape 12"/>
          <p:cNvSpPr/>
          <p:nvPr/>
        </p:nvSpPr>
        <p:spPr>
          <a:xfrm>
            <a:off x="548640" y="4069080"/>
            <a:ext cx="11064240" cy="1600200"/>
          </a:xfrm>
          <a:prstGeom prst="roundRect">
            <a:avLst>
              <a:gd name="adj" fmla="val 342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960120" y="4315968"/>
            <a:ext cx="1024128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완전마비 환자를 계단 오르게 만드는 기술이 먼저 있어야, 그 아래 난이도의 제품이 나올 수 있습니다.</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2-3 · Angel Robotics ①</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엔젤렉스 M20 — 병원 현장의 재활</a:t>
            </a:r>
            <a:endParaRPr lang="en-US" sz="3000" dirty="0"/>
          </a:p>
        </p:txBody>
      </p:sp>
      <p:sp>
        <p:nvSpPr>
          <p:cNvPr id="4" name="Shape 2"/>
          <p:cNvSpPr/>
          <p:nvPr/>
        </p:nvSpPr>
        <p:spPr>
          <a:xfrm>
            <a:off x="548640" y="1737360"/>
            <a:ext cx="2491740" cy="1965960"/>
          </a:xfrm>
          <a:prstGeom prst="roundRect">
            <a:avLst>
              <a:gd name="adj" fmla="val 2791"/>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777240" y="1938528"/>
            <a:ext cx="2034540" cy="45720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힘 제어</a:t>
            </a:r>
            <a:endParaRPr lang="en-US" sz="1600" dirty="0"/>
          </a:p>
        </p:txBody>
      </p:sp>
      <p:sp>
        <p:nvSpPr>
          <p:cNvPr id="6" name="Text 4"/>
          <p:cNvSpPr/>
          <p:nvPr/>
        </p:nvSpPr>
        <p:spPr>
          <a:xfrm>
            <a:off x="777240" y="2487168"/>
            <a:ext cx="2034540"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환자에게 필요할 때</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적절한 보조력을 전달</a:t>
            </a:r>
            <a:endParaRPr lang="en-US" sz="1250" dirty="0"/>
          </a:p>
        </p:txBody>
      </p:sp>
      <p:sp>
        <p:nvSpPr>
          <p:cNvPr id="7" name="Shape 5"/>
          <p:cNvSpPr/>
          <p:nvPr/>
        </p:nvSpPr>
        <p:spPr>
          <a:xfrm>
            <a:off x="3406140" y="1737360"/>
            <a:ext cx="2491740" cy="1965960"/>
          </a:xfrm>
          <a:prstGeom prst="roundRect">
            <a:avLst>
              <a:gd name="adj" fmla="val 2791"/>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3634740" y="1938528"/>
            <a:ext cx="2034540" cy="45720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보행 의도 인식</a:t>
            </a:r>
            <a:endParaRPr lang="en-US" sz="1600" dirty="0"/>
          </a:p>
        </p:txBody>
      </p:sp>
      <p:sp>
        <p:nvSpPr>
          <p:cNvPr id="9" name="Text 7"/>
          <p:cNvSpPr/>
          <p:nvPr/>
        </p:nvSpPr>
        <p:spPr>
          <a:xfrm>
            <a:off x="3634740" y="2487168"/>
            <a:ext cx="2034540"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환자가 보행을 시도하는 것을</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확인한 후 보조력 발생</a:t>
            </a:r>
            <a:endParaRPr lang="en-US" sz="1250" dirty="0"/>
          </a:p>
        </p:txBody>
      </p:sp>
      <p:sp>
        <p:nvSpPr>
          <p:cNvPr id="10" name="Shape 8"/>
          <p:cNvSpPr/>
          <p:nvPr/>
        </p:nvSpPr>
        <p:spPr>
          <a:xfrm>
            <a:off x="6263640" y="1737360"/>
            <a:ext cx="2491740" cy="1965960"/>
          </a:xfrm>
          <a:prstGeom prst="roundRect">
            <a:avLst>
              <a:gd name="adj" fmla="val 2791"/>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6492240" y="1938528"/>
            <a:ext cx="2034540" cy="45720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7가지 훈련 모드</a:t>
            </a:r>
            <a:endParaRPr lang="en-US" sz="1600" dirty="0"/>
          </a:p>
        </p:txBody>
      </p:sp>
      <p:sp>
        <p:nvSpPr>
          <p:cNvPr id="12" name="Text 10"/>
          <p:cNvSpPr/>
          <p:nvPr/>
        </p:nvSpPr>
        <p:spPr>
          <a:xfrm>
            <a:off x="6492240" y="2487168"/>
            <a:ext cx="2034540"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일어서기 · 앉기 · 서있기</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걷기 · 계단 · 스쿼트</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평지보행</a:t>
            </a:r>
            <a:endParaRPr lang="en-US" sz="1250" dirty="0"/>
          </a:p>
        </p:txBody>
      </p:sp>
      <p:sp>
        <p:nvSpPr>
          <p:cNvPr id="13" name="Shape 11"/>
          <p:cNvSpPr/>
          <p:nvPr/>
        </p:nvSpPr>
        <p:spPr>
          <a:xfrm>
            <a:off x="9121140" y="1737360"/>
            <a:ext cx="2491740" cy="1965960"/>
          </a:xfrm>
          <a:prstGeom prst="roundRect">
            <a:avLst>
              <a:gd name="adj" fmla="val 2791"/>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9349740" y="1938528"/>
            <a:ext cx="2034540" cy="457200"/>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리포트 기능</a:t>
            </a:r>
            <a:endParaRPr lang="en-US" sz="1600" dirty="0"/>
          </a:p>
        </p:txBody>
      </p:sp>
      <p:sp>
        <p:nvSpPr>
          <p:cNvPr id="15" name="Text 13"/>
          <p:cNvSpPr/>
          <p:nvPr/>
        </p:nvSpPr>
        <p:spPr>
          <a:xfrm>
            <a:off x="9349740" y="2487168"/>
            <a:ext cx="2034540" cy="100584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환자 훈련 데이터를</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기록하고 분석</a:t>
            </a:r>
            <a:endParaRPr lang="en-US" sz="1250" dirty="0"/>
          </a:p>
        </p:txBody>
      </p:sp>
      <p:sp>
        <p:nvSpPr>
          <p:cNvPr id="21" name="Text 19"/>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ANGEL LEGS M20 제품 페이지 (엔젤로보틱스)">
                  <a:extLst>
                    <a:ext uri="{A12FA001-AC4F-418D-AE19-62706E023703}">
                      <ahyp:hlinkClr xmlns:ahyp="http://schemas.microsoft.com/office/drawing/2018/hyperlinkcolor" val="tx"/>
                    </a:ext>
                  </a:extLst>
                </a:hlinkClick>
              </a:rPr>
              <a:t>ANGEL LEGS M20 제품 페이지 (엔젤로보틱스)</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2-4 · Angel Robotics ②</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엔젤슈트 H10 · K10 — 일상으로 내려오다</a:t>
            </a:r>
            <a:endParaRPr lang="en-US" sz="3000" dirty="0"/>
          </a:p>
        </p:txBody>
      </p:sp>
      <p:sp>
        <p:nvSpPr>
          <p:cNvPr id="4" name="Shape 2"/>
          <p:cNvSpPr/>
          <p:nvPr/>
        </p:nvSpPr>
        <p:spPr>
          <a:xfrm>
            <a:off x="548640" y="1737360"/>
            <a:ext cx="5349240" cy="2286000"/>
          </a:xfrm>
          <a:prstGeom prst="roundRect">
            <a:avLst>
              <a:gd name="adj" fmla="val 24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68680" y="1965960"/>
            <a:ext cx="4709160" cy="45720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엔젤슈트 H10</a:t>
            </a:r>
            <a:endParaRPr lang="en-US" sz="2400" dirty="0"/>
          </a:p>
        </p:txBody>
      </p:sp>
      <p:sp>
        <p:nvSpPr>
          <p:cNvPr id="6" name="Text 4"/>
          <p:cNvSpPr/>
          <p:nvPr/>
        </p:nvSpPr>
        <p:spPr>
          <a:xfrm>
            <a:off x="868680" y="2487168"/>
            <a:ext cx="470916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고관절(엉덩 관절) 보조</a:t>
            </a:r>
            <a:endParaRPr lang="en-US" sz="1500" dirty="0"/>
          </a:p>
        </p:txBody>
      </p:sp>
      <p:sp>
        <p:nvSpPr>
          <p:cNvPr id="7" name="Text 5"/>
          <p:cNvSpPr/>
          <p:nvPr/>
        </p:nvSpPr>
        <p:spPr>
          <a:xfrm>
            <a:off x="868680" y="2880360"/>
            <a:ext cx="4709160" cy="822960"/>
          </a:xfrm>
          <a:prstGeom prst="rect">
            <a:avLst/>
          </a:prstGeom>
          <a:noFill/>
          <a:ln/>
        </p:spPr>
        <p:txBody>
          <a:bodyPr wrap="square" lIns="0" tIns="0" rIns="0" bIns="0" rtlCol="0" anchor="ctr"/>
          <a:lstStyle/>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7개의 고성능 센서 + 온디바이스 AI로</a:t>
            </a:r>
            <a:endParaRPr lang="en-US" sz="1350" dirty="0"/>
          </a:p>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사용자 움직임을 실시간 분석</a:t>
            </a:r>
            <a:endParaRPr lang="en-US" sz="1350" dirty="0"/>
          </a:p>
        </p:txBody>
      </p:sp>
      <p:sp>
        <p:nvSpPr>
          <p:cNvPr id="8" name="Shape 6"/>
          <p:cNvSpPr/>
          <p:nvPr/>
        </p:nvSpPr>
        <p:spPr>
          <a:xfrm>
            <a:off x="6263640" y="1737360"/>
            <a:ext cx="5349240" cy="2286000"/>
          </a:xfrm>
          <a:prstGeom prst="roundRect">
            <a:avLst>
              <a:gd name="adj" fmla="val 24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583680" y="1965960"/>
            <a:ext cx="4709160" cy="45720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엔젤슈트 K10</a:t>
            </a:r>
            <a:endParaRPr lang="en-US" sz="2400" dirty="0"/>
          </a:p>
        </p:txBody>
      </p:sp>
      <p:sp>
        <p:nvSpPr>
          <p:cNvPr id="10" name="Text 8"/>
          <p:cNvSpPr/>
          <p:nvPr/>
        </p:nvSpPr>
        <p:spPr>
          <a:xfrm>
            <a:off x="6583680" y="2487168"/>
            <a:ext cx="470916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무릎 관절 보조</a:t>
            </a:r>
            <a:endParaRPr lang="en-US" sz="1500" dirty="0"/>
          </a:p>
        </p:txBody>
      </p:sp>
      <p:sp>
        <p:nvSpPr>
          <p:cNvPr id="11" name="Text 9"/>
          <p:cNvSpPr/>
          <p:nvPr/>
        </p:nvSpPr>
        <p:spPr>
          <a:xfrm>
            <a:off x="6583680" y="2880360"/>
            <a:ext cx="4709160" cy="822960"/>
          </a:xfrm>
          <a:prstGeom prst="rect">
            <a:avLst/>
          </a:prstGeom>
          <a:noFill/>
          <a:ln/>
        </p:spPr>
        <p:txBody>
          <a:bodyPr wrap="square" lIns="0" tIns="0" rIns="0" bIns="0" rtlCol="0" anchor="ctr"/>
          <a:lstStyle/>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M20보다 작고 간편하게</a:t>
            </a:r>
            <a:endParaRPr lang="en-US" sz="1350" dirty="0"/>
          </a:p>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일상 수준의 힘을 제공</a:t>
            </a:r>
            <a:endParaRPr lang="en-US" sz="1350" dirty="0"/>
          </a:p>
        </p:txBody>
      </p:sp>
      <p:sp>
        <p:nvSpPr>
          <p:cNvPr id="12" name="Shape 10"/>
          <p:cNvSpPr/>
          <p:nvPr/>
        </p:nvSpPr>
        <p:spPr>
          <a:xfrm>
            <a:off x="548640" y="4251960"/>
            <a:ext cx="11064240" cy="1463040"/>
          </a:xfrm>
          <a:prstGeom prst="roundRect">
            <a:avLst>
              <a:gd name="adj" fmla="val 375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914400" y="4434840"/>
            <a:ext cx="10332720" cy="274320"/>
          </a:xfrm>
          <a:prstGeom prst="rect">
            <a:avLst/>
          </a:prstGeom>
          <a:noFill/>
          <a:ln/>
        </p:spPr>
        <p:txBody>
          <a:bodyPr wrap="square" lIns="0" tIns="0" rIns="0" bIns="0" rtlCol="0" anchor="ctr"/>
          <a:lstStyle/>
          <a:p>
            <a:pPr marL="0" indent="0">
              <a:buNone/>
            </a:pPr>
            <a:r>
              <a:rPr lang="en-US" sz="1200" b="1" kern="0" spc="100" dirty="0">
                <a:solidFill>
                  <a:srgbClr val="0E7C86"/>
                </a:solidFill>
                <a:latin typeface="Calibri" pitchFamily="34" charset="0"/>
                <a:ea typeface="Calibri" pitchFamily="34" charset="-122"/>
                <a:cs typeface="Calibri" pitchFamily="34" charset="-120"/>
              </a:rPr>
              <a:t>여기서 짚을 것</a:t>
            </a:r>
            <a:endParaRPr lang="en-US" sz="1200" dirty="0"/>
          </a:p>
        </p:txBody>
      </p:sp>
      <p:sp>
        <p:nvSpPr>
          <p:cNvPr id="14" name="Text 12"/>
          <p:cNvSpPr/>
          <p:nvPr/>
        </p:nvSpPr>
        <p:spPr>
          <a:xfrm>
            <a:off x="914400" y="4736592"/>
            <a:ext cx="10332720" cy="777240"/>
          </a:xfrm>
          <a:prstGeom prst="rect">
            <a:avLst/>
          </a:prstGeom>
          <a:noFill/>
          <a:ln/>
        </p:spPr>
        <p:txBody>
          <a:bodyPr wrap="square" lIns="0" tIns="0" rIns="0" bIns="0" rtlCol="0" anchor="ctr"/>
          <a:lstStyle/>
          <a:p>
            <a:pPr>
              <a:lnSpc>
                <a:spcPct val="130000"/>
              </a:lnSpc>
            </a:pPr>
            <a:r>
              <a:rPr lang="en-US" altLang="ko-KR" sz="1550" b="1" dirty="0" err="1">
                <a:solidFill>
                  <a:srgbClr val="102A43"/>
                </a:solidFill>
                <a:latin typeface="Calibri" pitchFamily="34" charset="0"/>
                <a:ea typeface="Calibri" pitchFamily="34" charset="-122"/>
                <a:cs typeface="Calibri" pitchFamily="34" charset="-120"/>
              </a:rPr>
              <a:t>전국</a:t>
            </a:r>
            <a:r>
              <a:rPr lang="en-US" altLang="ko-KR" sz="1550" b="1" dirty="0">
                <a:solidFill>
                  <a:srgbClr val="102A43"/>
                </a:solidFill>
                <a:latin typeface="Calibri" pitchFamily="34" charset="0"/>
                <a:ea typeface="Calibri" pitchFamily="34" charset="-122"/>
                <a:cs typeface="Calibri" pitchFamily="34" charset="-120"/>
              </a:rPr>
              <a:t> </a:t>
            </a:r>
            <a:r>
              <a:rPr lang="en-US" altLang="ko-KR" sz="1550" b="1" dirty="0" err="1">
                <a:solidFill>
                  <a:srgbClr val="102A43"/>
                </a:solidFill>
                <a:latin typeface="Calibri" pitchFamily="34" charset="0"/>
                <a:ea typeface="Calibri" pitchFamily="34" charset="-122"/>
                <a:cs typeface="Calibri" pitchFamily="34" charset="-120"/>
              </a:rPr>
              <a:t>병원</a:t>
            </a:r>
            <a:r>
              <a:rPr lang="en-US" altLang="ko-KR" sz="1550" b="1" dirty="0">
                <a:solidFill>
                  <a:srgbClr val="102A43"/>
                </a:solidFill>
                <a:latin typeface="Calibri" pitchFamily="34" charset="0"/>
                <a:ea typeface="Calibri" pitchFamily="34" charset="-122"/>
                <a:cs typeface="Calibri" pitchFamily="34" charset="-120"/>
              </a:rPr>
              <a:t> </a:t>
            </a:r>
            <a:r>
              <a:rPr lang="en-US" altLang="ko-KR" sz="1550" b="1" dirty="0" err="1">
                <a:solidFill>
                  <a:srgbClr val="102A43"/>
                </a:solidFill>
                <a:latin typeface="Calibri" pitchFamily="34" charset="0"/>
                <a:ea typeface="Calibri" pitchFamily="34" charset="-122"/>
                <a:cs typeface="Calibri" pitchFamily="34" charset="-120"/>
              </a:rPr>
              <a:t>보급</a:t>
            </a:r>
            <a:r>
              <a:rPr lang="ko-KR" altLang="en-US" sz="1550" b="1" dirty="0">
                <a:solidFill>
                  <a:srgbClr val="102A43"/>
                </a:solidFill>
                <a:latin typeface="Calibri" pitchFamily="34" charset="0"/>
                <a:ea typeface="Calibri" pitchFamily="34" charset="-122"/>
                <a:cs typeface="Calibri" pitchFamily="34" charset="-120"/>
              </a:rPr>
              <a:t>은</a:t>
            </a:r>
            <a:r>
              <a:rPr lang="en-US" sz="1550" b="1" dirty="0">
                <a:solidFill>
                  <a:srgbClr val="102A43"/>
                </a:solidFill>
                <a:latin typeface="Calibri" pitchFamily="34" charset="0"/>
                <a:ea typeface="Calibri" pitchFamily="34" charset="-122"/>
                <a:cs typeface="Calibri" pitchFamily="34" charset="-120"/>
              </a:rPr>
              <a:t> 인증 · 수가 · 사용 편의성 · A/S · 교육까지 전부 통과해야 하는 문제입니다.</a:t>
            </a:r>
            <a:endParaRPr lang="en-US" sz="1550" dirty="0"/>
          </a:p>
        </p:txBody>
      </p:sp>
      <p:sp>
        <p:nvSpPr>
          <p:cNvPr id="15" name="Text 13"/>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엔젤슈트 H10 정식 출시 (BioTimes)">
                  <a:extLst>
                    <a:ext uri="{A12FA001-AC4F-418D-AE19-62706E023703}">
                      <ahyp:hlinkClr xmlns:ahyp="http://schemas.microsoft.com/office/drawing/2018/hyperlinkcolor" val="tx"/>
                    </a:ext>
                  </a:extLst>
                </a:hlinkClick>
              </a:rPr>
              <a:t>엔젤슈트 H10 정식 출시 (BioTimes)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2-5 · 서울대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Exo-Glove와 VideoNet — 센서 없이 의도를 읽는 길</a:t>
            </a:r>
            <a:endParaRPr lang="en-US" sz="3000" dirty="0"/>
          </a:p>
        </p:txBody>
      </p:sp>
      <p:sp>
        <p:nvSpPr>
          <p:cNvPr id="4" name="Shape 2"/>
          <p:cNvSpPr/>
          <p:nvPr/>
        </p:nvSpPr>
        <p:spPr>
          <a:xfrm>
            <a:off x="548640" y="1691640"/>
            <a:ext cx="5257800" cy="2286000"/>
          </a:xfrm>
          <a:prstGeom prst="roundRect">
            <a:avLst>
              <a:gd name="adj" fmla="val 24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41248" y="1874520"/>
            <a:ext cx="4663440" cy="274320"/>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조규진 교수 연구실 · 기계공학부</a:t>
            </a:r>
            <a:endParaRPr lang="en-US" sz="1150" dirty="0"/>
          </a:p>
        </p:txBody>
      </p:sp>
      <p:sp>
        <p:nvSpPr>
          <p:cNvPr id="6" name="Text 4"/>
          <p:cNvSpPr/>
          <p:nvPr/>
        </p:nvSpPr>
        <p:spPr>
          <a:xfrm>
            <a:off x="841248" y="2157984"/>
            <a:ext cx="4663440" cy="45720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Exo-Glove</a:t>
            </a:r>
            <a:endParaRPr lang="en-US" sz="2400" dirty="0"/>
          </a:p>
        </p:txBody>
      </p:sp>
      <p:sp>
        <p:nvSpPr>
          <p:cNvPr id="7" name="Text 5"/>
          <p:cNvSpPr/>
          <p:nvPr/>
        </p:nvSpPr>
        <p:spPr>
          <a:xfrm>
            <a:off x="841248" y="2670048"/>
            <a:ext cx="4663440" cy="868680"/>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척수손상으로 손을 못 쓰는 사람이</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물건을 잡을 수 있게 하는 소프트 로봇 장갑.</a:t>
            </a:r>
            <a:endParaRPr lang="en-US" sz="1250" dirty="0"/>
          </a:p>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강성 프레임이 아니라 직물·와이어 기반.</a:t>
            </a:r>
            <a:endParaRPr lang="en-US" sz="1250" dirty="0"/>
          </a:p>
        </p:txBody>
      </p:sp>
      <p:sp>
        <p:nvSpPr>
          <p:cNvPr id="8" name="Shape 6"/>
          <p:cNvSpPr/>
          <p:nvPr/>
        </p:nvSpPr>
        <p:spPr>
          <a:xfrm>
            <a:off x="6355080" y="1691640"/>
            <a:ext cx="5257800" cy="2286000"/>
          </a:xfrm>
          <a:prstGeom prst="roundRect">
            <a:avLst>
              <a:gd name="adj" fmla="val 2400"/>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647688" y="1874520"/>
            <a:ext cx="4663440" cy="274320"/>
          </a:xfrm>
          <a:prstGeom prst="rect">
            <a:avLst/>
          </a:prstGeom>
          <a:noFill/>
          <a:ln/>
        </p:spPr>
        <p:txBody>
          <a:bodyPr wrap="square" lIns="0" tIns="0" rIns="0" bIns="0" rtlCol="0" anchor="ctr"/>
          <a:lstStyle/>
          <a:p>
            <a:pPr marL="0" indent="0">
              <a:buNone/>
            </a:pPr>
            <a:r>
              <a:rPr lang="en-US" sz="1150" b="1" dirty="0">
                <a:solidFill>
                  <a:srgbClr val="8FC7CE"/>
                </a:solidFill>
                <a:latin typeface="Calibri" pitchFamily="34" charset="0"/>
                <a:ea typeface="Calibri" pitchFamily="34" charset="-122"/>
                <a:cs typeface="Calibri" pitchFamily="34" charset="-120"/>
              </a:rPr>
              <a:t>인간중심 소프트로봇기술 연구센터 · KAIST 공동</a:t>
            </a:r>
            <a:endParaRPr lang="en-US" sz="1150" dirty="0"/>
          </a:p>
        </p:txBody>
      </p:sp>
      <p:sp>
        <p:nvSpPr>
          <p:cNvPr id="10" name="Text 8"/>
          <p:cNvSpPr/>
          <p:nvPr/>
        </p:nvSpPr>
        <p:spPr>
          <a:xfrm>
            <a:off x="6647688" y="2157984"/>
            <a:ext cx="46634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VideoNet</a:t>
            </a:r>
            <a:endParaRPr lang="en-US" sz="2400" dirty="0"/>
          </a:p>
        </p:txBody>
      </p:sp>
      <p:sp>
        <p:nvSpPr>
          <p:cNvPr id="11" name="Text 9"/>
          <p:cNvSpPr/>
          <p:nvPr/>
        </p:nvSpPr>
        <p:spPr>
          <a:xfrm>
            <a:off x="6647688" y="2670048"/>
            <a:ext cx="4663440" cy="868680"/>
          </a:xfrm>
          <a:prstGeom prst="rect">
            <a:avLst/>
          </a:prstGeom>
          <a:noFill/>
          <a:ln/>
        </p:spPr>
        <p:txBody>
          <a:bodyPr wrap="square" lIns="0" tIns="0" rIns="0" bIns="0" rtlCol="0" anchor="ctr"/>
          <a:lstStyle/>
          <a:p>
            <a:pPr marL="0" indent="0">
              <a:lnSpc>
                <a:spcPct val="125000"/>
              </a:lnSpc>
              <a:buNone/>
            </a:pPr>
            <a:r>
              <a:rPr lang="en-US" sz="1250" dirty="0">
                <a:solidFill>
                  <a:srgbClr val="8FC7CE"/>
                </a:solidFill>
                <a:latin typeface="Calibri" pitchFamily="34" charset="0"/>
                <a:ea typeface="Calibri" pitchFamily="34" charset="-122"/>
                <a:cs typeface="Calibri" pitchFamily="34" charset="-120"/>
              </a:rPr>
              <a:t>안경에 달린 카메라 영상만으로 의도를 예측.</a:t>
            </a:r>
            <a:endParaRPr lang="en-US" sz="1250" dirty="0"/>
          </a:p>
          <a:p>
            <a:pPr marL="0" indent="0">
              <a:lnSpc>
                <a:spcPct val="125000"/>
              </a:lnSpc>
              <a:buNone/>
            </a:pPr>
            <a:r>
              <a:rPr lang="en-US" sz="1250" dirty="0">
                <a:solidFill>
                  <a:srgbClr val="8FC7CE"/>
                </a:solidFill>
                <a:latin typeface="Calibri" pitchFamily="34" charset="0"/>
                <a:ea typeface="Calibri" pitchFamily="34" charset="-122"/>
                <a:cs typeface="Calibri" pitchFamily="34" charset="-120"/>
              </a:rPr>
              <a:t>손-물체의 공간 정보 + 팔 움직임의 시간 정보.</a:t>
            </a:r>
            <a:endParaRPr lang="en-US" sz="1250" dirty="0"/>
          </a:p>
          <a:p>
            <a:pPr marL="0" indent="0">
              <a:lnSpc>
                <a:spcPct val="125000"/>
              </a:lnSpc>
              <a:buNone/>
            </a:pPr>
            <a:r>
              <a:rPr lang="en-US" sz="1250" dirty="0">
                <a:solidFill>
                  <a:srgbClr val="8FC7CE"/>
                </a:solidFill>
                <a:latin typeface="Calibri" pitchFamily="34" charset="0"/>
                <a:ea typeface="Calibri" pitchFamily="34" charset="-122"/>
                <a:cs typeface="Calibri" pitchFamily="34" charset="-120"/>
              </a:rPr>
              <a:t>버튼도, 생체신호 센서도 없이.</a:t>
            </a:r>
            <a:endParaRPr lang="en-US" sz="1250" dirty="0"/>
          </a:p>
        </p:txBody>
      </p:sp>
      <p:sp>
        <p:nvSpPr>
          <p:cNvPr id="12" name="Text 10"/>
          <p:cNvSpPr/>
          <p:nvPr/>
        </p:nvSpPr>
        <p:spPr>
          <a:xfrm>
            <a:off x="6647688" y="3611880"/>
            <a:ext cx="4663440" cy="274320"/>
          </a:xfrm>
          <a:prstGeom prst="rect">
            <a:avLst/>
          </a:prstGeom>
          <a:noFill/>
          <a:ln/>
        </p:spPr>
        <p:txBody>
          <a:bodyPr wrap="square" lIns="0" tIns="0" rIns="0" bIns="0" rtlCol="0" anchor="ctr"/>
          <a:lstStyle/>
          <a:p>
            <a:pPr marL="0" indent="0">
              <a:buNone/>
            </a:pPr>
            <a:r>
              <a:rPr lang="en-US" sz="1200" b="1" i="1" dirty="0">
                <a:solidFill>
                  <a:srgbClr val="E8871E"/>
                </a:solidFill>
                <a:latin typeface="Calibri" pitchFamily="34" charset="0"/>
                <a:ea typeface="Calibri" pitchFamily="34" charset="-122"/>
                <a:cs typeface="Calibri" pitchFamily="34" charset="-120"/>
              </a:rPr>
              <a:t>Science Robotics 게재</a:t>
            </a:r>
            <a:endParaRPr lang="en-US" sz="1200" dirty="0"/>
          </a:p>
        </p:txBody>
      </p:sp>
      <p:sp>
        <p:nvSpPr>
          <p:cNvPr id="13" name="Shape 11"/>
          <p:cNvSpPr/>
          <p:nvPr/>
        </p:nvSpPr>
        <p:spPr>
          <a:xfrm>
            <a:off x="548640" y="4206240"/>
            <a:ext cx="11064240" cy="1737360"/>
          </a:xfrm>
          <a:prstGeom prst="roundRect">
            <a:avLst>
              <a:gd name="adj" fmla="val 3158"/>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960120" y="4407408"/>
            <a:ext cx="10241280" cy="274320"/>
          </a:xfrm>
          <a:prstGeom prst="rect">
            <a:avLst/>
          </a:prstGeom>
          <a:noFill/>
          <a:ln/>
        </p:spPr>
        <p:txBody>
          <a:bodyPr wrap="square" lIns="0" tIns="0" rIns="0" bIns="0" rtlCol="0" anchor="ctr"/>
          <a:lstStyle/>
          <a:p>
            <a:pPr marL="0" indent="0">
              <a:buNone/>
            </a:pPr>
            <a:r>
              <a:rPr lang="en-US" sz="1200" b="1" kern="0" spc="100" dirty="0">
                <a:solidFill>
                  <a:srgbClr val="FFF3E0"/>
                </a:solidFill>
                <a:latin typeface="Calibri" pitchFamily="34" charset="0"/>
                <a:ea typeface="Calibri" pitchFamily="34" charset="-122"/>
                <a:cs typeface="Calibri" pitchFamily="34" charset="-120"/>
              </a:rPr>
              <a:t>이 사례가 왜 중요한가</a:t>
            </a:r>
            <a:endParaRPr lang="en-US" sz="1200" dirty="0"/>
          </a:p>
        </p:txBody>
      </p:sp>
      <p:sp>
        <p:nvSpPr>
          <p:cNvPr id="15" name="Text 13"/>
          <p:cNvSpPr/>
          <p:nvPr/>
        </p:nvSpPr>
        <p:spPr>
          <a:xfrm>
            <a:off x="960120" y="4718304"/>
            <a:ext cx="10241280" cy="1005840"/>
          </a:xfrm>
          <a:prstGeom prst="rect">
            <a:avLst/>
          </a:prstGeom>
          <a:noFill/>
          <a:ln/>
        </p:spPr>
        <p:txBody>
          <a:bodyPr wrap="square" lIns="0" tIns="0" rIns="0" bIns="0" rtlCol="0" anchor="ctr"/>
          <a:lstStyle/>
          <a:p>
            <a:pPr marL="0" indent="0">
              <a:lnSpc>
                <a:spcPct val="135000"/>
              </a:lnSpc>
              <a:buNone/>
            </a:pPr>
            <a:r>
              <a:rPr lang="en-US" sz="1550" b="1" dirty="0">
                <a:solidFill>
                  <a:srgbClr val="FFFFFF"/>
                </a:solidFill>
                <a:latin typeface="Calibri" pitchFamily="34" charset="0"/>
                <a:ea typeface="Calibri" pitchFamily="34" charset="-122"/>
                <a:cs typeface="Calibri" pitchFamily="34" charset="-120"/>
              </a:rPr>
              <a:t>'센서로 의도를 읽는다'에 '영상으로도 </a:t>
            </a:r>
            <a:r>
              <a:rPr lang="en-US" sz="1550" b="1" dirty="0" err="1">
                <a:solidFill>
                  <a:srgbClr val="FFFFFF"/>
                </a:solidFill>
                <a:latin typeface="Calibri" pitchFamily="34" charset="0"/>
                <a:ea typeface="Calibri" pitchFamily="34" charset="-122"/>
                <a:cs typeface="Calibri" pitchFamily="34" charset="-120"/>
              </a:rPr>
              <a:t>의도를</a:t>
            </a:r>
            <a:r>
              <a:rPr lang="en-US" sz="1550" b="1" dirty="0">
                <a:solidFill>
                  <a:srgbClr val="FFFFFF"/>
                </a:solidFill>
                <a:latin typeface="Calibri" pitchFamily="34" charset="0"/>
                <a:ea typeface="Calibri" pitchFamily="34" charset="-122"/>
                <a:cs typeface="Calibri" pitchFamily="34" charset="-120"/>
              </a:rPr>
              <a:t> </a:t>
            </a:r>
            <a:r>
              <a:rPr lang="en-US" sz="1550" b="1" dirty="0" err="1">
                <a:solidFill>
                  <a:srgbClr val="FFFFFF"/>
                </a:solidFill>
                <a:latin typeface="Calibri" pitchFamily="34" charset="0"/>
                <a:ea typeface="Calibri" pitchFamily="34" charset="-122"/>
                <a:cs typeface="Calibri" pitchFamily="34" charset="-120"/>
              </a:rPr>
              <a:t>읽는다</a:t>
            </a:r>
            <a:r>
              <a:rPr lang="en-US" sz="1550" b="1" dirty="0">
                <a:solidFill>
                  <a:srgbClr val="FFFFFF"/>
                </a:solidFill>
                <a:latin typeface="Calibri" pitchFamily="34" charset="0"/>
                <a:ea typeface="Calibri" pitchFamily="34" charset="-122"/>
                <a:cs typeface="Calibri" pitchFamily="34" charset="-120"/>
              </a:rPr>
              <a:t>＇</a:t>
            </a:r>
            <a:r>
              <a:rPr lang="ko-KR" altLang="en-US" sz="1550" b="1" dirty="0">
                <a:solidFill>
                  <a:srgbClr val="FFFFFF"/>
                </a:solidFill>
                <a:latin typeface="Calibri" pitchFamily="34" charset="0"/>
                <a:ea typeface="Calibri" pitchFamily="34" charset="-122"/>
                <a:cs typeface="Calibri" pitchFamily="34" charset="-120"/>
              </a:rPr>
              <a:t>와 </a:t>
            </a:r>
            <a:r>
              <a:rPr lang="ko-KR" altLang="en-US" sz="1550" b="1" dirty="0" err="1">
                <a:solidFill>
                  <a:srgbClr val="FFFFFF"/>
                </a:solidFill>
                <a:latin typeface="Calibri" pitchFamily="34" charset="0"/>
                <a:ea typeface="Calibri" pitchFamily="34" charset="-122"/>
                <a:cs typeface="Calibri" pitchFamily="34" charset="-120"/>
              </a:rPr>
              <a:t>연결지을</a:t>
            </a:r>
            <a:r>
              <a:rPr lang="ko-KR" altLang="en-US" sz="1550" b="1" dirty="0">
                <a:solidFill>
                  <a:srgbClr val="FFFFFF"/>
                </a:solidFill>
                <a:latin typeface="Calibri" pitchFamily="34" charset="0"/>
                <a:ea typeface="Calibri" pitchFamily="34" charset="-122"/>
                <a:cs typeface="Calibri" pitchFamily="34" charset="-120"/>
              </a:rPr>
              <a:t> 수 있습니다</a:t>
            </a:r>
            <a:endParaRPr lang="en-US" sz="1550" dirty="0"/>
          </a:p>
          <a:p>
            <a:pPr marL="0" indent="0">
              <a:lnSpc>
                <a:spcPct val="135000"/>
              </a:lnSpc>
              <a:buNone/>
            </a:pPr>
            <a:r>
              <a:rPr lang="en-US" sz="1550" b="1" dirty="0" err="1">
                <a:solidFill>
                  <a:srgbClr val="FFFFFF"/>
                </a:solidFill>
                <a:latin typeface="Calibri" pitchFamily="34" charset="0"/>
                <a:ea typeface="Calibri" pitchFamily="34" charset="-122"/>
                <a:cs typeface="Calibri" pitchFamily="34" charset="-120"/>
              </a:rPr>
              <a:t>영상</a:t>
            </a:r>
            <a:r>
              <a:rPr lang="en-US" sz="1550" b="1" dirty="0">
                <a:solidFill>
                  <a:srgbClr val="FFFFFF"/>
                </a:solidFill>
                <a:latin typeface="Calibri" pitchFamily="34" charset="0"/>
                <a:ea typeface="Calibri" pitchFamily="34" charset="-122"/>
                <a:cs typeface="Calibri" pitchFamily="34" charset="-120"/>
              </a:rPr>
              <a:t> 기반 vs 센서 기반 — 와 정확히 같은 대비입니다.</a:t>
            </a:r>
            <a:endParaRPr lang="en-US" sz="1550" dirty="0"/>
          </a:p>
        </p:txBody>
      </p:sp>
      <p:sp>
        <p:nvSpPr>
          <p:cNvPr id="16" name="Text 14"/>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서울대 연구성과 — 착용형 손 로봇 의도 예측 (Science Robotics)">
                  <a:extLst>
                    <a:ext uri="{A12FA001-AC4F-418D-AE19-62706E023703}">
                      <ahyp:hlinkClr xmlns:ahyp="http://schemas.microsoft.com/office/drawing/2018/hyperlinkcolor" val="tx"/>
                    </a:ext>
                  </a:extLst>
                </a:hlinkClick>
              </a:rPr>
              <a:t>서울대 연구성과 — 착용형 손 로봇 의도 예측 (Science Robotics)</a:t>
            </a:r>
            <a:r>
              <a:rPr lang="en-US" sz="900" dirty="0">
                <a:solidFill>
                  <a:srgbClr val="829AB1"/>
                </a:solidFill>
              </a:rPr>
              <a:t>   ·   </a:t>
            </a:r>
            <a:r>
              <a:rPr lang="en-US" sz="900" u="sng" dirty="0">
                <a:solidFill>
                  <a:srgbClr val="0E7C86"/>
                </a:solidFill>
                <a:hlinkClick r:id="rId4" tooltip="SNU Biorobotics Lab">
                  <a:extLst>
                    <a:ext uri="{A12FA001-AC4F-418D-AE19-62706E023703}">
                      <ahyp:hlinkClr xmlns:ahyp="http://schemas.microsoft.com/office/drawing/2018/hyperlinkcolor" val="tx"/>
                    </a:ext>
                  </a:extLst>
                </a:hlinkClick>
              </a:rPr>
              <a:t>SNU Biorobotics Lab</a:t>
            </a:r>
            <a:endParaRPr lang="en-US" sz="900" dirty="0"/>
          </a:p>
        </p:txBody>
      </p:sp>
      <p:pic>
        <p:nvPicPr>
          <p:cNvPr id="18" name="그림 17">
            <a:extLst>
              <a:ext uri="{FF2B5EF4-FFF2-40B4-BE49-F238E27FC236}">
                <a16:creationId xmlns:a16="http://schemas.microsoft.com/office/drawing/2014/main" id="{EB92247F-006D-3C36-6A55-B37E8A3E8464}"/>
              </a:ext>
            </a:extLst>
          </p:cNvPr>
          <p:cNvPicPr>
            <a:picLocks noChangeAspect="1"/>
          </p:cNvPicPr>
          <p:nvPr/>
        </p:nvPicPr>
        <p:blipFill>
          <a:blip r:embed="rId5"/>
          <a:stretch>
            <a:fillRect/>
          </a:stretch>
        </p:blipFill>
        <p:spPr>
          <a:xfrm>
            <a:off x="9943087" y="3104388"/>
            <a:ext cx="2928107" cy="17007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3</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해외 지형도</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서구는 '이게 진짜 효과 있다는 걸 증명하고 보험 수가를 받는 게임'을,</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중국은 '싸게 많이 만들어 일단 사람들 다리에 채우는 게임'을 하고 있습니다.</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서구 트랙</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임상 근거와 보험 수가로 승부한다</a:t>
            </a:r>
            <a:endParaRPr lang="en-US" sz="3000" dirty="0"/>
          </a:p>
        </p:txBody>
      </p:sp>
      <p:sp>
        <p:nvSpPr>
          <p:cNvPr id="4" name="Shape 2"/>
          <p:cNvSpPr/>
          <p:nvPr/>
        </p:nvSpPr>
        <p:spPr>
          <a:xfrm>
            <a:off x="548640" y="1572768"/>
            <a:ext cx="1106424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04672" y="1691640"/>
            <a:ext cx="2331720" cy="585216"/>
          </a:xfrm>
          <a:prstGeom prst="rect">
            <a:avLst/>
          </a:prstGeom>
          <a:noFill/>
          <a:ln/>
        </p:spPr>
        <p:txBody>
          <a:bodyPr wrap="square" lIns="0" tIns="0" rIns="0" bIns="0" rtlCol="0" anchor="ctr"/>
          <a:lstStyle/>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Wandercraft</a:t>
            </a:r>
            <a:endParaRPr lang="en-US" sz="1300" dirty="0"/>
          </a:p>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Atalante X / Eve</a:t>
            </a:r>
            <a:endParaRPr lang="en-US" sz="1300" dirty="0"/>
          </a:p>
        </p:txBody>
      </p:sp>
      <p:sp>
        <p:nvSpPr>
          <p:cNvPr id="6" name="Text 4"/>
          <p:cNvSpPr/>
          <p:nvPr/>
        </p:nvSpPr>
        <p:spPr>
          <a:xfrm>
            <a:off x="3246120" y="1837944"/>
            <a:ext cx="1143000" cy="292608"/>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프랑스</a:t>
            </a:r>
            <a:endParaRPr lang="en-US" sz="1150" dirty="0"/>
          </a:p>
        </p:txBody>
      </p:sp>
      <p:sp>
        <p:nvSpPr>
          <p:cNvPr id="7" name="Text 5"/>
          <p:cNvSpPr/>
          <p:nvPr/>
        </p:nvSpPr>
        <p:spPr>
          <a:xfrm>
            <a:off x="4480560" y="1837944"/>
            <a:ext cx="3337560" cy="292608"/>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자기균형 — 목발 없이 손이 자유롭다</a:t>
            </a:r>
            <a:endParaRPr lang="en-US" sz="1200" dirty="0"/>
          </a:p>
        </p:txBody>
      </p:sp>
      <p:sp>
        <p:nvSpPr>
          <p:cNvPr id="8" name="Text 6"/>
          <p:cNvSpPr/>
          <p:nvPr/>
        </p:nvSpPr>
        <p:spPr>
          <a:xfrm>
            <a:off x="8001000" y="1691640"/>
            <a:ext cx="3383280" cy="585216"/>
          </a:xfrm>
          <a:prstGeom prst="rect">
            <a:avLst/>
          </a:prstGeom>
          <a:noFill/>
          <a:ln/>
        </p:spPr>
        <p:txBody>
          <a:bodyPr wrap="square" lIns="0" tIns="0" rIns="0" bIns="0" rtlCol="0" anchor="ctr"/>
          <a:lstStyle/>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Eve, 2026.8.11 FDA 인증</a:t>
            </a:r>
            <a:endParaRPr lang="en-US" sz="1150" dirty="0"/>
          </a:p>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"세계 최초 자기균형 개인용 외골격"</a:t>
            </a:r>
            <a:endParaRPr lang="en-US" sz="1150" dirty="0"/>
          </a:p>
        </p:txBody>
      </p:sp>
      <p:sp>
        <p:nvSpPr>
          <p:cNvPr id="9" name="Shape 7"/>
          <p:cNvSpPr/>
          <p:nvPr/>
        </p:nvSpPr>
        <p:spPr>
          <a:xfrm>
            <a:off x="548640" y="2468880"/>
            <a:ext cx="11064240" cy="822960"/>
          </a:xfrm>
          <a:prstGeom prst="roundRect">
            <a:avLst>
              <a:gd name="adj" fmla="val 666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0" name="Text 8"/>
          <p:cNvSpPr/>
          <p:nvPr/>
        </p:nvSpPr>
        <p:spPr>
          <a:xfrm>
            <a:off x="804672" y="2587752"/>
            <a:ext cx="2331720" cy="585216"/>
          </a:xfrm>
          <a:prstGeom prst="rect">
            <a:avLst/>
          </a:prstGeom>
          <a:noFill/>
          <a:ln/>
        </p:spPr>
        <p:txBody>
          <a:bodyPr wrap="square" lIns="0" tIns="0" rIns="0" bIns="0" rtlCol="0" anchor="ctr"/>
          <a:lstStyle/>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ReWalk / Lifeward</a:t>
            </a:r>
            <a:endParaRPr lang="en-US" sz="1300" dirty="0"/>
          </a:p>
        </p:txBody>
      </p:sp>
      <p:sp>
        <p:nvSpPr>
          <p:cNvPr id="11" name="Text 9"/>
          <p:cNvSpPr/>
          <p:nvPr/>
        </p:nvSpPr>
        <p:spPr>
          <a:xfrm>
            <a:off x="3246120" y="2734056"/>
            <a:ext cx="1143000" cy="292608"/>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이스라엘·미국</a:t>
            </a:r>
            <a:endParaRPr lang="en-US" sz="1150" dirty="0"/>
          </a:p>
        </p:txBody>
      </p:sp>
      <p:sp>
        <p:nvSpPr>
          <p:cNvPr id="12" name="Text 10"/>
          <p:cNvSpPr/>
          <p:nvPr/>
        </p:nvSpPr>
        <p:spPr>
          <a:xfrm>
            <a:off x="4480560" y="2734056"/>
            <a:ext cx="3337560" cy="292608"/>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강성 외골격 + 목발 필수(균형은 사용자가)</a:t>
            </a:r>
            <a:endParaRPr lang="en-US" sz="1200" dirty="0"/>
          </a:p>
        </p:txBody>
      </p:sp>
      <p:sp>
        <p:nvSpPr>
          <p:cNvPr id="13" name="Text 11"/>
          <p:cNvSpPr/>
          <p:nvPr/>
        </p:nvSpPr>
        <p:spPr>
          <a:xfrm>
            <a:off x="8001000" y="2587752"/>
            <a:ext cx="3383280" cy="585216"/>
          </a:xfrm>
          <a:prstGeom prst="rect">
            <a:avLst/>
          </a:prstGeom>
          <a:noFill/>
          <a:ln/>
        </p:spPr>
        <p:txBody>
          <a:bodyPr wrap="square" lIns="0" tIns="0" rIns="0" bIns="0" rtlCol="0" anchor="ctr"/>
          <a:lstStyle/>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ReWalk 7 FDA 인증(2025.3)</a:t>
            </a:r>
            <a:endParaRPr lang="en-US" sz="1150" dirty="0"/>
          </a:p>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메디케어 수가 약 $91,032</a:t>
            </a:r>
            <a:endParaRPr lang="en-US" sz="1150" dirty="0"/>
          </a:p>
        </p:txBody>
      </p:sp>
      <p:sp>
        <p:nvSpPr>
          <p:cNvPr id="14" name="Shape 12"/>
          <p:cNvSpPr/>
          <p:nvPr/>
        </p:nvSpPr>
        <p:spPr>
          <a:xfrm>
            <a:off x="548640" y="3364992"/>
            <a:ext cx="1106424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804672" y="3483864"/>
            <a:ext cx="2331720" cy="585216"/>
          </a:xfrm>
          <a:prstGeom prst="rect">
            <a:avLst/>
          </a:prstGeom>
          <a:noFill/>
          <a:ln/>
        </p:spPr>
        <p:txBody>
          <a:bodyPr wrap="square" lIns="0" tIns="0" rIns="0" bIns="0" rtlCol="0" anchor="ctr"/>
          <a:lstStyle/>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Ekso Bionics</a:t>
            </a:r>
            <a:endParaRPr lang="en-US" sz="1300" dirty="0"/>
          </a:p>
        </p:txBody>
      </p:sp>
      <p:sp>
        <p:nvSpPr>
          <p:cNvPr id="16" name="Text 14"/>
          <p:cNvSpPr/>
          <p:nvPr/>
        </p:nvSpPr>
        <p:spPr>
          <a:xfrm>
            <a:off x="3246120" y="3630168"/>
            <a:ext cx="1143000" cy="292608"/>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미국</a:t>
            </a:r>
            <a:endParaRPr lang="en-US" sz="1150" dirty="0"/>
          </a:p>
        </p:txBody>
      </p:sp>
      <p:sp>
        <p:nvSpPr>
          <p:cNvPr id="17" name="Text 15"/>
          <p:cNvSpPr/>
          <p:nvPr/>
        </p:nvSpPr>
        <p:spPr>
          <a:xfrm>
            <a:off x="4480560" y="3630168"/>
            <a:ext cx="3337560" cy="292608"/>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EksoNR(병원용) · Indego(개인용)</a:t>
            </a:r>
            <a:endParaRPr lang="en-US" sz="1200" dirty="0"/>
          </a:p>
        </p:txBody>
      </p:sp>
      <p:sp>
        <p:nvSpPr>
          <p:cNvPr id="18" name="Text 16"/>
          <p:cNvSpPr/>
          <p:nvPr/>
        </p:nvSpPr>
        <p:spPr>
          <a:xfrm>
            <a:off x="8001000" y="3483864"/>
            <a:ext cx="3383280" cy="585216"/>
          </a:xfrm>
          <a:prstGeom prst="rect">
            <a:avLst/>
          </a:prstGeom>
          <a:noFill/>
          <a:ln/>
        </p:spPr>
        <p:txBody>
          <a:bodyPr wrap="square" lIns="0" tIns="0" rIns="0" bIns="0" rtlCol="0" anchor="ctr"/>
          <a:lstStyle/>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Indego 코드 K1007, 약 $94,617</a:t>
            </a:r>
            <a:endParaRPr lang="en-US" sz="1150" dirty="0"/>
          </a:p>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EksoNR은 RCT 보유(n=40)</a:t>
            </a:r>
            <a:endParaRPr lang="en-US" sz="1150" dirty="0"/>
          </a:p>
        </p:txBody>
      </p:sp>
      <p:sp>
        <p:nvSpPr>
          <p:cNvPr id="19" name="Shape 17"/>
          <p:cNvSpPr/>
          <p:nvPr/>
        </p:nvSpPr>
        <p:spPr>
          <a:xfrm>
            <a:off x="548640" y="4261104"/>
            <a:ext cx="11064240" cy="822960"/>
          </a:xfrm>
          <a:prstGeom prst="roundRect">
            <a:avLst>
              <a:gd name="adj" fmla="val 666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804672" y="4379976"/>
            <a:ext cx="2331720" cy="585216"/>
          </a:xfrm>
          <a:prstGeom prst="rect">
            <a:avLst/>
          </a:prstGeom>
          <a:noFill/>
          <a:ln/>
        </p:spPr>
        <p:txBody>
          <a:bodyPr wrap="square" lIns="0" tIns="0" rIns="0" bIns="0" rtlCol="0" anchor="ctr"/>
          <a:lstStyle/>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Cyberdyne HAL</a:t>
            </a:r>
            <a:endParaRPr lang="en-US" sz="1300" dirty="0"/>
          </a:p>
        </p:txBody>
      </p:sp>
      <p:sp>
        <p:nvSpPr>
          <p:cNvPr id="21" name="Text 19"/>
          <p:cNvSpPr/>
          <p:nvPr/>
        </p:nvSpPr>
        <p:spPr>
          <a:xfrm>
            <a:off x="3246120" y="4526280"/>
            <a:ext cx="1143000" cy="292608"/>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일본</a:t>
            </a:r>
            <a:endParaRPr lang="en-US" sz="1150" dirty="0"/>
          </a:p>
        </p:txBody>
      </p:sp>
      <p:sp>
        <p:nvSpPr>
          <p:cNvPr id="22" name="Text 20"/>
          <p:cNvSpPr/>
          <p:nvPr/>
        </p:nvSpPr>
        <p:spPr>
          <a:xfrm>
            <a:off x="4480560" y="4526280"/>
            <a:ext cx="3337560" cy="292608"/>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표면 생체전기신호(BES)로 의도 감지</a:t>
            </a:r>
            <a:endParaRPr lang="en-US" sz="1200" dirty="0"/>
          </a:p>
        </p:txBody>
      </p:sp>
      <p:sp>
        <p:nvSpPr>
          <p:cNvPr id="23" name="Text 21"/>
          <p:cNvSpPr/>
          <p:nvPr/>
        </p:nvSpPr>
        <p:spPr>
          <a:xfrm>
            <a:off x="8001000" y="4379976"/>
            <a:ext cx="3383280" cy="585216"/>
          </a:xfrm>
          <a:prstGeom prst="rect">
            <a:avLst/>
          </a:prstGeom>
          <a:noFill/>
          <a:ln/>
        </p:spPr>
        <p:txBody>
          <a:bodyPr wrap="square" lIns="0" tIns="0" rIns="0" bIns="0" rtlCol="0" anchor="ctr"/>
          <a:lstStyle/>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일본 건강보험 수가 J118-4</a:t>
            </a:r>
            <a:endParaRPr lang="en-US" sz="1150" dirty="0"/>
          </a:p>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1일 1,100점</a:t>
            </a:r>
            <a:endParaRPr lang="en-US" sz="1150" dirty="0"/>
          </a:p>
        </p:txBody>
      </p:sp>
      <p:sp>
        <p:nvSpPr>
          <p:cNvPr id="24" name="Shape 22"/>
          <p:cNvSpPr/>
          <p:nvPr/>
        </p:nvSpPr>
        <p:spPr>
          <a:xfrm>
            <a:off x="548640" y="5157216"/>
            <a:ext cx="1106424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5" name="Text 23"/>
          <p:cNvSpPr/>
          <p:nvPr/>
        </p:nvSpPr>
        <p:spPr>
          <a:xfrm>
            <a:off x="804672" y="5276088"/>
            <a:ext cx="2331720" cy="585216"/>
          </a:xfrm>
          <a:prstGeom prst="rect">
            <a:avLst/>
          </a:prstGeom>
          <a:noFill/>
          <a:ln/>
        </p:spPr>
        <p:txBody>
          <a:bodyPr wrap="square" lIns="0" tIns="0" rIns="0" bIns="0" rtlCol="0" anchor="ctr"/>
          <a:lstStyle/>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ReWalk ReStore</a:t>
            </a:r>
            <a:endParaRPr lang="en-US" sz="1300" dirty="0"/>
          </a:p>
          <a:p>
            <a:pPr marL="0" indent="0">
              <a:lnSpc>
                <a:spcPct val="110000"/>
              </a:lnSpc>
              <a:buNone/>
            </a:pPr>
            <a:r>
              <a:rPr lang="en-US" sz="1300" b="1" dirty="0">
                <a:solidFill>
                  <a:srgbClr val="102A43"/>
                </a:solidFill>
                <a:latin typeface="Calibri" pitchFamily="34" charset="0"/>
                <a:ea typeface="Calibri" pitchFamily="34" charset="-122"/>
                <a:cs typeface="Calibri" pitchFamily="34" charset="-120"/>
              </a:rPr>
              <a:t>(Harvard 기술)</a:t>
            </a:r>
            <a:endParaRPr lang="en-US" sz="1300" dirty="0"/>
          </a:p>
        </p:txBody>
      </p:sp>
      <p:sp>
        <p:nvSpPr>
          <p:cNvPr id="26" name="Text 24"/>
          <p:cNvSpPr/>
          <p:nvPr/>
        </p:nvSpPr>
        <p:spPr>
          <a:xfrm>
            <a:off x="3246120" y="5422392"/>
            <a:ext cx="1143000" cy="292608"/>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미국</a:t>
            </a:r>
            <a:endParaRPr lang="en-US" sz="1150" dirty="0"/>
          </a:p>
        </p:txBody>
      </p:sp>
      <p:sp>
        <p:nvSpPr>
          <p:cNvPr id="27" name="Text 25"/>
          <p:cNvSpPr/>
          <p:nvPr/>
        </p:nvSpPr>
        <p:spPr>
          <a:xfrm>
            <a:off x="4480560" y="5422392"/>
            <a:ext cx="3337560" cy="292608"/>
          </a:xfrm>
          <a:prstGeom prst="rect">
            <a:avLst/>
          </a:prstGeom>
          <a:noFill/>
          <a:ln/>
        </p:spPr>
        <p:txBody>
          <a:bodyPr wrap="square" lIns="0" tIns="0" rIns="0" bIns="0" rtlCol="0" anchor="ctr"/>
          <a:lstStyle/>
          <a:p>
            <a:pPr marL="0" indent="0">
              <a:buNone/>
            </a:pPr>
            <a:r>
              <a:rPr lang="en-US" sz="1200" dirty="0">
                <a:solidFill>
                  <a:srgbClr val="52606D"/>
                </a:solidFill>
                <a:latin typeface="Calibri" pitchFamily="34" charset="0"/>
                <a:ea typeface="Calibri" pitchFamily="34" charset="-122"/>
                <a:cs typeface="Calibri" pitchFamily="34" charset="-120"/>
              </a:rPr>
              <a:t>소프트 exosuit — 의류형, 발목 단관절</a:t>
            </a:r>
            <a:endParaRPr lang="en-US" sz="1200" dirty="0"/>
          </a:p>
        </p:txBody>
      </p:sp>
      <p:sp>
        <p:nvSpPr>
          <p:cNvPr id="28" name="Text 26"/>
          <p:cNvSpPr/>
          <p:nvPr/>
        </p:nvSpPr>
        <p:spPr>
          <a:xfrm>
            <a:off x="8001000" y="5276088"/>
            <a:ext cx="3383280" cy="585216"/>
          </a:xfrm>
          <a:prstGeom prst="rect">
            <a:avLst/>
          </a:prstGeom>
          <a:noFill/>
          <a:ln/>
        </p:spPr>
        <p:txBody>
          <a:bodyPr wrap="square" lIns="0" tIns="0" rIns="0" bIns="0" rtlCol="0" anchor="ctr"/>
          <a:lstStyle/>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FDA 인증(2019)</a:t>
            </a:r>
            <a:endParaRPr lang="en-US" sz="1150" dirty="0"/>
          </a:p>
          <a:p>
            <a:pPr marL="0" indent="0">
              <a:lnSpc>
                <a:spcPct val="110000"/>
              </a:lnSpc>
              <a:buNone/>
            </a:pPr>
            <a:r>
              <a:rPr lang="en-US" sz="1150" dirty="0">
                <a:solidFill>
                  <a:srgbClr val="102A43"/>
                </a:solidFill>
                <a:latin typeface="Calibri" pitchFamily="34" charset="0"/>
                <a:ea typeface="Calibri" pitchFamily="34" charset="-122"/>
                <a:cs typeface="Calibri" pitchFamily="34" charset="-120"/>
              </a:rPr>
              <a:t>단, RCT 아님 (안전성 중심)</a:t>
            </a:r>
            <a:endParaRPr lang="en-US" sz="1150" dirty="0"/>
          </a:p>
        </p:txBody>
      </p:sp>
      <p:sp>
        <p:nvSpPr>
          <p:cNvPr id="29" name="Text 27"/>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Wandercraft Eve FDA 인증">
                  <a:extLst>
                    <a:ext uri="{A12FA001-AC4F-418D-AE19-62706E023703}">
                      <ahyp:hlinkClr xmlns:ahyp="http://schemas.microsoft.com/office/drawing/2018/hyperlinkcolor" val="tx"/>
                    </a:ext>
                  </a:extLst>
                </a:hlinkClick>
              </a:rPr>
              <a:t>Wandercraft Eve FDA 인증</a:t>
            </a:r>
            <a:r>
              <a:rPr lang="en-US" sz="900" dirty="0">
                <a:solidFill>
                  <a:srgbClr val="829AB1"/>
                </a:solidFill>
              </a:rPr>
              <a:t>   ·   </a:t>
            </a:r>
            <a:r>
              <a:rPr lang="en-US" sz="900" u="sng" dirty="0">
                <a:solidFill>
                  <a:srgbClr val="0E7C86"/>
                </a:solidFill>
                <a:hlinkClick r:id="rId4" tooltip="Medicare, ReWalk 수가 $91,032">
                  <a:extLst>
                    <a:ext uri="{A12FA001-AC4F-418D-AE19-62706E023703}">
                      <ahyp:hlinkClr xmlns:ahyp="http://schemas.microsoft.com/office/drawing/2018/hyperlinkcolor" val="tx"/>
                    </a:ext>
                  </a:extLst>
                </a:hlinkClick>
              </a:rPr>
              <a:t>Medicare, ReWalk 수가 $91,032</a:t>
            </a:r>
            <a:r>
              <a:rPr lang="en-US" sz="900" dirty="0">
                <a:solidFill>
                  <a:srgbClr val="829AB1"/>
                </a:solidFill>
              </a:rPr>
              <a:t>   ·   </a:t>
            </a:r>
            <a:r>
              <a:rPr lang="en-US" sz="900" u="sng" dirty="0">
                <a:solidFill>
                  <a:srgbClr val="0E7C86"/>
                </a:solidFill>
                <a:hlinkClick r:id="rId5" tooltip="医療用HAL 수가 J118-4">
                  <a:extLst>
                    <a:ext uri="{A12FA001-AC4F-418D-AE19-62706E023703}">
                      <ahyp:hlinkClr xmlns:ahyp="http://schemas.microsoft.com/office/drawing/2018/hyperlinkcolor" val="tx"/>
                    </a:ext>
                  </a:extLst>
                </a:hlinkClick>
              </a:rPr>
              <a:t>医療用HAL 수가 J118-4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주목할 변화</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자기균형(self-balancing) — 손이 자유로워진다</a:t>
            </a:r>
            <a:endParaRPr lang="en-US" sz="3000" dirty="0"/>
          </a:p>
        </p:txBody>
      </p:sp>
      <p:sp>
        <p:nvSpPr>
          <p:cNvPr id="4" name="Shape 2"/>
          <p:cNvSpPr/>
          <p:nvPr/>
        </p:nvSpPr>
        <p:spPr>
          <a:xfrm>
            <a:off x="548640" y="1737360"/>
            <a:ext cx="5349240" cy="2103120"/>
          </a:xfrm>
          <a:prstGeom prst="roundRect">
            <a:avLst>
              <a:gd name="adj" fmla="val 260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68680" y="1938528"/>
            <a:ext cx="4709160" cy="292608"/>
          </a:xfrm>
          <a:prstGeom prst="rect">
            <a:avLst/>
          </a:prstGeom>
          <a:noFill/>
          <a:ln/>
        </p:spPr>
        <p:txBody>
          <a:bodyPr wrap="square" lIns="0" tIns="0" rIns="0" bIns="0" rtlCol="0" anchor="ctr"/>
          <a:lstStyle/>
          <a:p>
            <a:pPr marL="0" indent="0">
              <a:buNone/>
            </a:pPr>
            <a:r>
              <a:rPr lang="en-US" sz="1200" b="1" kern="0" spc="100" dirty="0">
                <a:solidFill>
                  <a:srgbClr val="52606D"/>
                </a:solidFill>
                <a:latin typeface="Calibri" pitchFamily="34" charset="0"/>
                <a:ea typeface="Calibri" pitchFamily="34" charset="-122"/>
                <a:cs typeface="Calibri" pitchFamily="34" charset="-120"/>
              </a:rPr>
              <a:t>기존 방식</a:t>
            </a:r>
            <a:endParaRPr lang="en-US" sz="1200" dirty="0"/>
          </a:p>
        </p:txBody>
      </p:sp>
      <p:sp>
        <p:nvSpPr>
          <p:cNvPr id="6" name="Text 4"/>
          <p:cNvSpPr/>
          <p:nvPr/>
        </p:nvSpPr>
        <p:spPr>
          <a:xfrm>
            <a:off x="868680" y="2267712"/>
            <a:ext cx="4709160" cy="411480"/>
          </a:xfrm>
          <a:prstGeom prst="rect">
            <a:avLst/>
          </a:prstGeom>
          <a:noFill/>
          <a:ln/>
        </p:spPr>
        <p:txBody>
          <a:bodyPr wrap="square" lIns="0" tIns="0" rIns="0" bIns="0" rtlCol="0" anchor="ctr"/>
          <a:lstStyle/>
          <a:p>
            <a:pPr marL="0" indent="0">
              <a:buNone/>
            </a:pPr>
            <a:r>
              <a:rPr lang="en-US" sz="2400" b="1" dirty="0">
                <a:solidFill>
                  <a:srgbClr val="102A43"/>
                </a:solidFill>
                <a:latin typeface="Cambria" pitchFamily="34" charset="0"/>
                <a:ea typeface="Cambria" pitchFamily="34" charset="-122"/>
                <a:cs typeface="Cambria" pitchFamily="34" charset="-120"/>
              </a:rPr>
              <a:t>목발이 필요하다</a:t>
            </a:r>
            <a:endParaRPr lang="en-US" sz="2400" dirty="0"/>
          </a:p>
        </p:txBody>
      </p:sp>
      <p:sp>
        <p:nvSpPr>
          <p:cNvPr id="7" name="Text 5"/>
          <p:cNvSpPr/>
          <p:nvPr/>
        </p:nvSpPr>
        <p:spPr>
          <a:xfrm>
            <a:off x="868680" y="2788920"/>
            <a:ext cx="4709160" cy="914400"/>
          </a:xfrm>
          <a:prstGeom prst="rect">
            <a:avLst/>
          </a:prstGeom>
          <a:noFill/>
          <a:ln/>
        </p:spPr>
        <p:txBody>
          <a:bodyPr wrap="square" lIns="0" tIns="0" rIns="0" bIns="0" rtlCol="0" anchor="ctr"/>
          <a:lstStyle/>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로봇이 다리를 움직이고,</a:t>
            </a:r>
            <a:endParaRPr lang="en-US" sz="1350" dirty="0"/>
          </a:p>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균형은 사용자가 팔로 잡는다.</a:t>
            </a:r>
            <a:endParaRPr lang="en-US" sz="1350" dirty="0"/>
          </a:p>
          <a:p>
            <a:pPr marL="0" indent="0">
              <a:lnSpc>
                <a:spcPct val="130000"/>
              </a:lnSpc>
              <a:buNone/>
            </a:pPr>
            <a:r>
              <a:rPr lang="en-US" sz="1350" dirty="0">
                <a:solidFill>
                  <a:srgbClr val="52606D"/>
                </a:solidFill>
                <a:latin typeface="Calibri" pitchFamily="34" charset="0"/>
                <a:ea typeface="Calibri" pitchFamily="34" charset="-122"/>
                <a:cs typeface="Calibri" pitchFamily="34" charset="-120"/>
              </a:rPr>
              <a:t>→ 두 손이 묶인다.</a:t>
            </a:r>
            <a:endParaRPr lang="en-US" sz="1350" dirty="0"/>
          </a:p>
        </p:txBody>
      </p:sp>
      <p:sp>
        <p:nvSpPr>
          <p:cNvPr id="8" name="Shape 6"/>
          <p:cNvSpPr/>
          <p:nvPr/>
        </p:nvSpPr>
        <p:spPr>
          <a:xfrm>
            <a:off x="6263640" y="1737360"/>
            <a:ext cx="5349240" cy="2103120"/>
          </a:xfrm>
          <a:prstGeom prst="roundRect">
            <a:avLst>
              <a:gd name="adj" fmla="val 260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583680" y="1938528"/>
            <a:ext cx="4709160" cy="292608"/>
          </a:xfrm>
          <a:prstGeom prst="rect">
            <a:avLst/>
          </a:prstGeom>
          <a:noFill/>
          <a:ln/>
        </p:spPr>
        <p:txBody>
          <a:bodyPr wrap="square" lIns="0" tIns="0" rIns="0" bIns="0" rtlCol="0" anchor="ctr"/>
          <a:lstStyle/>
          <a:p>
            <a:pPr marL="0" indent="0">
              <a:buNone/>
            </a:pPr>
            <a:r>
              <a:rPr lang="en-US" sz="1200" b="1" kern="0" spc="100" dirty="0">
                <a:solidFill>
                  <a:srgbClr val="8FC7CE"/>
                </a:solidFill>
                <a:latin typeface="Calibri" pitchFamily="34" charset="0"/>
                <a:ea typeface="Calibri" pitchFamily="34" charset="-122"/>
                <a:cs typeface="Calibri" pitchFamily="34" charset="-120"/>
              </a:rPr>
              <a:t>Wandercraft</a:t>
            </a:r>
            <a:endParaRPr lang="en-US" sz="1200" dirty="0"/>
          </a:p>
        </p:txBody>
      </p:sp>
      <p:sp>
        <p:nvSpPr>
          <p:cNvPr id="10" name="Text 8"/>
          <p:cNvSpPr/>
          <p:nvPr/>
        </p:nvSpPr>
        <p:spPr>
          <a:xfrm>
            <a:off x="6583680" y="2267712"/>
            <a:ext cx="470916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로봇이 균형까지 잡는다</a:t>
            </a:r>
            <a:endParaRPr lang="en-US" sz="2400" dirty="0"/>
          </a:p>
        </p:txBody>
      </p:sp>
      <p:sp>
        <p:nvSpPr>
          <p:cNvPr id="11" name="Text 9"/>
          <p:cNvSpPr/>
          <p:nvPr/>
        </p:nvSpPr>
        <p:spPr>
          <a:xfrm>
            <a:off x="6583680" y="2788920"/>
            <a:ext cx="4709160" cy="914400"/>
          </a:xfrm>
          <a:prstGeom prst="rect">
            <a:avLst/>
          </a:prstGeom>
          <a:noFill/>
          <a:ln/>
        </p:spPr>
        <p:txBody>
          <a:bodyPr wrap="square" lIns="0" tIns="0" rIns="0" bIns="0" rtlCol="0" anchor="ctr"/>
          <a:lstStyle/>
          <a:p>
            <a:pPr marL="0" indent="0">
              <a:lnSpc>
                <a:spcPct val="130000"/>
              </a:lnSpc>
              <a:buNone/>
            </a:pPr>
            <a:r>
              <a:rPr lang="en-US" sz="1350" dirty="0">
                <a:solidFill>
                  <a:srgbClr val="8FC7CE"/>
                </a:solidFill>
                <a:latin typeface="Calibri" pitchFamily="34" charset="0"/>
                <a:ea typeface="Calibri" pitchFamily="34" charset="-122"/>
                <a:cs typeface="Calibri" pitchFamily="34" charset="-120"/>
              </a:rPr>
              <a:t>목발 없이 서고 걷는다.</a:t>
            </a:r>
            <a:endParaRPr lang="en-US" sz="1350" dirty="0"/>
          </a:p>
          <a:p>
            <a:pPr marL="0" indent="0">
              <a:lnSpc>
                <a:spcPct val="130000"/>
              </a:lnSpc>
              <a:buNone/>
            </a:pPr>
            <a:r>
              <a:rPr lang="en-US" sz="1350" dirty="0">
                <a:solidFill>
                  <a:srgbClr val="8FC7CE"/>
                </a:solidFill>
                <a:latin typeface="Calibri" pitchFamily="34" charset="0"/>
                <a:ea typeface="Calibri" pitchFamily="34" charset="-122"/>
                <a:cs typeface="Calibri" pitchFamily="34" charset="-120"/>
              </a:rPr>
              <a:t>선 자세로 물건을 들고 손을 뻗는다.</a:t>
            </a:r>
            <a:endParaRPr lang="en-US" sz="1350" dirty="0"/>
          </a:p>
          <a:p>
            <a:pPr marL="0" indent="0">
              <a:lnSpc>
                <a:spcPct val="130000"/>
              </a:lnSpc>
              <a:buNone/>
            </a:pPr>
            <a:r>
              <a:rPr lang="en-US" sz="1350" dirty="0">
                <a:solidFill>
                  <a:srgbClr val="8FC7CE"/>
                </a:solidFill>
                <a:latin typeface="Calibri" pitchFamily="34" charset="0"/>
                <a:ea typeface="Calibri" pitchFamily="34" charset="-122"/>
                <a:cs typeface="Calibri" pitchFamily="34" charset="-120"/>
              </a:rPr>
              <a:t>→ 두 손이 자유롭다.</a:t>
            </a:r>
            <a:endParaRPr lang="en-US" sz="1350" dirty="0"/>
          </a:p>
        </p:txBody>
      </p:sp>
      <p:sp>
        <p:nvSpPr>
          <p:cNvPr id="12" name="Shape 10"/>
          <p:cNvSpPr/>
          <p:nvPr/>
        </p:nvSpPr>
        <p:spPr>
          <a:xfrm>
            <a:off x="548640" y="4069080"/>
            <a:ext cx="3352830" cy="1600200"/>
          </a:xfrm>
          <a:prstGeom prst="roundRect">
            <a:avLst>
              <a:gd name="adj" fmla="val 342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804672" y="4251960"/>
            <a:ext cx="2840766" cy="310896"/>
          </a:xfrm>
          <a:prstGeom prst="rect">
            <a:avLst/>
          </a:prstGeom>
          <a:noFill/>
          <a:ln/>
        </p:spPr>
        <p:txBody>
          <a:bodyPr wrap="square" lIns="0" tIns="0" rIns="0" bIns="0" rtlCol="0" anchor="ctr"/>
          <a:lstStyle/>
          <a:p>
            <a:pPr marL="0" indent="0">
              <a:buNone/>
            </a:pPr>
            <a:r>
              <a:rPr lang="en-US" sz="1400" b="1" dirty="0">
                <a:solidFill>
                  <a:srgbClr val="0E7C86"/>
                </a:solidFill>
                <a:latin typeface="Calibri" pitchFamily="34" charset="0"/>
                <a:ea typeface="Calibri" pitchFamily="34" charset="-122"/>
                <a:cs typeface="Calibri" pitchFamily="34" charset="-120"/>
              </a:rPr>
              <a:t>Atalante X (병원용)</a:t>
            </a:r>
            <a:endParaRPr lang="en-US" sz="1400" dirty="0"/>
          </a:p>
        </p:txBody>
      </p:sp>
      <p:sp>
        <p:nvSpPr>
          <p:cNvPr id="14" name="Text 12"/>
          <p:cNvSpPr/>
          <p:nvPr/>
        </p:nvSpPr>
        <p:spPr>
          <a:xfrm>
            <a:off x="804672" y="4617720"/>
            <a:ext cx="2840766" cy="914400"/>
          </a:xfrm>
          <a:prstGeom prst="rect">
            <a:avLst/>
          </a:prstGeom>
          <a:noFill/>
          <a:ln/>
        </p:spPr>
        <p:txBody>
          <a:bodyPr wrap="square" lIns="0" tIns="0" rIns="0" bIns="0" rtlCol="0" anchor="ctr"/>
          <a:lstStyle/>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FDA 적응증 2차 확대 (2025.11.3)</a:t>
            </a:r>
            <a:endParaRPr lang="en-US" sz="1200" dirty="0"/>
          </a:p>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척수손상 C4–L5 + 다발성경화증</a:t>
            </a:r>
            <a:endParaRPr lang="en-US" sz="1200" dirty="0"/>
          </a:p>
        </p:txBody>
      </p:sp>
      <p:sp>
        <p:nvSpPr>
          <p:cNvPr id="15" name="Shape 13"/>
          <p:cNvSpPr/>
          <p:nvPr/>
        </p:nvSpPr>
        <p:spPr>
          <a:xfrm>
            <a:off x="4404390" y="4069080"/>
            <a:ext cx="3352830" cy="1600200"/>
          </a:xfrm>
          <a:prstGeom prst="roundRect">
            <a:avLst>
              <a:gd name="adj" fmla="val 342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6" name="Text 14"/>
          <p:cNvSpPr/>
          <p:nvPr/>
        </p:nvSpPr>
        <p:spPr>
          <a:xfrm>
            <a:off x="4660422" y="4251960"/>
            <a:ext cx="2840766" cy="310896"/>
          </a:xfrm>
          <a:prstGeom prst="rect">
            <a:avLst/>
          </a:prstGeom>
          <a:noFill/>
          <a:ln/>
        </p:spPr>
        <p:txBody>
          <a:bodyPr wrap="square" lIns="0" tIns="0" rIns="0" bIns="0" rtlCol="0" anchor="ctr"/>
          <a:lstStyle/>
          <a:p>
            <a:pPr marL="0" indent="0">
              <a:buNone/>
            </a:pPr>
            <a:r>
              <a:rPr lang="en-US" sz="1400" b="1" dirty="0">
                <a:solidFill>
                  <a:srgbClr val="0E7C86"/>
                </a:solidFill>
                <a:latin typeface="Calibri" pitchFamily="34" charset="0"/>
                <a:ea typeface="Calibri" pitchFamily="34" charset="-122"/>
                <a:cs typeface="Calibri" pitchFamily="34" charset="-120"/>
              </a:rPr>
              <a:t>Eve (개인용)</a:t>
            </a:r>
            <a:endParaRPr lang="en-US" sz="1400" dirty="0"/>
          </a:p>
        </p:txBody>
      </p:sp>
      <p:sp>
        <p:nvSpPr>
          <p:cNvPr id="17" name="Text 15"/>
          <p:cNvSpPr/>
          <p:nvPr/>
        </p:nvSpPr>
        <p:spPr>
          <a:xfrm>
            <a:off x="4660422" y="4617720"/>
            <a:ext cx="2840766" cy="914400"/>
          </a:xfrm>
          <a:prstGeom prst="rect">
            <a:avLst/>
          </a:prstGeom>
          <a:noFill/>
          <a:ln/>
        </p:spPr>
        <p:txBody>
          <a:bodyPr wrap="square" lIns="0" tIns="0" rIns="0" bIns="0" rtlCol="0" anchor="ctr"/>
          <a:lstStyle/>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FDA 인증 2026.8.11</a:t>
            </a:r>
            <a:endParaRPr lang="en-US" sz="1200" dirty="0"/>
          </a:p>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척수손상 레벨 무관, 3개 기관 임상시험</a:t>
            </a:r>
            <a:endParaRPr lang="en-US" sz="1200" dirty="0"/>
          </a:p>
        </p:txBody>
      </p:sp>
      <p:sp>
        <p:nvSpPr>
          <p:cNvPr id="18" name="Shape 16"/>
          <p:cNvSpPr/>
          <p:nvPr/>
        </p:nvSpPr>
        <p:spPr>
          <a:xfrm>
            <a:off x="8260141" y="4069080"/>
            <a:ext cx="3352830" cy="1600200"/>
          </a:xfrm>
          <a:prstGeom prst="roundRect">
            <a:avLst>
              <a:gd name="adj" fmla="val 3429"/>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9" name="Text 17"/>
          <p:cNvSpPr/>
          <p:nvPr/>
        </p:nvSpPr>
        <p:spPr>
          <a:xfrm>
            <a:off x="8516173" y="4251960"/>
            <a:ext cx="2840766" cy="310896"/>
          </a:xfrm>
          <a:prstGeom prst="rect">
            <a:avLst/>
          </a:prstGeom>
          <a:noFill/>
          <a:ln/>
        </p:spPr>
        <p:txBody>
          <a:bodyPr wrap="square" lIns="0" tIns="0" rIns="0" bIns="0" rtlCol="0" anchor="ctr"/>
          <a:lstStyle/>
          <a:p>
            <a:pPr marL="0" indent="0">
              <a:buNone/>
            </a:pPr>
            <a:r>
              <a:rPr lang="en-US" sz="1400" b="1" dirty="0">
                <a:solidFill>
                  <a:srgbClr val="9B2226"/>
                </a:solidFill>
                <a:latin typeface="Calibri" pitchFamily="34" charset="0"/>
                <a:ea typeface="Calibri" pitchFamily="34" charset="-122"/>
                <a:cs typeface="Calibri" pitchFamily="34" charset="-120"/>
              </a:rPr>
              <a:t>임상 근거의 한계</a:t>
            </a:r>
            <a:endParaRPr lang="en-US" sz="1400" dirty="0"/>
          </a:p>
        </p:txBody>
      </p:sp>
      <p:sp>
        <p:nvSpPr>
          <p:cNvPr id="20" name="Text 18"/>
          <p:cNvSpPr/>
          <p:nvPr/>
        </p:nvSpPr>
        <p:spPr>
          <a:xfrm>
            <a:off x="8516173" y="4617720"/>
            <a:ext cx="2840766" cy="914400"/>
          </a:xfrm>
          <a:prstGeom prst="rect">
            <a:avLst/>
          </a:prstGeom>
          <a:noFill/>
          <a:ln/>
        </p:spPr>
        <p:txBody>
          <a:bodyPr wrap="square" lIns="0" tIns="0" rIns="0" bIns="0" rtlCol="0" anchor="ctr"/>
          <a:lstStyle/>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상위 척수손상 547세션 후향 분석</a:t>
            </a:r>
            <a:endParaRPr lang="en-US" sz="1200" dirty="0"/>
          </a:p>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전향적 RCT는 미확인</a:t>
            </a:r>
            <a:endParaRPr lang="en-US" sz="1200" dirty="0"/>
          </a:p>
        </p:txBody>
      </p:sp>
      <p:sp>
        <p:nvSpPr>
          <p:cNvPr id="21" name="Text 19"/>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Wandercraft Eve FDA 인증 (2026.8)">
                  <a:extLst>
                    <a:ext uri="{A12FA001-AC4F-418D-AE19-62706E023703}">
                      <ahyp:hlinkClr xmlns:ahyp="http://schemas.microsoft.com/office/drawing/2018/hyperlinkcolor" val="tx"/>
                    </a:ext>
                  </a:extLst>
                </a:hlinkClick>
              </a:rPr>
              <a:t>Wandercraft Eve FDA 인증 (2026.8)</a:t>
            </a:r>
            <a:r>
              <a:rPr lang="en-US" sz="900" dirty="0">
                <a:solidFill>
                  <a:srgbClr val="829AB1"/>
                </a:solidFill>
              </a:rPr>
              <a:t>   ·   </a:t>
            </a:r>
            <a:r>
              <a:rPr lang="en-US" sz="900" u="sng" dirty="0">
                <a:solidFill>
                  <a:srgbClr val="0E7C86"/>
                </a:solidFill>
                <a:hlinkClick r:id="rId4" tooltip="Atalante X FDA 적응증 확대 (2025.11)">
                  <a:extLst>
                    <a:ext uri="{A12FA001-AC4F-418D-AE19-62706E023703}">
                      <ahyp:hlinkClr xmlns:ahyp="http://schemas.microsoft.com/office/drawing/2018/hyperlinkcolor" val="tx"/>
                    </a:ext>
                  </a:extLst>
                </a:hlinkClick>
              </a:rPr>
              <a:t>Atalante X FDA 적응증 확대 (2025.11)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교과서적 선례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Cyberdyne HAL — RCT에서 보험 수가까지</a:t>
            </a:r>
            <a:endParaRPr lang="en-US" sz="3000" dirty="0"/>
          </a:p>
        </p:txBody>
      </p:sp>
      <p:sp>
        <p:nvSpPr>
          <p:cNvPr id="4" name="Shape 2"/>
          <p:cNvSpPr/>
          <p:nvPr/>
        </p:nvSpPr>
        <p:spPr>
          <a:xfrm>
            <a:off x="548640" y="1737360"/>
            <a:ext cx="2491740" cy="2514600"/>
          </a:xfrm>
          <a:prstGeom prst="roundRect">
            <a:avLst>
              <a:gd name="adj" fmla="val 220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Shape 3"/>
          <p:cNvSpPr/>
          <p:nvPr/>
        </p:nvSpPr>
        <p:spPr>
          <a:xfrm>
            <a:off x="777240" y="1938528"/>
            <a:ext cx="402336" cy="402336"/>
          </a:xfrm>
          <a:prstGeom prst="ellipse">
            <a:avLst/>
          </a:prstGeom>
          <a:solidFill>
            <a:srgbClr val="0E7C86"/>
          </a:solidFill>
          <a:ln/>
        </p:spPr>
        <p:txBody>
          <a:bodyPr/>
          <a:lstStyle/>
          <a:p>
            <a:endParaRPr lang="ko-KR" altLang="en-US"/>
          </a:p>
        </p:txBody>
      </p:sp>
      <p:sp>
        <p:nvSpPr>
          <p:cNvPr id="6" name="Text 4"/>
          <p:cNvSpPr/>
          <p:nvPr/>
        </p:nvSpPr>
        <p:spPr>
          <a:xfrm>
            <a:off x="777240" y="19385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61872" y="1938528"/>
            <a:ext cx="1531620" cy="402336"/>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기술</a:t>
            </a:r>
            <a:endParaRPr lang="en-US" sz="1900" dirty="0"/>
          </a:p>
        </p:txBody>
      </p:sp>
      <p:sp>
        <p:nvSpPr>
          <p:cNvPr id="8" name="Text 6"/>
          <p:cNvSpPr/>
          <p:nvPr/>
        </p:nvSpPr>
        <p:spPr>
          <a:xfrm>
            <a:off x="777240" y="2487168"/>
            <a:ext cx="2034540" cy="146304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표면 생체전기신호(BES)로</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의도를 감지</a:t>
            </a:r>
            <a:endParaRPr lang="en-US" sz="1250" dirty="0"/>
          </a:p>
        </p:txBody>
      </p:sp>
      <p:sp>
        <p:nvSpPr>
          <p:cNvPr id="9" name="Text 7"/>
          <p:cNvSpPr/>
          <p:nvPr/>
        </p:nvSpPr>
        <p:spPr>
          <a:xfrm>
            <a:off x="3058668" y="2743200"/>
            <a:ext cx="329184" cy="457200"/>
          </a:xfrm>
          <a:prstGeom prst="rect">
            <a:avLst/>
          </a:prstGeom>
          <a:noFill/>
          <a:ln/>
        </p:spPr>
        <p:txBody>
          <a:bodyPr wrap="square" lIns="0" tIns="0" rIns="0" bIns="0" rtlCol="0" anchor="ctr"/>
          <a:lstStyle/>
          <a:p>
            <a:pPr marL="0" indent="0" algn="ctr">
              <a:buNone/>
            </a:pPr>
            <a:r>
              <a:rPr lang="en-US" sz="2200" b="1" dirty="0">
                <a:solidFill>
                  <a:srgbClr val="829AB1"/>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06140" y="1737360"/>
            <a:ext cx="2491740" cy="2514600"/>
          </a:xfrm>
          <a:prstGeom prst="roundRect">
            <a:avLst>
              <a:gd name="adj" fmla="val 220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Shape 9"/>
          <p:cNvSpPr/>
          <p:nvPr/>
        </p:nvSpPr>
        <p:spPr>
          <a:xfrm>
            <a:off x="3634740" y="1938528"/>
            <a:ext cx="402336" cy="402336"/>
          </a:xfrm>
          <a:prstGeom prst="ellipse">
            <a:avLst/>
          </a:prstGeom>
          <a:solidFill>
            <a:srgbClr val="0E7C86"/>
          </a:solidFill>
          <a:ln/>
        </p:spPr>
        <p:txBody>
          <a:bodyPr/>
          <a:lstStyle/>
          <a:p>
            <a:endParaRPr lang="ko-KR" altLang="en-US"/>
          </a:p>
        </p:txBody>
      </p:sp>
      <p:sp>
        <p:nvSpPr>
          <p:cNvPr id="12" name="Text 10"/>
          <p:cNvSpPr/>
          <p:nvPr/>
        </p:nvSpPr>
        <p:spPr>
          <a:xfrm>
            <a:off x="3634740" y="19385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119372" y="1938528"/>
            <a:ext cx="1531620" cy="402336"/>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철학</a:t>
            </a:r>
            <a:endParaRPr lang="en-US" sz="1900" dirty="0"/>
          </a:p>
        </p:txBody>
      </p:sp>
      <p:sp>
        <p:nvSpPr>
          <p:cNvPr id="14" name="Text 12"/>
          <p:cNvSpPr/>
          <p:nvPr/>
        </p:nvSpPr>
        <p:spPr>
          <a:xfrm>
            <a:off x="3634740" y="2487168"/>
            <a:ext cx="2034540" cy="146304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로봇을 '벗은 상태'의</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보행 개선을 목표로</a:t>
            </a:r>
            <a:endParaRPr lang="en-US" sz="1250" dirty="0"/>
          </a:p>
        </p:txBody>
      </p:sp>
      <p:sp>
        <p:nvSpPr>
          <p:cNvPr id="15" name="Text 13"/>
          <p:cNvSpPr/>
          <p:nvPr/>
        </p:nvSpPr>
        <p:spPr>
          <a:xfrm>
            <a:off x="5916168" y="2743200"/>
            <a:ext cx="329184" cy="457200"/>
          </a:xfrm>
          <a:prstGeom prst="rect">
            <a:avLst/>
          </a:prstGeom>
          <a:noFill/>
          <a:ln/>
        </p:spPr>
        <p:txBody>
          <a:bodyPr wrap="square" lIns="0" tIns="0" rIns="0" bIns="0" rtlCol="0" anchor="ctr"/>
          <a:lstStyle/>
          <a:p>
            <a:pPr marL="0" indent="0" algn="ctr">
              <a:buNone/>
            </a:pPr>
            <a:r>
              <a:rPr lang="en-US" sz="2200" b="1" dirty="0">
                <a:solidFill>
                  <a:srgbClr val="829AB1"/>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63640" y="1737360"/>
            <a:ext cx="2491740" cy="2514600"/>
          </a:xfrm>
          <a:prstGeom prst="roundRect">
            <a:avLst>
              <a:gd name="adj" fmla="val 2202"/>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7" name="Shape 15"/>
          <p:cNvSpPr/>
          <p:nvPr/>
        </p:nvSpPr>
        <p:spPr>
          <a:xfrm>
            <a:off x="6492240" y="1938528"/>
            <a:ext cx="402336" cy="402336"/>
          </a:xfrm>
          <a:prstGeom prst="ellipse">
            <a:avLst/>
          </a:prstGeom>
          <a:solidFill>
            <a:srgbClr val="0E7C86"/>
          </a:solidFill>
          <a:ln/>
        </p:spPr>
        <p:txBody>
          <a:bodyPr/>
          <a:lstStyle/>
          <a:p>
            <a:endParaRPr lang="ko-KR" altLang="en-US"/>
          </a:p>
        </p:txBody>
      </p:sp>
      <p:sp>
        <p:nvSpPr>
          <p:cNvPr id="18" name="Text 16"/>
          <p:cNvSpPr/>
          <p:nvPr/>
        </p:nvSpPr>
        <p:spPr>
          <a:xfrm>
            <a:off x="6492240" y="19385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76872" y="1938528"/>
            <a:ext cx="1531620" cy="402336"/>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근거</a:t>
            </a:r>
            <a:endParaRPr lang="en-US" sz="1900" dirty="0"/>
          </a:p>
        </p:txBody>
      </p:sp>
      <p:sp>
        <p:nvSpPr>
          <p:cNvPr id="20" name="Text 18"/>
          <p:cNvSpPr/>
          <p:nvPr/>
        </p:nvSpPr>
        <p:spPr>
          <a:xfrm>
            <a:off x="6492240" y="2487168"/>
            <a:ext cx="2034540" cy="146304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무작위 대조 교차시험</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2분 보행거리 +10.07%</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(p=0.0369)</a:t>
            </a:r>
            <a:endParaRPr lang="en-US" sz="1250" dirty="0"/>
          </a:p>
        </p:txBody>
      </p:sp>
      <p:sp>
        <p:nvSpPr>
          <p:cNvPr id="21" name="Text 19"/>
          <p:cNvSpPr/>
          <p:nvPr/>
        </p:nvSpPr>
        <p:spPr>
          <a:xfrm>
            <a:off x="8773668" y="2743200"/>
            <a:ext cx="329184" cy="457200"/>
          </a:xfrm>
          <a:prstGeom prst="rect">
            <a:avLst/>
          </a:prstGeom>
          <a:noFill/>
          <a:ln/>
        </p:spPr>
        <p:txBody>
          <a:bodyPr wrap="square" lIns="0" tIns="0" rIns="0" bIns="0" rtlCol="0" anchor="ctr"/>
          <a:lstStyle/>
          <a:p>
            <a:pPr marL="0" indent="0" algn="ctr">
              <a:buNone/>
            </a:pPr>
            <a:r>
              <a:rPr lang="en-US" sz="2200" b="1" dirty="0">
                <a:solidFill>
                  <a:srgbClr val="829AB1"/>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121140" y="1737360"/>
            <a:ext cx="2491740" cy="2514600"/>
          </a:xfrm>
          <a:prstGeom prst="roundRect">
            <a:avLst>
              <a:gd name="adj" fmla="val 2202"/>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23" name="Shape 21"/>
          <p:cNvSpPr/>
          <p:nvPr/>
        </p:nvSpPr>
        <p:spPr>
          <a:xfrm>
            <a:off x="9349740" y="1938528"/>
            <a:ext cx="402336" cy="402336"/>
          </a:xfrm>
          <a:prstGeom prst="ellipse">
            <a:avLst/>
          </a:prstGeom>
          <a:solidFill>
            <a:srgbClr val="E8871E"/>
          </a:solidFill>
          <a:ln/>
        </p:spPr>
        <p:txBody>
          <a:bodyPr/>
          <a:lstStyle/>
          <a:p>
            <a:endParaRPr lang="ko-KR" altLang="en-US"/>
          </a:p>
        </p:txBody>
      </p:sp>
      <p:sp>
        <p:nvSpPr>
          <p:cNvPr id="24" name="Text 22"/>
          <p:cNvSpPr/>
          <p:nvPr/>
        </p:nvSpPr>
        <p:spPr>
          <a:xfrm>
            <a:off x="9349740" y="19385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9834372" y="1938528"/>
            <a:ext cx="1531620" cy="402336"/>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수가</a:t>
            </a:r>
            <a:endParaRPr lang="en-US" sz="1900" dirty="0"/>
          </a:p>
        </p:txBody>
      </p:sp>
      <p:sp>
        <p:nvSpPr>
          <p:cNvPr id="26" name="Text 24"/>
          <p:cNvSpPr/>
          <p:nvPr/>
        </p:nvSpPr>
        <p:spPr>
          <a:xfrm>
            <a:off x="9349740" y="2487168"/>
            <a:ext cx="2034540" cy="1463040"/>
          </a:xfrm>
          <a:prstGeom prst="rect">
            <a:avLst/>
          </a:prstGeom>
          <a:noFill/>
          <a:ln/>
        </p:spPr>
        <p:txBody>
          <a:bodyPr wrap="square" lIns="0" tIns="0" rIns="0" bIns="0" rtlCol="0" anchor="ctr"/>
          <a:lstStyle/>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일본 건강보험 J118-4</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1일 1,100점</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(난치질환 900점 가산)</a:t>
            </a:r>
            <a:endParaRPr lang="en-US" sz="1250" dirty="0"/>
          </a:p>
        </p:txBody>
      </p:sp>
      <p:sp>
        <p:nvSpPr>
          <p:cNvPr id="27" name="Shape 25"/>
          <p:cNvSpPr/>
          <p:nvPr/>
        </p:nvSpPr>
        <p:spPr>
          <a:xfrm>
            <a:off x="548640" y="4480560"/>
            <a:ext cx="11064240" cy="1234440"/>
          </a:xfrm>
          <a:prstGeom prst="roundRect">
            <a:avLst>
              <a:gd name="adj" fmla="val 4444"/>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8" name="Text 26"/>
          <p:cNvSpPr/>
          <p:nvPr/>
        </p:nvSpPr>
        <p:spPr>
          <a:xfrm>
            <a:off x="914400" y="4645152"/>
            <a:ext cx="10332720" cy="868680"/>
          </a:xfrm>
          <a:prstGeom prst="rect">
            <a:avLst/>
          </a:prstGeom>
          <a:noFill/>
          <a:ln/>
        </p:spPr>
        <p:txBody>
          <a:bodyPr wrap="square" lIns="0" tIns="0" rIns="0" bIns="0" rtlCol="0" anchor="ctr"/>
          <a:lstStyle/>
          <a:p>
            <a:pPr marL="0" indent="0">
              <a:lnSpc>
                <a:spcPct val="130000"/>
              </a:lnSpc>
              <a:buNone/>
            </a:pPr>
            <a:r>
              <a:rPr lang="en-US" sz="1350" dirty="0">
                <a:solidFill>
                  <a:srgbClr val="102A43"/>
                </a:solidFill>
                <a:latin typeface="Calibri" pitchFamily="34" charset="0"/>
                <a:ea typeface="Calibri" pitchFamily="34" charset="-122"/>
                <a:cs typeface="Calibri" pitchFamily="34" charset="-120"/>
              </a:rPr>
              <a:t>급여 대상은 신경근 난치질환 8종(SMA · SBMA · ALS · CMT · 원위형 미오파티 · 봉입체근염 · 선천성 미오파티 · 근디스트로피)에 척수질환(HAM · 유전성 경성 대마비)이 추가되었습니다.</a:t>
            </a:r>
            <a:endParaRPr lang="en-US" sz="1350" dirty="0"/>
          </a:p>
        </p:txBody>
      </p:sp>
      <p:sp>
        <p:nvSpPr>
          <p:cNvPr id="29" name="Text 27"/>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医療用HAL 제품·수가 정보 (CYBERDYNE)">
                  <a:extLst>
                    <a:ext uri="{A12FA001-AC4F-418D-AE19-62706E023703}">
                      <ahyp:hlinkClr xmlns:ahyp="http://schemas.microsoft.com/office/drawing/2018/hyperlinkcolor" val="tx"/>
                    </a:ext>
                  </a:extLst>
                </a:hlinkClick>
              </a:rPr>
              <a:t>医療用HAL 제품·수가 정보 (CYBERDYNE)</a:t>
            </a:r>
            <a:r>
              <a:rPr lang="en-US" sz="900" dirty="0">
                <a:solidFill>
                  <a:srgbClr val="829AB1"/>
                </a:solidFill>
              </a:rPr>
              <a:t>   ·   </a:t>
            </a:r>
            <a:r>
              <a:rPr lang="en-US" sz="900" u="sng" dirty="0">
                <a:solidFill>
                  <a:srgbClr val="0E7C86"/>
                </a:solidFill>
                <a:hlinkClick r:id="rId4" tooltip="신경근난치질환 의사주도 치험 결과 (NCY-3001)">
                  <a:extLst>
                    <a:ext uri="{A12FA001-AC4F-418D-AE19-62706E023703}">
                      <ahyp:hlinkClr xmlns:ahyp="http://schemas.microsoft.com/office/drawing/2018/hyperlinkcolor" val="tx"/>
                    </a:ext>
                  </a:extLst>
                </a:hlinkClick>
              </a:rPr>
              <a:t>신경근난치질환 의사주도 치험 결과 (NCY-3001)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결정적 질문</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그래서 로봇 재활은 정말 효과가 있습니까?</a:t>
            </a:r>
            <a:endParaRPr lang="en-US" sz="3000" dirty="0"/>
          </a:p>
        </p:txBody>
      </p:sp>
      <p:sp>
        <p:nvSpPr>
          <p:cNvPr id="4" name="Shape 2"/>
          <p:cNvSpPr/>
          <p:nvPr/>
        </p:nvSpPr>
        <p:spPr>
          <a:xfrm>
            <a:off x="548640" y="1572768"/>
            <a:ext cx="11064240" cy="777240"/>
          </a:xfrm>
          <a:prstGeom prst="roundRect">
            <a:avLst>
              <a:gd name="adj" fmla="val 705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914400" y="1572768"/>
            <a:ext cx="10332720" cy="7772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코크란 리뷰 2025년 갱신판  ·  뇌졸중 RCT 101편, 4,224명</a:t>
            </a:r>
            <a:endParaRPr lang="en-US" sz="1600" dirty="0"/>
          </a:p>
        </p:txBody>
      </p:sp>
      <p:sp>
        <p:nvSpPr>
          <p:cNvPr id="6" name="Shape 4"/>
          <p:cNvSpPr/>
          <p:nvPr/>
        </p:nvSpPr>
        <p:spPr>
          <a:xfrm>
            <a:off x="548640" y="2606040"/>
            <a:ext cx="3352830" cy="2057400"/>
          </a:xfrm>
          <a:prstGeom prst="roundRect">
            <a:avLst>
              <a:gd name="adj" fmla="val 2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7" name="Text 5"/>
          <p:cNvSpPr/>
          <p:nvPr/>
        </p:nvSpPr>
        <p:spPr>
          <a:xfrm>
            <a:off x="804672" y="2788920"/>
            <a:ext cx="2840766" cy="685800"/>
          </a:xfrm>
          <a:prstGeom prst="rect">
            <a:avLst/>
          </a:prstGeom>
          <a:noFill/>
          <a:ln/>
        </p:spPr>
        <p:txBody>
          <a:bodyPr wrap="square" lIns="0" tIns="0" rIns="0" bIns="0" rtlCol="0" anchor="ctr"/>
          <a:lstStyle/>
          <a:p>
            <a:pPr marL="0" indent="0">
              <a:buNone/>
            </a:pPr>
            <a:r>
              <a:rPr lang="en-US" sz="3400" b="1" dirty="0">
                <a:solidFill>
                  <a:srgbClr val="0E7C86"/>
                </a:solidFill>
                <a:latin typeface="Cambria" pitchFamily="34" charset="0"/>
                <a:ea typeface="Cambria" pitchFamily="34" charset="-122"/>
                <a:cs typeface="Cambria" pitchFamily="34" charset="-120"/>
              </a:rPr>
              <a:t>OR 1.65</a:t>
            </a:r>
            <a:endParaRPr lang="en-US" sz="3400" dirty="0"/>
          </a:p>
        </p:txBody>
      </p:sp>
      <p:sp>
        <p:nvSpPr>
          <p:cNvPr id="8" name="Text 6"/>
          <p:cNvSpPr/>
          <p:nvPr/>
        </p:nvSpPr>
        <p:spPr>
          <a:xfrm>
            <a:off x="804672" y="3520440"/>
            <a:ext cx="2840766" cy="548640"/>
          </a:xfrm>
          <a:prstGeom prst="rect">
            <a:avLst/>
          </a:prstGeom>
          <a:noFill/>
          <a:ln/>
        </p:spPr>
        <p:txBody>
          <a:bodyPr wrap="square" lIns="0" tIns="0" rIns="0" bIns="0" rtlCol="0" anchor="ctr"/>
          <a:lstStyle/>
          <a:p>
            <a:pPr marL="0" indent="0">
              <a:lnSpc>
                <a:spcPct val="120000"/>
              </a:lnSpc>
              <a:buNone/>
            </a:pPr>
            <a:r>
              <a:rPr lang="en-US" sz="1400" b="1" dirty="0">
                <a:solidFill>
                  <a:srgbClr val="102A43"/>
                </a:solidFill>
                <a:latin typeface="Calibri" pitchFamily="34" charset="0"/>
                <a:ea typeface="Calibri" pitchFamily="34" charset="-122"/>
                <a:cs typeface="Calibri" pitchFamily="34" charset="-120"/>
              </a:rPr>
              <a:t>독립보행 달성 가능성을 높인다</a:t>
            </a:r>
            <a:endParaRPr lang="en-US" sz="1400" dirty="0"/>
          </a:p>
        </p:txBody>
      </p:sp>
      <p:sp>
        <p:nvSpPr>
          <p:cNvPr id="9" name="Text 7"/>
          <p:cNvSpPr/>
          <p:nvPr/>
        </p:nvSpPr>
        <p:spPr>
          <a:xfrm>
            <a:off x="804672" y="4133088"/>
            <a:ext cx="2840766" cy="365760"/>
          </a:xfrm>
          <a:prstGeom prst="rect">
            <a:avLst/>
          </a:prstGeom>
          <a:noFill/>
          <a:ln/>
        </p:spPr>
        <p:txBody>
          <a:bodyPr wrap="square" lIns="0" tIns="0" rIns="0" bIns="0" rtlCol="0" anchor="ctr"/>
          <a:lstStyle/>
          <a:p>
            <a:pPr marL="0" indent="0">
              <a:buNone/>
            </a:pPr>
            <a:r>
              <a:rPr lang="en-US" sz="1150" dirty="0">
                <a:solidFill>
                  <a:srgbClr val="52606D"/>
                </a:solidFill>
                <a:latin typeface="Calibri" pitchFamily="34" charset="0"/>
                <a:ea typeface="Calibri" pitchFamily="34" charset="-122"/>
                <a:cs typeface="Calibri" pitchFamily="34" charset="-120"/>
              </a:rPr>
              <a:t>근거 확실성 중등도 · NNT 9</a:t>
            </a:r>
            <a:endParaRPr lang="en-US" sz="1150" dirty="0"/>
          </a:p>
        </p:txBody>
      </p:sp>
      <p:sp>
        <p:nvSpPr>
          <p:cNvPr id="10" name="Shape 8"/>
          <p:cNvSpPr/>
          <p:nvPr/>
        </p:nvSpPr>
        <p:spPr>
          <a:xfrm>
            <a:off x="4404390" y="2606040"/>
            <a:ext cx="3352830" cy="2057400"/>
          </a:xfrm>
          <a:prstGeom prst="roundRect">
            <a:avLst>
              <a:gd name="adj" fmla="val 2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4660422" y="2788920"/>
            <a:ext cx="2840766" cy="685800"/>
          </a:xfrm>
          <a:prstGeom prst="rect">
            <a:avLst/>
          </a:prstGeom>
          <a:noFill/>
          <a:ln/>
        </p:spPr>
        <p:txBody>
          <a:bodyPr wrap="square" lIns="0" tIns="0" rIns="0" bIns="0" rtlCol="0" anchor="ctr"/>
          <a:lstStyle/>
          <a:p>
            <a:pPr marL="0" indent="0">
              <a:buNone/>
            </a:pPr>
            <a:r>
              <a:rPr lang="en-US" sz="3400" b="1" dirty="0">
                <a:solidFill>
                  <a:srgbClr val="9B2226"/>
                </a:solidFill>
                <a:latin typeface="Cambria" pitchFamily="34" charset="0"/>
                <a:ea typeface="Cambria" pitchFamily="34" charset="-122"/>
                <a:cs typeface="Cambria" pitchFamily="34" charset="-120"/>
              </a:rPr>
              <a:t>+0.05 m/s</a:t>
            </a:r>
            <a:endParaRPr lang="en-US" sz="3400" dirty="0"/>
          </a:p>
        </p:txBody>
      </p:sp>
      <p:sp>
        <p:nvSpPr>
          <p:cNvPr id="12" name="Text 10"/>
          <p:cNvSpPr/>
          <p:nvPr/>
        </p:nvSpPr>
        <p:spPr>
          <a:xfrm>
            <a:off x="4660422" y="3520440"/>
            <a:ext cx="2840766" cy="548640"/>
          </a:xfrm>
          <a:prstGeom prst="rect">
            <a:avLst/>
          </a:prstGeom>
          <a:noFill/>
          <a:ln/>
        </p:spPr>
        <p:txBody>
          <a:bodyPr wrap="square" lIns="0" tIns="0" rIns="0" bIns="0" rtlCol="0" anchor="ctr"/>
          <a:lstStyle/>
          <a:p>
            <a:pPr marL="0" indent="0">
              <a:lnSpc>
                <a:spcPct val="120000"/>
              </a:lnSpc>
              <a:buNone/>
            </a:pPr>
            <a:r>
              <a:rPr lang="en-US" sz="1400" b="1" dirty="0">
                <a:solidFill>
                  <a:srgbClr val="102A43"/>
                </a:solidFill>
                <a:latin typeface="Calibri" pitchFamily="34" charset="0"/>
                <a:ea typeface="Calibri" pitchFamily="34" charset="-122"/>
                <a:cs typeface="Calibri" pitchFamily="34" charset="-120"/>
              </a:rPr>
              <a:t>보행 속도는 의미 있게 개선 못 함</a:t>
            </a:r>
            <a:endParaRPr lang="en-US" sz="1400" dirty="0"/>
          </a:p>
        </p:txBody>
      </p:sp>
      <p:sp>
        <p:nvSpPr>
          <p:cNvPr id="13" name="Text 11"/>
          <p:cNvSpPr/>
          <p:nvPr/>
        </p:nvSpPr>
        <p:spPr>
          <a:xfrm>
            <a:off x="4660422" y="4133088"/>
            <a:ext cx="2840766" cy="365760"/>
          </a:xfrm>
          <a:prstGeom prst="rect">
            <a:avLst/>
          </a:prstGeom>
          <a:noFill/>
          <a:ln/>
        </p:spPr>
        <p:txBody>
          <a:bodyPr wrap="square" lIns="0" tIns="0" rIns="0" bIns="0" rtlCol="0" anchor="ctr"/>
          <a:lstStyle/>
          <a:p>
            <a:pPr marL="0" indent="0">
              <a:buNone/>
            </a:pPr>
            <a:r>
              <a:rPr lang="en-US" sz="1150" dirty="0">
                <a:solidFill>
                  <a:srgbClr val="52606D"/>
                </a:solidFill>
                <a:latin typeface="Calibri" pitchFamily="34" charset="0"/>
                <a:ea typeface="Calibri" pitchFamily="34" charset="-122"/>
                <a:cs typeface="Calibri" pitchFamily="34" charset="-120"/>
              </a:rPr>
              <a:t>개선폭이 임상적으로 미미</a:t>
            </a:r>
            <a:endParaRPr lang="en-US" sz="1150" dirty="0"/>
          </a:p>
        </p:txBody>
      </p:sp>
      <p:sp>
        <p:nvSpPr>
          <p:cNvPr id="14" name="Shape 12"/>
          <p:cNvSpPr/>
          <p:nvPr/>
        </p:nvSpPr>
        <p:spPr>
          <a:xfrm>
            <a:off x="8260141" y="2606040"/>
            <a:ext cx="3352830" cy="2057400"/>
          </a:xfrm>
          <a:prstGeom prst="roundRect">
            <a:avLst>
              <a:gd name="adj" fmla="val 2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8516173" y="2788920"/>
            <a:ext cx="2840766" cy="685800"/>
          </a:xfrm>
          <a:prstGeom prst="rect">
            <a:avLst/>
          </a:prstGeom>
          <a:noFill/>
          <a:ln/>
        </p:spPr>
        <p:txBody>
          <a:bodyPr wrap="square" lIns="0" tIns="0" rIns="0" bIns="0" rtlCol="0" anchor="ctr"/>
          <a:lstStyle/>
          <a:p>
            <a:pPr marL="0" indent="0">
              <a:buNone/>
            </a:pPr>
            <a:r>
              <a:rPr lang="en-US" sz="3400" b="1" dirty="0">
                <a:solidFill>
                  <a:srgbClr val="9B2226"/>
                </a:solidFill>
                <a:latin typeface="Cambria" pitchFamily="34" charset="0"/>
                <a:ea typeface="Cambria" pitchFamily="34" charset="-122"/>
                <a:cs typeface="Cambria" pitchFamily="34" charset="-120"/>
              </a:rPr>
              <a:t>차이 없음</a:t>
            </a:r>
            <a:endParaRPr lang="en-US" sz="3400" dirty="0"/>
          </a:p>
        </p:txBody>
      </p:sp>
      <p:sp>
        <p:nvSpPr>
          <p:cNvPr id="16" name="Text 14"/>
          <p:cNvSpPr/>
          <p:nvPr/>
        </p:nvSpPr>
        <p:spPr>
          <a:xfrm>
            <a:off x="8516173" y="3520440"/>
            <a:ext cx="2840766" cy="548640"/>
          </a:xfrm>
          <a:prstGeom prst="rect">
            <a:avLst/>
          </a:prstGeom>
          <a:noFill/>
          <a:ln/>
        </p:spPr>
        <p:txBody>
          <a:bodyPr wrap="square" lIns="0" tIns="0" rIns="0" bIns="0" rtlCol="0" anchor="ctr"/>
          <a:lstStyle/>
          <a:p>
            <a:pPr marL="0" indent="0">
              <a:lnSpc>
                <a:spcPct val="120000"/>
              </a:lnSpc>
              <a:buNone/>
            </a:pPr>
            <a:r>
              <a:rPr lang="en-US" sz="1400" b="1" dirty="0">
                <a:solidFill>
                  <a:srgbClr val="102A43"/>
                </a:solidFill>
                <a:latin typeface="Calibri" pitchFamily="34" charset="0"/>
                <a:ea typeface="Calibri" pitchFamily="34" charset="-122"/>
                <a:cs typeface="Calibri" pitchFamily="34" charset="-120"/>
              </a:rPr>
              <a:t>6분 보행거리(지구력)도 증가 없음</a:t>
            </a:r>
            <a:endParaRPr lang="en-US" sz="1400" dirty="0"/>
          </a:p>
        </p:txBody>
      </p:sp>
      <p:sp>
        <p:nvSpPr>
          <p:cNvPr id="17" name="Text 15"/>
          <p:cNvSpPr/>
          <p:nvPr/>
        </p:nvSpPr>
        <p:spPr>
          <a:xfrm>
            <a:off x="8516173" y="4133088"/>
            <a:ext cx="2840766" cy="365760"/>
          </a:xfrm>
          <a:prstGeom prst="rect">
            <a:avLst/>
          </a:prstGeom>
          <a:noFill/>
          <a:ln/>
        </p:spPr>
        <p:txBody>
          <a:bodyPr wrap="square" lIns="0" tIns="0" rIns="0" bIns="0" rtlCol="0" anchor="ctr"/>
          <a:lstStyle/>
          <a:p>
            <a:pPr marL="0" indent="0">
              <a:buNone/>
            </a:pPr>
            <a:r>
              <a:rPr lang="en-US" sz="1150" dirty="0">
                <a:solidFill>
                  <a:srgbClr val="52606D"/>
                </a:solidFill>
                <a:latin typeface="Calibri" pitchFamily="34" charset="0"/>
                <a:ea typeface="Calibri" pitchFamily="34" charset="-122"/>
                <a:cs typeface="Calibri" pitchFamily="34" charset="-120"/>
              </a:rPr>
              <a:t>중등도~높은 확실성</a:t>
            </a:r>
            <a:endParaRPr lang="en-US" sz="1150" dirty="0"/>
          </a:p>
        </p:txBody>
      </p:sp>
      <p:sp>
        <p:nvSpPr>
          <p:cNvPr id="18" name="Shape 16"/>
          <p:cNvSpPr/>
          <p:nvPr/>
        </p:nvSpPr>
        <p:spPr>
          <a:xfrm>
            <a:off x="548640" y="4892040"/>
            <a:ext cx="11064240" cy="914400"/>
          </a:xfrm>
          <a:prstGeom prst="roundRect">
            <a:avLst>
              <a:gd name="adj" fmla="val 600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9" name="Text 17"/>
          <p:cNvSpPr/>
          <p:nvPr/>
        </p:nvSpPr>
        <p:spPr>
          <a:xfrm>
            <a:off x="914400" y="4892040"/>
            <a:ext cx="10332720" cy="914400"/>
          </a:xfrm>
          <a:prstGeom prst="rect">
            <a:avLst/>
          </a:prstGeom>
          <a:noFill/>
          <a:ln/>
        </p:spPr>
        <p:txBody>
          <a:bodyPr wrap="square" lIns="0" tIns="0" rIns="0" bIns="0" rtlCol="0" anchor="ctr"/>
          <a:lstStyle/>
          <a:p>
            <a:pPr marL="0" indent="0">
              <a:buNone/>
            </a:pPr>
            <a:r>
              <a:rPr lang="en-US" sz="1400" dirty="0">
                <a:solidFill>
                  <a:srgbClr val="102A43"/>
                </a:solidFill>
                <a:latin typeface="Calibri" pitchFamily="34" charset="0"/>
                <a:ea typeface="Calibri" pitchFamily="34" charset="-122"/>
                <a:cs typeface="Calibri" pitchFamily="34" charset="-120"/>
              </a:rPr>
              <a:t>NNT 9 — 9명을 치료하면 그중 1명이 보행 의존을 면합니다. 안전성은 문제없음(확실성 높음). 단, 중재 종료 후 효과는 감소합니다.</a:t>
            </a:r>
            <a:endParaRPr lang="en-US" sz="1400" dirty="0"/>
          </a:p>
        </p:txBody>
      </p:sp>
      <p:sp>
        <p:nvSpPr>
          <p:cNvPr id="20" name="Text 18"/>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Cochrane 2025 — Electromechanical-assisted training for walking after stroke">
                  <a:extLst>
                    <a:ext uri="{A12FA001-AC4F-418D-AE19-62706E023703}">
                      <ahyp:hlinkClr xmlns:ahyp="http://schemas.microsoft.com/office/drawing/2018/hyperlinkcolor" val="tx"/>
                    </a:ext>
                  </a:extLst>
                </a:hlinkClick>
              </a:rPr>
              <a:t>Cochrane 2025 — Electromechanical-assisted training for walking after stroke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근거는 그대로 돈이 된다</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미국 민간보험 다수는 아직 '연구단계'입니다</a:t>
            </a:r>
            <a:endParaRPr lang="en-US" sz="3000" dirty="0"/>
          </a:p>
        </p:txBody>
      </p:sp>
      <p:sp>
        <p:nvSpPr>
          <p:cNvPr id="4" name="Shape 2"/>
          <p:cNvSpPr/>
          <p:nvPr/>
        </p:nvSpPr>
        <p:spPr>
          <a:xfrm>
            <a:off x="548640" y="1691640"/>
            <a:ext cx="5349240" cy="2103120"/>
          </a:xfrm>
          <a:prstGeom prst="roundRect">
            <a:avLst>
              <a:gd name="adj" fmla="val 260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41248" y="1874520"/>
            <a:ext cx="4754880" cy="292608"/>
          </a:xfrm>
          <a:prstGeom prst="rect">
            <a:avLst/>
          </a:prstGeom>
          <a:noFill/>
          <a:ln/>
        </p:spPr>
        <p:txBody>
          <a:bodyPr wrap="square" lIns="0" tIns="0" rIns="0" bIns="0" rtlCol="0" anchor="ctr"/>
          <a:lstStyle/>
          <a:p>
            <a:pPr marL="0" indent="0">
              <a:buNone/>
            </a:pPr>
            <a:r>
              <a:rPr lang="en-US" sz="1200" b="1" kern="0" spc="80" dirty="0">
                <a:solidFill>
                  <a:srgbClr val="0E7C86"/>
                </a:solidFill>
                <a:latin typeface="Calibri" pitchFamily="34" charset="0"/>
                <a:ea typeface="Calibri" pitchFamily="34" charset="-122"/>
                <a:cs typeface="Calibri" pitchFamily="34" charset="-120"/>
              </a:rPr>
              <a:t>척수손상 메타분석 (2025)</a:t>
            </a:r>
            <a:endParaRPr lang="en-US" sz="1200" dirty="0"/>
          </a:p>
        </p:txBody>
      </p:sp>
      <p:sp>
        <p:nvSpPr>
          <p:cNvPr id="6" name="Text 4"/>
          <p:cNvSpPr/>
          <p:nvPr/>
        </p:nvSpPr>
        <p:spPr>
          <a:xfrm>
            <a:off x="841248" y="2194560"/>
            <a:ext cx="4754880" cy="384048"/>
          </a:xfrm>
          <a:prstGeom prst="rect">
            <a:avLst/>
          </a:prstGeom>
          <a:noFill/>
          <a:ln/>
        </p:spPr>
        <p:txBody>
          <a:bodyPr wrap="square" lIns="0" tIns="0" rIns="0" bIns="0" rtlCol="0" anchor="ctr"/>
          <a:lstStyle/>
          <a:p>
            <a:pPr marL="0" indent="0">
              <a:buNone/>
            </a:pPr>
            <a:r>
              <a:rPr lang="en-US" sz="2200" b="1" dirty="0">
                <a:solidFill>
                  <a:srgbClr val="102A43"/>
                </a:solidFill>
                <a:latin typeface="Cambria" pitchFamily="34" charset="0"/>
                <a:ea typeface="Cambria" pitchFamily="34" charset="-122"/>
                <a:cs typeface="Cambria" pitchFamily="34" charset="-120"/>
              </a:rPr>
              <a:t>RCT 15편 · 579명</a:t>
            </a:r>
            <a:endParaRPr lang="en-US" sz="2200" dirty="0"/>
          </a:p>
        </p:txBody>
      </p:sp>
      <p:sp>
        <p:nvSpPr>
          <p:cNvPr id="7" name="Text 5"/>
          <p:cNvSpPr/>
          <p:nvPr/>
        </p:nvSpPr>
        <p:spPr>
          <a:xfrm>
            <a:off x="841248" y="2697480"/>
            <a:ext cx="4754880" cy="914400"/>
          </a:xfrm>
          <a:prstGeom prst="rect">
            <a:avLst/>
          </a:prstGeom>
          <a:noFill/>
          <a:ln/>
        </p:spPr>
        <p:txBody>
          <a:bodyPr wrap="square" lIns="0" tIns="0" rIns="0" bIns="0" rtlCol="0" anchor="ctr"/>
          <a:lstStyle/>
          <a:p>
            <a:pPr marL="0" indent="0">
              <a:lnSpc>
                <a:spcPct val="135000"/>
              </a:lnSpc>
              <a:buNone/>
            </a:pPr>
            <a:r>
              <a:rPr lang="en-US" sz="1250" dirty="0">
                <a:solidFill>
                  <a:srgbClr val="52606D"/>
                </a:solidFill>
                <a:latin typeface="Calibri" pitchFamily="34" charset="0"/>
                <a:ea typeface="Calibri" pitchFamily="34" charset="-122"/>
                <a:cs typeface="Calibri" pitchFamily="34" charset="-120"/>
              </a:rPr>
              <a:t>10m 보행속도 · 6분 보행거리 → 통상 물리치료와 동등</a:t>
            </a:r>
            <a:endParaRPr lang="en-US" sz="1250" dirty="0"/>
          </a:p>
          <a:p>
            <a:pPr marL="0" indent="0">
              <a:lnSpc>
                <a:spcPct val="135000"/>
              </a:lnSpc>
              <a:buNone/>
            </a:pPr>
            <a:r>
              <a:rPr lang="en-US" sz="1250" dirty="0">
                <a:solidFill>
                  <a:srgbClr val="52606D"/>
                </a:solidFill>
                <a:latin typeface="Calibri" pitchFamily="34" charset="0"/>
                <a:ea typeface="Calibri" pitchFamily="34" charset="-122"/>
                <a:cs typeface="Calibri" pitchFamily="34" charset="-120"/>
              </a:rPr>
              <a:t>균형(TUG) · 하지근력 · 호흡기능 → 개선 (GRADE 낮음)</a:t>
            </a:r>
            <a:endParaRPr lang="en-US" sz="1250" dirty="0"/>
          </a:p>
        </p:txBody>
      </p:sp>
      <p:sp>
        <p:nvSpPr>
          <p:cNvPr id="8" name="Shape 6"/>
          <p:cNvSpPr/>
          <p:nvPr/>
        </p:nvSpPr>
        <p:spPr>
          <a:xfrm>
            <a:off x="6263640" y="1691640"/>
            <a:ext cx="5349240" cy="2103120"/>
          </a:xfrm>
          <a:prstGeom prst="roundRect">
            <a:avLst>
              <a:gd name="adj" fmla="val 260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556248" y="1874520"/>
            <a:ext cx="4754880" cy="292608"/>
          </a:xfrm>
          <a:prstGeom prst="rect">
            <a:avLst/>
          </a:prstGeom>
          <a:noFill/>
          <a:ln/>
        </p:spPr>
        <p:txBody>
          <a:bodyPr wrap="square" lIns="0" tIns="0" rIns="0" bIns="0" rtlCol="0" anchor="ctr"/>
          <a:lstStyle/>
          <a:p>
            <a:pPr marL="0" indent="0">
              <a:buNone/>
            </a:pPr>
            <a:r>
              <a:rPr lang="en-US" sz="1200" b="1" kern="0" spc="80" dirty="0">
                <a:solidFill>
                  <a:srgbClr val="8FC7CE"/>
                </a:solidFill>
                <a:latin typeface="Calibri" pitchFamily="34" charset="0"/>
                <a:ea typeface="Calibri" pitchFamily="34" charset="-122"/>
                <a:cs typeface="Calibri" pitchFamily="34" charset="-120"/>
              </a:rPr>
              <a:t>미국 민간보험 급여 정책</a:t>
            </a:r>
            <a:endParaRPr lang="en-US" sz="1200" dirty="0"/>
          </a:p>
        </p:txBody>
      </p:sp>
      <p:sp>
        <p:nvSpPr>
          <p:cNvPr id="10" name="Text 8"/>
          <p:cNvSpPr/>
          <p:nvPr/>
        </p:nvSpPr>
        <p:spPr>
          <a:xfrm>
            <a:off x="6556248" y="2194560"/>
            <a:ext cx="4754880" cy="384048"/>
          </a:xfrm>
          <a:prstGeom prst="rect">
            <a:avLst/>
          </a:prstGeom>
          <a:noFill/>
          <a:ln/>
        </p:spPr>
        <p:txBody>
          <a:bodyPr wrap="square" lIns="0" tIns="0" rIns="0" bIns="0" rtlCol="0" anchor="ctr"/>
          <a:lstStyle/>
          <a:p>
            <a:pPr marL="0" indent="0">
              <a:buNone/>
            </a:pPr>
            <a:r>
              <a:rPr lang="en-US" sz="2200" b="1" dirty="0">
                <a:solidFill>
                  <a:srgbClr val="E8871E"/>
                </a:solidFill>
                <a:latin typeface="Cambria" pitchFamily="34" charset="0"/>
                <a:ea typeface="Cambria" pitchFamily="34" charset="-122"/>
                <a:cs typeface="Cambria" pitchFamily="34" charset="-120"/>
              </a:rPr>
              <a:t>Investigational</a:t>
            </a:r>
            <a:endParaRPr lang="en-US" sz="2200" dirty="0"/>
          </a:p>
        </p:txBody>
      </p:sp>
      <p:sp>
        <p:nvSpPr>
          <p:cNvPr id="11" name="Text 9"/>
          <p:cNvSpPr/>
          <p:nvPr/>
        </p:nvSpPr>
        <p:spPr>
          <a:xfrm>
            <a:off x="6556248" y="2697480"/>
            <a:ext cx="4754880" cy="914400"/>
          </a:xfrm>
          <a:prstGeom prst="rect">
            <a:avLst/>
          </a:prstGeom>
          <a:noFill/>
          <a:ln/>
        </p:spPr>
        <p:txBody>
          <a:bodyPr wrap="square" lIns="0" tIns="0" rIns="0" bIns="0" rtlCol="0" anchor="ctr"/>
          <a:lstStyle/>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판정 이유로 명시된 것:</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"결과지표의 이질성으로 일반적 결론 도출 불가"</a:t>
            </a:r>
            <a:endParaRPr lang="en-US" sz="1250" dirty="0"/>
          </a:p>
          <a:p>
            <a:pPr marL="0" indent="0">
              <a:lnSpc>
                <a:spcPct val="130000"/>
              </a:lnSpc>
              <a:buNone/>
            </a:pPr>
            <a:r>
              <a:rPr lang="en-US" sz="1250" dirty="0">
                <a:solidFill>
                  <a:srgbClr val="8FC7CE"/>
                </a:solidFill>
                <a:latin typeface="Calibri" pitchFamily="34" charset="0"/>
                <a:ea typeface="Calibri" pitchFamily="34" charset="-122"/>
                <a:cs typeface="Calibri" pitchFamily="34" charset="-120"/>
              </a:rPr>
              <a:t>"순 건강결과 개선 근거 불충분"</a:t>
            </a:r>
            <a:endParaRPr lang="en-US" sz="1250" dirty="0"/>
          </a:p>
        </p:txBody>
      </p:sp>
      <p:sp>
        <p:nvSpPr>
          <p:cNvPr id="12" name="Shape 10"/>
          <p:cNvSpPr/>
          <p:nvPr/>
        </p:nvSpPr>
        <p:spPr>
          <a:xfrm>
            <a:off x="548640" y="4023360"/>
            <a:ext cx="11064240" cy="1691640"/>
          </a:xfrm>
          <a:prstGeom prst="roundRect">
            <a:avLst>
              <a:gd name="adj" fmla="val 3243"/>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1005840" y="4206240"/>
            <a:ext cx="10149840" cy="274320"/>
          </a:xfrm>
          <a:prstGeom prst="rect">
            <a:avLst/>
          </a:prstGeom>
          <a:noFill/>
          <a:ln/>
        </p:spPr>
        <p:txBody>
          <a:bodyPr wrap="square" lIns="0" tIns="0" rIns="0" bIns="0" rtlCol="0" anchor="ctr"/>
          <a:lstStyle/>
          <a:p>
            <a:pPr marL="0" indent="0">
              <a:buNone/>
            </a:pPr>
            <a:endParaRPr lang="en-US" sz="1200" dirty="0"/>
          </a:p>
        </p:txBody>
      </p:sp>
      <p:sp>
        <p:nvSpPr>
          <p:cNvPr id="14" name="Text 12"/>
          <p:cNvSpPr/>
          <p:nvPr/>
        </p:nvSpPr>
        <p:spPr>
          <a:xfrm>
            <a:off x="1005840" y="4526280"/>
            <a:ext cx="10149840" cy="1005840"/>
          </a:xfrm>
          <a:prstGeom prst="rect">
            <a:avLst/>
          </a:prstGeom>
          <a:noFill/>
          <a:ln/>
        </p:spPr>
        <p:txBody>
          <a:bodyPr wrap="square" lIns="0" tIns="0" rIns="0" bIns="0" rtlCol="0" anchor="ctr"/>
          <a:lstStyle/>
          <a:p>
            <a:pPr marL="0" indent="0">
              <a:lnSpc>
                <a:spcPct val="130000"/>
              </a:lnSpc>
              <a:buNone/>
            </a:pPr>
            <a:r>
              <a:rPr lang="en-US" sz="1900" b="1" dirty="0">
                <a:solidFill>
                  <a:srgbClr val="FFFFFF"/>
                </a:solidFill>
                <a:latin typeface="Cambria" pitchFamily="34" charset="0"/>
                <a:ea typeface="Cambria" pitchFamily="34" charset="-122"/>
                <a:cs typeface="Cambria" pitchFamily="34" charset="-120"/>
              </a:rPr>
              <a:t>"로봇이 사람을 걷게 만드는 건 이미 됩니다.</a:t>
            </a:r>
            <a:endParaRPr lang="en-US" sz="1900" dirty="0"/>
          </a:p>
          <a:p>
            <a:pPr marL="0" indent="0">
              <a:lnSpc>
                <a:spcPct val="130000"/>
              </a:lnSpc>
              <a:buNone/>
            </a:pPr>
            <a:r>
              <a:rPr lang="en-US" sz="1900" b="1" dirty="0">
                <a:solidFill>
                  <a:srgbClr val="FFFFFF"/>
                </a:solidFill>
                <a:latin typeface="Cambria" pitchFamily="34" charset="0"/>
                <a:ea typeface="Cambria" pitchFamily="34" charset="-122"/>
                <a:cs typeface="Cambria" pitchFamily="34" charset="-120"/>
              </a:rPr>
              <a:t>어려운 건 '그래서 이 사람이 더 나아졌다'를 데이터로 증명하는 일입니다."</a:t>
            </a:r>
            <a:endParaRPr lang="en-US" sz="1900" dirty="0"/>
          </a:p>
        </p:txBody>
      </p:sp>
      <p:sp>
        <p:nvSpPr>
          <p:cNvPr id="15" name="Text 13"/>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SCI 로봇 외골격 vs 통상 보행훈련 메타분석 (JNER 2025)">
                  <a:extLst>
                    <a:ext uri="{A12FA001-AC4F-418D-AE19-62706E023703}">
                      <ahyp:hlinkClr xmlns:ahyp="http://schemas.microsoft.com/office/drawing/2018/hyperlinkcolor" val="tx"/>
                    </a:ext>
                  </a:extLst>
                </a:hlinkClick>
              </a:rPr>
              <a:t>SCI 로봇 외골격 vs 통상 보행훈련 메타분석 (JNER 2025)</a:t>
            </a:r>
            <a:r>
              <a:rPr lang="en-US" sz="900" dirty="0">
                <a:solidFill>
                  <a:srgbClr val="829AB1"/>
                </a:solidFill>
              </a:rPr>
              <a:t>   ·   </a:t>
            </a:r>
            <a:r>
              <a:rPr lang="en-US" sz="900" u="sng" dirty="0">
                <a:solidFill>
                  <a:srgbClr val="0E7C86"/>
                </a:solidFill>
                <a:hlinkClick r:id="rId4" tooltip="미국 민간보험 Powered Exoskeleton 급여정책">
                  <a:extLst>
                    <a:ext uri="{A12FA001-AC4F-418D-AE19-62706E023703}">
                      <ahyp:hlinkClr xmlns:ahyp="http://schemas.microsoft.com/office/drawing/2018/hyperlinkcolor" val="tx"/>
                    </a:ext>
                  </a:extLst>
                </a:hlinkClick>
              </a:rPr>
              <a:t>미국 민간보험 Powered Exoskeleton 급여정책</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3-1 · 이 발표의 논지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증명이 안 되면 환자에게 도달하지 못한다</a:t>
            </a:r>
            <a:endParaRPr lang="en-US" sz="3000" dirty="0"/>
          </a:p>
        </p:txBody>
      </p:sp>
      <p:sp>
        <p:nvSpPr>
          <p:cNvPr id="4" name="Shape 2"/>
          <p:cNvSpPr/>
          <p:nvPr/>
        </p:nvSpPr>
        <p:spPr>
          <a:xfrm>
            <a:off x="548640" y="2240280"/>
            <a:ext cx="2048256" cy="1371600"/>
          </a:xfrm>
          <a:prstGeom prst="roundRect">
            <a:avLst>
              <a:gd name="adj" fmla="val 4000"/>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685800" y="2240280"/>
            <a:ext cx="1773936" cy="13716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측정과 전처리</a:t>
            </a:r>
            <a:endParaRPr lang="en-US" sz="1700" dirty="0"/>
          </a:p>
        </p:txBody>
      </p:sp>
      <p:sp>
        <p:nvSpPr>
          <p:cNvPr id="6" name="Text 4"/>
          <p:cNvSpPr/>
          <p:nvPr/>
        </p:nvSpPr>
        <p:spPr>
          <a:xfrm>
            <a:off x="2596896" y="2697480"/>
            <a:ext cx="182880" cy="457200"/>
          </a:xfrm>
          <a:prstGeom prst="rect">
            <a:avLst/>
          </a:prstGeom>
          <a:noFill/>
          <a:ln/>
        </p:spPr>
        <p:txBody>
          <a:bodyPr wrap="square" lIns="0" tIns="0" rIns="0" bIns="0" rtlCol="0" anchor="ctr"/>
          <a:lstStyle/>
          <a:p>
            <a:pPr marL="0" indent="0" algn="ctr">
              <a:buNone/>
            </a:pPr>
            <a:r>
              <a:rPr lang="en-US" sz="1600" b="1" dirty="0">
                <a:solidFill>
                  <a:srgbClr val="829AB1"/>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779776" y="2240280"/>
            <a:ext cx="2048256"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2916936" y="2240280"/>
            <a:ext cx="1773936" cy="1371600"/>
          </a:xfrm>
          <a:prstGeom prst="rect">
            <a:avLst/>
          </a:prstGeom>
          <a:noFill/>
          <a:ln/>
        </p:spPr>
        <p:txBody>
          <a:bodyPr wrap="square" lIns="0" tIns="0" rIns="0" bIns="0" rtlCol="0" anchor="ctr"/>
          <a:lstStyle/>
          <a:p>
            <a:pPr marL="0" indent="0" algn="ctr">
              <a:buNone/>
            </a:pPr>
            <a:r>
              <a:rPr lang="en-US" sz="1600" b="1" dirty="0">
                <a:solidFill>
                  <a:srgbClr val="102A43"/>
                </a:solidFill>
                <a:latin typeface="Cambria" pitchFamily="34" charset="0"/>
                <a:ea typeface="Cambria" pitchFamily="34" charset="-122"/>
                <a:cs typeface="Cambria" pitchFamily="34" charset="-120"/>
              </a:rPr>
              <a:t>임상 근거</a:t>
            </a:r>
            <a:endParaRPr lang="en-US" sz="1600" dirty="0"/>
          </a:p>
        </p:txBody>
      </p:sp>
      <p:sp>
        <p:nvSpPr>
          <p:cNvPr id="9" name="Text 7"/>
          <p:cNvSpPr/>
          <p:nvPr/>
        </p:nvSpPr>
        <p:spPr>
          <a:xfrm>
            <a:off x="4828032" y="2697480"/>
            <a:ext cx="182880" cy="457200"/>
          </a:xfrm>
          <a:prstGeom prst="rect">
            <a:avLst/>
          </a:prstGeom>
          <a:noFill/>
          <a:ln/>
        </p:spPr>
        <p:txBody>
          <a:bodyPr wrap="square" lIns="0" tIns="0" rIns="0" bIns="0" rtlCol="0" anchor="ctr"/>
          <a:lstStyle/>
          <a:p>
            <a:pPr marL="0" indent="0" algn="ctr">
              <a:buNone/>
            </a:pPr>
            <a:r>
              <a:rPr lang="en-US" sz="1600" b="1" dirty="0">
                <a:solidFill>
                  <a:srgbClr val="829AB1"/>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010912" y="2240280"/>
            <a:ext cx="2048256"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5148072" y="2240280"/>
            <a:ext cx="1773936" cy="1371600"/>
          </a:xfrm>
          <a:prstGeom prst="rect">
            <a:avLst/>
          </a:prstGeom>
          <a:noFill/>
          <a:ln/>
        </p:spPr>
        <p:txBody>
          <a:bodyPr wrap="square" lIns="0" tIns="0" rIns="0" bIns="0" rtlCol="0" anchor="ctr"/>
          <a:lstStyle/>
          <a:p>
            <a:pPr marL="0" indent="0" algn="ctr">
              <a:buNone/>
            </a:pPr>
            <a:r>
              <a:rPr lang="en-US" sz="1600" b="1" dirty="0" err="1">
                <a:solidFill>
                  <a:srgbClr val="102A43"/>
                </a:solidFill>
                <a:latin typeface="Cambria" pitchFamily="34" charset="0"/>
                <a:ea typeface="Cambria" pitchFamily="34" charset="-122"/>
                <a:cs typeface="Cambria" pitchFamily="34" charset="-120"/>
              </a:rPr>
              <a:t>보험</a:t>
            </a:r>
            <a:r>
              <a:rPr lang="en-US" sz="1600" b="1" dirty="0">
                <a:solidFill>
                  <a:srgbClr val="102A43"/>
                </a:solidFill>
                <a:latin typeface="Cambria" pitchFamily="34" charset="0"/>
                <a:ea typeface="Cambria" pitchFamily="34" charset="-122"/>
                <a:cs typeface="Cambria" pitchFamily="34" charset="-120"/>
              </a:rPr>
              <a:t> </a:t>
            </a:r>
            <a:r>
              <a:rPr lang="en-US" sz="1600" b="1" dirty="0" err="1">
                <a:solidFill>
                  <a:srgbClr val="102A43"/>
                </a:solidFill>
                <a:latin typeface="Cambria" pitchFamily="34" charset="0"/>
                <a:ea typeface="Cambria" pitchFamily="34" charset="-122"/>
                <a:cs typeface="Cambria" pitchFamily="34" charset="-120"/>
              </a:rPr>
              <a:t>수가</a:t>
            </a:r>
            <a:r>
              <a:rPr lang="en-US" sz="1600" b="1" dirty="0">
                <a:solidFill>
                  <a:srgbClr val="102A43"/>
                </a:solidFill>
                <a:latin typeface="Cambria" pitchFamily="34" charset="0"/>
                <a:ea typeface="Cambria" pitchFamily="34" charset="-122"/>
                <a:cs typeface="Cambria" pitchFamily="34" charset="-120"/>
              </a:rPr>
              <a:t>/</a:t>
            </a:r>
          </a:p>
          <a:p>
            <a:pPr marL="0" indent="0" algn="ctr">
              <a:buNone/>
            </a:pPr>
            <a:r>
              <a:rPr lang="ko-KR" altLang="en-US" sz="1600" b="1" dirty="0">
                <a:solidFill>
                  <a:srgbClr val="102A43"/>
                </a:solidFill>
                <a:latin typeface="Cambria" pitchFamily="34" charset="0"/>
              </a:rPr>
              <a:t>병원 브랜드</a:t>
            </a:r>
            <a:endParaRPr lang="en-US" altLang="ko-KR" sz="1600" b="1" dirty="0">
              <a:solidFill>
                <a:srgbClr val="102A43"/>
              </a:solidFill>
              <a:latin typeface="Cambria" pitchFamily="34" charset="0"/>
              <a:ea typeface="Cambria" pitchFamily="34" charset="-122"/>
            </a:endParaRPr>
          </a:p>
        </p:txBody>
      </p:sp>
      <p:sp>
        <p:nvSpPr>
          <p:cNvPr id="12" name="Text 10"/>
          <p:cNvSpPr/>
          <p:nvPr/>
        </p:nvSpPr>
        <p:spPr>
          <a:xfrm>
            <a:off x="7059168" y="2697480"/>
            <a:ext cx="182880" cy="457200"/>
          </a:xfrm>
          <a:prstGeom prst="rect">
            <a:avLst/>
          </a:prstGeom>
          <a:noFill/>
          <a:ln/>
        </p:spPr>
        <p:txBody>
          <a:bodyPr wrap="square" lIns="0" tIns="0" rIns="0" bIns="0" rtlCol="0" anchor="ctr"/>
          <a:lstStyle/>
          <a:p>
            <a:pPr marL="0" indent="0" algn="ctr">
              <a:buNone/>
            </a:pPr>
            <a:r>
              <a:rPr lang="en-US" sz="1600" b="1" dirty="0">
                <a:solidFill>
                  <a:srgbClr val="829AB1"/>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242048" y="2240280"/>
            <a:ext cx="2048256"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7379208" y="2240280"/>
            <a:ext cx="1773936" cy="1371600"/>
          </a:xfrm>
          <a:prstGeom prst="rect">
            <a:avLst/>
          </a:prstGeom>
          <a:noFill/>
          <a:ln/>
        </p:spPr>
        <p:txBody>
          <a:bodyPr wrap="square" lIns="0" tIns="0" rIns="0" bIns="0" rtlCol="0" anchor="ctr"/>
          <a:lstStyle/>
          <a:p>
            <a:pPr marL="0" indent="0" algn="ctr">
              <a:buNone/>
            </a:pPr>
            <a:r>
              <a:rPr lang="en-US" sz="1600" b="1" dirty="0">
                <a:solidFill>
                  <a:srgbClr val="102A43"/>
                </a:solidFill>
                <a:latin typeface="Cambria" pitchFamily="34" charset="0"/>
                <a:ea typeface="Cambria" pitchFamily="34" charset="-122"/>
                <a:cs typeface="Cambria" pitchFamily="34" charset="-120"/>
              </a:rPr>
              <a:t>병원 도입</a:t>
            </a:r>
            <a:endParaRPr lang="en-US" sz="1600" dirty="0"/>
          </a:p>
        </p:txBody>
      </p:sp>
      <p:sp>
        <p:nvSpPr>
          <p:cNvPr id="15" name="Text 13"/>
          <p:cNvSpPr/>
          <p:nvPr/>
        </p:nvSpPr>
        <p:spPr>
          <a:xfrm>
            <a:off x="9290304" y="2697480"/>
            <a:ext cx="182880" cy="457200"/>
          </a:xfrm>
          <a:prstGeom prst="rect">
            <a:avLst/>
          </a:prstGeom>
          <a:noFill/>
          <a:ln/>
        </p:spPr>
        <p:txBody>
          <a:bodyPr wrap="square" lIns="0" tIns="0" rIns="0" bIns="0" rtlCol="0" anchor="ctr"/>
          <a:lstStyle/>
          <a:p>
            <a:pPr marL="0" indent="0" algn="ctr">
              <a:buNone/>
            </a:pPr>
            <a:r>
              <a:rPr lang="en-US" sz="1600" b="1" dirty="0">
                <a:solidFill>
                  <a:srgbClr val="829AB1"/>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473184" y="2240280"/>
            <a:ext cx="2048256" cy="1371600"/>
          </a:xfrm>
          <a:prstGeom prst="roundRect">
            <a:avLst>
              <a:gd name="adj" fmla="val 4000"/>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9610344" y="2240280"/>
            <a:ext cx="1773936" cy="13716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환자가 걷는다</a:t>
            </a:r>
            <a:endParaRPr lang="en-US" sz="1700" dirty="0"/>
          </a:p>
        </p:txBody>
      </p:sp>
      <p:sp>
        <p:nvSpPr>
          <p:cNvPr id="18" name="Text 16"/>
          <p:cNvSpPr/>
          <p:nvPr/>
        </p:nvSpPr>
        <p:spPr>
          <a:xfrm>
            <a:off x="548640" y="3794760"/>
            <a:ext cx="2048256" cy="731520"/>
          </a:xfrm>
          <a:prstGeom prst="rect">
            <a:avLst/>
          </a:prstGeom>
          <a:noFill/>
          <a:ln/>
        </p:spPr>
        <p:txBody>
          <a:bodyPr wrap="square" lIns="0" tIns="0" rIns="0" bIns="0" rtlCol="0" anchor="ctr"/>
          <a:lstStyle/>
          <a:p>
            <a:pPr marL="0" indent="0" algn="ctr">
              <a:lnSpc>
                <a:spcPct val="120000"/>
              </a:lnSpc>
              <a:buNone/>
            </a:pPr>
            <a:r>
              <a:rPr lang="ko-KR" altLang="en-US" sz="1250" b="1" i="1" dirty="0">
                <a:solidFill>
                  <a:srgbClr val="E8871E"/>
                </a:solidFill>
                <a:latin typeface="Calibri" pitchFamily="34" charset="0"/>
                <a:ea typeface="Calibri" pitchFamily="34" charset="-122"/>
                <a:cs typeface="Calibri" pitchFamily="34" charset="-120"/>
              </a:rPr>
              <a:t>우</a:t>
            </a:r>
            <a:r>
              <a:rPr lang="en-US" sz="1250" b="1" i="1" dirty="0">
                <a:solidFill>
                  <a:srgbClr val="E8871E"/>
                </a:solidFill>
                <a:latin typeface="Calibri" pitchFamily="34" charset="0"/>
                <a:ea typeface="Calibri" pitchFamily="34" charset="-122"/>
                <a:cs typeface="Calibri" pitchFamily="34" charset="-120"/>
              </a:rPr>
              <a:t>리</a:t>
            </a:r>
            <a:r>
              <a:rPr lang="ko-KR" altLang="en-US" sz="1250" b="1" i="1" dirty="0">
                <a:solidFill>
                  <a:srgbClr val="E8871E"/>
                </a:solidFill>
                <a:latin typeface="Calibri" pitchFamily="34" charset="0"/>
                <a:ea typeface="Calibri" pitchFamily="34" charset="-122"/>
                <a:cs typeface="Calibri" pitchFamily="34" charset="-120"/>
              </a:rPr>
              <a:t>의 관심사</a:t>
            </a:r>
            <a:endParaRPr lang="en-US" sz="1250" dirty="0"/>
          </a:p>
        </p:txBody>
      </p:sp>
      <p:sp>
        <p:nvSpPr>
          <p:cNvPr id="19" name="Shape 17"/>
          <p:cNvSpPr/>
          <p:nvPr/>
        </p:nvSpPr>
        <p:spPr>
          <a:xfrm>
            <a:off x="548640" y="4709160"/>
            <a:ext cx="11064240" cy="1051560"/>
          </a:xfrm>
          <a:prstGeom prst="roundRect">
            <a:avLst>
              <a:gd name="adj" fmla="val 521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960120" y="4709160"/>
            <a:ext cx="10241280" cy="1051560"/>
          </a:xfrm>
          <a:prstGeom prst="rect">
            <a:avLst/>
          </a:prstGeom>
          <a:noFill/>
          <a:ln/>
        </p:spPr>
        <p:txBody>
          <a:bodyPr wrap="square" lIns="0" tIns="0" rIns="0" bIns="0" rtlCol="0" anchor="ctr"/>
          <a:lstStyle/>
          <a:p>
            <a:pPr marL="0" indent="0">
              <a:buNone/>
            </a:pPr>
            <a:r>
              <a:rPr lang="en-US" sz="2000" b="1" dirty="0" err="1">
                <a:solidFill>
                  <a:srgbClr val="102A43"/>
                </a:solidFill>
                <a:latin typeface="Cambria" pitchFamily="34" charset="0"/>
                <a:ea typeface="Cambria" pitchFamily="34" charset="-122"/>
                <a:cs typeface="Cambria" pitchFamily="34" charset="-120"/>
              </a:rPr>
              <a:t>전처리</a:t>
            </a:r>
            <a:r>
              <a:rPr lang="en-US" sz="2000" b="1" dirty="0">
                <a:solidFill>
                  <a:srgbClr val="102A43"/>
                </a:solidFill>
                <a:latin typeface="Cambria" pitchFamily="34" charset="0"/>
                <a:ea typeface="Cambria" pitchFamily="34" charset="-122"/>
                <a:cs typeface="Cambria" pitchFamily="34" charset="-120"/>
              </a:rPr>
              <a:t> </a:t>
            </a:r>
            <a:r>
              <a:rPr lang="en-US" sz="2000" b="1" dirty="0" err="1">
                <a:solidFill>
                  <a:srgbClr val="102A43"/>
                </a:solidFill>
                <a:latin typeface="Cambria" pitchFamily="34" charset="0"/>
                <a:ea typeface="Cambria" pitchFamily="34" charset="-122"/>
                <a:cs typeface="Cambria" pitchFamily="34" charset="-120"/>
              </a:rPr>
              <a:t>표준화</a:t>
            </a:r>
            <a:r>
              <a:rPr lang="en-US" sz="2000" b="1" dirty="0">
                <a:solidFill>
                  <a:srgbClr val="102A43"/>
                </a:solidFill>
                <a:latin typeface="Cambria" pitchFamily="34" charset="0"/>
                <a:ea typeface="Cambria" pitchFamily="34" charset="-122"/>
                <a:cs typeface="Cambria" pitchFamily="34" charset="-120"/>
              </a:rPr>
              <a:t>(</a:t>
            </a:r>
            <a:r>
              <a:rPr lang="ko-KR" altLang="en-US" sz="2000" b="1" dirty="0">
                <a:solidFill>
                  <a:srgbClr val="102A43"/>
                </a:solidFill>
                <a:latin typeface="Cambria" pitchFamily="34" charset="0"/>
                <a:ea typeface="Cambria" pitchFamily="34" charset="-122"/>
                <a:cs typeface="Cambria" pitchFamily="34" charset="-120"/>
              </a:rPr>
              <a:t>이런 거 없음</a:t>
            </a:r>
            <a:r>
              <a:rPr lang="en-US" altLang="ko-KR" sz="2000" b="1" dirty="0">
                <a:solidFill>
                  <a:srgbClr val="102A43"/>
                </a:solidFill>
                <a:latin typeface="Cambria" pitchFamily="34" charset="0"/>
                <a:ea typeface="Cambria" pitchFamily="34" charset="-122"/>
                <a:cs typeface="Cambria" pitchFamily="34" charset="-120"/>
              </a:rPr>
              <a:t>)</a:t>
            </a:r>
            <a:r>
              <a:rPr lang="en-US" sz="2000" b="1" dirty="0">
                <a:solidFill>
                  <a:srgbClr val="102A43"/>
                </a:solidFill>
                <a:latin typeface="Cambria" pitchFamily="34" charset="0"/>
                <a:ea typeface="Cambria" pitchFamily="34" charset="-122"/>
                <a:cs typeface="Cambria" pitchFamily="34" charset="-120"/>
              </a:rPr>
              <a:t>는 코드 정리 문제가 아닙니다. 이 산업이 인정받는 문제입니다.</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3-2 · 중국 트랙</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저쪽은 '환자'가 아니라 '등산객'을 찾아냈습니다</a:t>
            </a:r>
            <a:endParaRPr lang="en-US" sz="3000" dirty="0"/>
          </a:p>
        </p:txBody>
      </p:sp>
      <p:sp>
        <p:nvSpPr>
          <p:cNvPr id="4" name="Shape 2"/>
          <p:cNvSpPr/>
          <p:nvPr/>
        </p:nvSpPr>
        <p:spPr>
          <a:xfrm>
            <a:off x="548640" y="1645920"/>
            <a:ext cx="5943600" cy="2286000"/>
          </a:xfrm>
          <a:prstGeom prst="roundRect">
            <a:avLst>
              <a:gd name="adj" fmla="val 2400"/>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914400" y="1828800"/>
            <a:ext cx="5212080" cy="292608"/>
          </a:xfrm>
          <a:prstGeom prst="rect">
            <a:avLst/>
          </a:prstGeom>
          <a:noFill/>
          <a:ln/>
        </p:spPr>
        <p:txBody>
          <a:bodyPr wrap="square" lIns="0" tIns="0" rIns="0" bIns="0" rtlCol="0" anchor="ctr"/>
          <a:lstStyle/>
          <a:p>
            <a:pPr marL="0" indent="0">
              <a:buNone/>
            </a:pPr>
            <a:r>
              <a:rPr lang="en-US" sz="1250" b="1" dirty="0">
                <a:solidFill>
                  <a:srgbClr val="8FC7CE"/>
                </a:solidFill>
                <a:latin typeface="Calibri" pitchFamily="34" charset="0"/>
                <a:ea typeface="Calibri" pitchFamily="34" charset="-122"/>
                <a:cs typeface="Calibri" pitchFamily="34" charset="-120"/>
              </a:rPr>
              <a:t>태산(泰山) · 2025년 2월 시범 운영 시작</a:t>
            </a:r>
            <a:endParaRPr lang="en-US" sz="1250" dirty="0"/>
          </a:p>
        </p:txBody>
      </p:sp>
      <p:sp>
        <p:nvSpPr>
          <p:cNvPr id="6" name="Text 4"/>
          <p:cNvSpPr/>
          <p:nvPr/>
        </p:nvSpPr>
        <p:spPr>
          <a:xfrm>
            <a:off x="914400" y="2148840"/>
            <a:ext cx="5212080" cy="777240"/>
          </a:xfrm>
          <a:prstGeom prst="rect">
            <a:avLst/>
          </a:prstGeom>
          <a:noFill/>
          <a:ln/>
        </p:spPr>
        <p:txBody>
          <a:bodyPr wrap="square" lIns="0" tIns="0" rIns="0" bIns="0" rtlCol="0" anchor="ctr"/>
          <a:lstStyle/>
          <a:p>
            <a:pPr marL="0" indent="0">
              <a:buNone/>
            </a:pPr>
            <a:r>
              <a:rPr lang="en-US" sz="4400" b="1" dirty="0">
                <a:solidFill>
                  <a:srgbClr val="E8871E"/>
                </a:solidFill>
                <a:latin typeface="Cambria" pitchFamily="34" charset="0"/>
                <a:ea typeface="Cambria" pitchFamily="34" charset="-122"/>
                <a:cs typeface="Cambria" pitchFamily="34" charset="-120"/>
              </a:rPr>
              <a:t>80위안 / 3시간</a:t>
            </a:r>
            <a:endParaRPr lang="en-US" sz="4400" dirty="0"/>
          </a:p>
        </p:txBody>
      </p:sp>
      <p:sp>
        <p:nvSpPr>
          <p:cNvPr id="7" name="Text 5"/>
          <p:cNvSpPr/>
          <p:nvPr/>
        </p:nvSpPr>
        <p:spPr>
          <a:xfrm>
            <a:off x="914400" y="3017520"/>
            <a:ext cx="5212080" cy="777240"/>
          </a:xfrm>
          <a:prstGeom prst="rect">
            <a:avLst/>
          </a:prstGeom>
          <a:noFill/>
          <a:ln/>
        </p:spPr>
        <p:txBody>
          <a:bodyPr wrap="square" lIns="0" tIns="0" rIns="0" bIns="0" rtlCol="0" anchor="ctr"/>
          <a:lstStyle/>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약 1.5만 원. 500대 투입, 등산로 3곳에 대여소.</a:t>
            </a:r>
            <a:endParaRPr lang="en-US" sz="1400" dirty="0"/>
          </a:p>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성수기 가동률 80%, 연휴엔 전량 대여.</a:t>
            </a:r>
            <a:endParaRPr lang="en-US" sz="1400" dirty="0"/>
          </a:p>
        </p:txBody>
      </p:sp>
      <p:sp>
        <p:nvSpPr>
          <p:cNvPr id="8" name="Shape 6"/>
          <p:cNvSpPr/>
          <p:nvPr/>
        </p:nvSpPr>
        <p:spPr>
          <a:xfrm>
            <a:off x="6858000" y="1645920"/>
            <a:ext cx="2286000" cy="1051560"/>
          </a:xfrm>
          <a:prstGeom prst="roundRect">
            <a:avLst>
              <a:gd name="adj" fmla="val 521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7059168" y="1764792"/>
            <a:ext cx="1883664" cy="256032"/>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무게</a:t>
            </a:r>
            <a:endParaRPr lang="en-US" sz="1150" dirty="0"/>
          </a:p>
        </p:txBody>
      </p:sp>
      <p:sp>
        <p:nvSpPr>
          <p:cNvPr id="10" name="Text 8"/>
          <p:cNvSpPr/>
          <p:nvPr/>
        </p:nvSpPr>
        <p:spPr>
          <a:xfrm>
            <a:off x="7059168" y="2048256"/>
            <a:ext cx="1883664" cy="548640"/>
          </a:xfrm>
          <a:prstGeom prst="rect">
            <a:avLst/>
          </a:prstGeom>
          <a:noFill/>
          <a:ln/>
        </p:spPr>
        <p:txBody>
          <a:bodyPr wrap="square" lIns="0" tIns="0" rIns="0" bIns="0" rtlCol="0" anchor="ctr"/>
          <a:lstStyle/>
          <a:p>
            <a:pPr marL="0" indent="0">
              <a:lnSpc>
                <a:spcPct val="100000"/>
              </a:lnSpc>
              <a:buNone/>
            </a:pPr>
            <a:r>
              <a:rPr lang="en-US" sz="1700" b="1" dirty="0">
                <a:solidFill>
                  <a:srgbClr val="102A43"/>
                </a:solidFill>
                <a:latin typeface="Cambria" pitchFamily="34" charset="0"/>
                <a:ea typeface="Cambria" pitchFamily="34" charset="-122"/>
                <a:cs typeface="Cambria" pitchFamily="34" charset="-120"/>
              </a:rPr>
              <a:t>1.8 kg</a:t>
            </a:r>
            <a:endParaRPr lang="en-US" sz="1700" dirty="0"/>
          </a:p>
        </p:txBody>
      </p:sp>
      <p:sp>
        <p:nvSpPr>
          <p:cNvPr id="11" name="Shape 9"/>
          <p:cNvSpPr/>
          <p:nvPr/>
        </p:nvSpPr>
        <p:spPr>
          <a:xfrm>
            <a:off x="9281160" y="1645920"/>
            <a:ext cx="2286000" cy="1051560"/>
          </a:xfrm>
          <a:prstGeom prst="roundRect">
            <a:avLst>
              <a:gd name="adj" fmla="val 521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2" name="Text 10"/>
          <p:cNvSpPr/>
          <p:nvPr/>
        </p:nvSpPr>
        <p:spPr>
          <a:xfrm>
            <a:off x="9482328" y="1764792"/>
            <a:ext cx="1883664" cy="256032"/>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배터리</a:t>
            </a:r>
            <a:endParaRPr lang="en-US" sz="1150" dirty="0"/>
          </a:p>
        </p:txBody>
      </p:sp>
      <p:sp>
        <p:nvSpPr>
          <p:cNvPr id="13" name="Text 11"/>
          <p:cNvSpPr/>
          <p:nvPr/>
        </p:nvSpPr>
        <p:spPr>
          <a:xfrm>
            <a:off x="9482328" y="2048256"/>
            <a:ext cx="1883664" cy="548640"/>
          </a:xfrm>
          <a:prstGeom prst="rect">
            <a:avLst/>
          </a:prstGeom>
          <a:noFill/>
          <a:ln/>
        </p:spPr>
        <p:txBody>
          <a:bodyPr wrap="square" lIns="0" tIns="0" rIns="0" bIns="0" rtlCol="0" anchor="ctr"/>
          <a:lstStyle/>
          <a:p>
            <a:pPr marL="0" indent="0">
              <a:lnSpc>
                <a:spcPct val="100000"/>
              </a:lnSpc>
              <a:buNone/>
            </a:pPr>
            <a:r>
              <a:rPr lang="en-US" sz="1700" b="1" dirty="0">
                <a:solidFill>
                  <a:srgbClr val="102A43"/>
                </a:solidFill>
                <a:latin typeface="Cambria" pitchFamily="34" charset="0"/>
                <a:ea typeface="Cambria" pitchFamily="34" charset="-122"/>
                <a:cs typeface="Cambria" pitchFamily="34" charset="-120"/>
              </a:rPr>
              <a:t>약 8시간</a:t>
            </a:r>
            <a:endParaRPr lang="en-US" sz="1700" dirty="0"/>
          </a:p>
        </p:txBody>
      </p:sp>
      <p:sp>
        <p:nvSpPr>
          <p:cNvPr id="14" name="Shape 12"/>
          <p:cNvSpPr/>
          <p:nvPr/>
        </p:nvSpPr>
        <p:spPr>
          <a:xfrm>
            <a:off x="6858000" y="2834640"/>
            <a:ext cx="2286000" cy="1051560"/>
          </a:xfrm>
          <a:prstGeom prst="roundRect">
            <a:avLst>
              <a:gd name="adj" fmla="val 521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7059168" y="2953512"/>
            <a:ext cx="1883664" cy="256032"/>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체력 절감</a:t>
            </a:r>
            <a:endParaRPr lang="en-US" sz="1150" dirty="0"/>
          </a:p>
        </p:txBody>
      </p:sp>
      <p:sp>
        <p:nvSpPr>
          <p:cNvPr id="16" name="Text 14"/>
          <p:cNvSpPr/>
          <p:nvPr/>
        </p:nvSpPr>
        <p:spPr>
          <a:xfrm>
            <a:off x="7059168" y="3236976"/>
            <a:ext cx="1883664" cy="548640"/>
          </a:xfrm>
          <a:prstGeom prst="rect">
            <a:avLst/>
          </a:prstGeom>
          <a:noFill/>
          <a:ln/>
        </p:spPr>
        <p:txBody>
          <a:bodyPr wrap="square" lIns="0" tIns="0" rIns="0" bIns="0" rtlCol="0" anchor="ctr"/>
          <a:lstStyle/>
          <a:p>
            <a:pPr marL="0" indent="0">
              <a:lnSpc>
                <a:spcPct val="100000"/>
              </a:lnSpc>
              <a:buNone/>
            </a:pPr>
            <a:r>
              <a:rPr lang="en-US" sz="1700" b="1" dirty="0">
                <a:solidFill>
                  <a:srgbClr val="102A43"/>
                </a:solidFill>
                <a:latin typeface="Cambria" pitchFamily="34" charset="0"/>
                <a:ea typeface="Cambria" pitchFamily="34" charset="-122"/>
                <a:cs typeface="Cambria" pitchFamily="34" charset="-120"/>
              </a:rPr>
              <a:t>30~50%</a:t>
            </a:r>
            <a:endParaRPr lang="en-US" sz="1700" dirty="0"/>
          </a:p>
        </p:txBody>
      </p:sp>
      <p:sp>
        <p:nvSpPr>
          <p:cNvPr id="17" name="Shape 15"/>
          <p:cNvSpPr/>
          <p:nvPr/>
        </p:nvSpPr>
        <p:spPr>
          <a:xfrm>
            <a:off x="9281160" y="2834640"/>
            <a:ext cx="2286000" cy="1051560"/>
          </a:xfrm>
          <a:prstGeom prst="roundRect">
            <a:avLst>
              <a:gd name="adj" fmla="val 521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8" name="Text 16"/>
          <p:cNvSpPr/>
          <p:nvPr/>
        </p:nvSpPr>
        <p:spPr>
          <a:xfrm>
            <a:off x="9482328" y="2953512"/>
            <a:ext cx="1883664" cy="256032"/>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공급사</a:t>
            </a:r>
            <a:endParaRPr lang="en-US" sz="1150" dirty="0"/>
          </a:p>
        </p:txBody>
      </p:sp>
      <p:sp>
        <p:nvSpPr>
          <p:cNvPr id="19" name="Text 17"/>
          <p:cNvSpPr/>
          <p:nvPr/>
        </p:nvSpPr>
        <p:spPr>
          <a:xfrm>
            <a:off x="9482328" y="3236976"/>
            <a:ext cx="1883664" cy="548640"/>
          </a:xfrm>
          <a:prstGeom prst="rect">
            <a:avLst/>
          </a:prstGeom>
          <a:noFill/>
          <a:ln/>
        </p:spPr>
        <p:txBody>
          <a:bodyPr wrap="square" lIns="0" tIns="0" rIns="0" bIns="0" rtlCol="0" anchor="ctr"/>
          <a:lstStyle/>
          <a:p>
            <a:pPr marL="0" indent="0">
              <a:lnSpc>
                <a:spcPct val="100000"/>
              </a:lnSpc>
              <a:buNone/>
            </a:pPr>
            <a:r>
              <a:rPr lang="en-US" sz="1700" b="1" dirty="0">
                <a:solidFill>
                  <a:srgbClr val="102A43"/>
                </a:solidFill>
                <a:latin typeface="Cambria" pitchFamily="34" charset="0"/>
                <a:ea typeface="Cambria" pitchFamily="34" charset="-122"/>
                <a:cs typeface="Cambria" pitchFamily="34" charset="-120"/>
              </a:rPr>
              <a:t>선전 肯綮科技</a:t>
            </a:r>
            <a:endParaRPr lang="en-US" sz="1700" dirty="0"/>
          </a:p>
          <a:p>
            <a:pPr marL="0" indent="0">
              <a:lnSpc>
                <a:spcPct val="100000"/>
              </a:lnSpc>
              <a:buNone/>
            </a:pPr>
            <a:r>
              <a:rPr lang="en-US" sz="1700" b="1" dirty="0">
                <a:solidFill>
                  <a:srgbClr val="102A43"/>
                </a:solidFill>
                <a:latin typeface="Cambria" pitchFamily="34" charset="0"/>
                <a:ea typeface="Cambria" pitchFamily="34" charset="-122"/>
                <a:cs typeface="Cambria" pitchFamily="34" charset="-120"/>
              </a:rPr>
              <a:t>(Kenqing)</a:t>
            </a:r>
            <a:endParaRPr lang="en-US" sz="1700" dirty="0"/>
          </a:p>
        </p:txBody>
      </p:sp>
      <p:sp>
        <p:nvSpPr>
          <p:cNvPr id="20" name="Shape 18"/>
          <p:cNvSpPr/>
          <p:nvPr/>
        </p:nvSpPr>
        <p:spPr>
          <a:xfrm>
            <a:off x="548640" y="4160520"/>
            <a:ext cx="11064240" cy="1554480"/>
          </a:xfrm>
          <a:prstGeom prst="roundRect">
            <a:avLst>
              <a:gd name="adj" fmla="val 3529"/>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21" name="Text 19"/>
          <p:cNvSpPr/>
          <p:nvPr/>
        </p:nvSpPr>
        <p:spPr>
          <a:xfrm>
            <a:off x="960120" y="4370832"/>
            <a:ext cx="1024128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중국은 재활 로봇을 병원 밖으로 먼저 끌고 나갔습니다.</a:t>
            </a:r>
            <a:endParaRPr lang="en-US" sz="2200" dirty="0"/>
          </a:p>
        </p:txBody>
      </p:sp>
      <p:sp>
        <p:nvSpPr>
          <p:cNvPr id="22" name="Text 20"/>
          <p:cNvSpPr/>
          <p:nvPr/>
        </p:nvSpPr>
        <p:spPr>
          <a:xfrm>
            <a:off x="960120" y="4864608"/>
            <a:ext cx="10241280" cy="640080"/>
          </a:xfrm>
          <a:prstGeom prst="rect">
            <a:avLst/>
          </a:prstGeom>
          <a:noFill/>
          <a:ln/>
        </p:spPr>
        <p:txBody>
          <a:bodyPr wrap="square" lIns="0" tIns="0" rIns="0" bIns="0" rtlCol="0" anchor="ctr"/>
          <a:lstStyle/>
          <a:p>
            <a:pPr marL="0" indent="0">
              <a:lnSpc>
                <a:spcPct val="125000"/>
              </a:lnSpc>
              <a:buNone/>
            </a:pPr>
            <a:r>
              <a:rPr lang="en-US" sz="1400" dirty="0">
                <a:solidFill>
                  <a:srgbClr val="FFF3E0"/>
                </a:solidFill>
                <a:latin typeface="Calibri" pitchFamily="34" charset="0"/>
                <a:ea typeface="Calibri" pitchFamily="34" charset="-122"/>
                <a:cs typeface="Calibri" pitchFamily="34" charset="-120"/>
              </a:rPr>
              <a:t>의료기기 인증도, 보험 수가도 필요 없는 시장을 만들어냈습니다. 일부 관광지 대여점은 장비 투입 후 2~3개월 내 손익분기에 도달했습니다.</a:t>
            </a:r>
            <a:endParaRPr lang="en-US" sz="1400" dirty="0"/>
          </a:p>
        </p:txBody>
      </p:sp>
      <p:sp>
        <p:nvSpPr>
          <p:cNvPr id="23" name="Text 21"/>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태산 외골격 대여 500대·80위안/3시간 (Sina, 2025.5)">
                  <a:extLst>
                    <a:ext uri="{A12FA001-AC4F-418D-AE19-62706E023703}">
                      <ahyp:hlinkClr xmlns:ahyp="http://schemas.microsoft.com/office/drawing/2018/hyperlinkcolor" val="tx"/>
                    </a:ext>
                  </a:extLst>
                </a:hlinkClick>
              </a:rPr>
              <a:t>태산 외골격 대여 500대·80위안/3시간 (Sina, 2025.5)</a:t>
            </a:r>
            <a:r>
              <a:rPr lang="en-US" sz="900" dirty="0">
                <a:solidFill>
                  <a:srgbClr val="829AB1"/>
                </a:solidFill>
              </a:rPr>
              <a:t>   ·   </a:t>
            </a:r>
            <a:r>
              <a:rPr lang="en-US" sz="900" u="sng" dirty="0">
                <a:solidFill>
                  <a:srgbClr val="0E7C86"/>
                </a:solidFill>
                <a:hlinkClick r:id="rId4" tooltip="관광지 확산 및 산업 동향 (PEdaily, 2026.6)">
                  <a:extLst>
                    <a:ext uri="{A12FA001-AC4F-418D-AE19-62706E023703}">
                      <ahyp:hlinkClr xmlns:ahyp="http://schemas.microsoft.com/office/drawing/2018/hyperlinkcolor" val="tx"/>
                    </a:ext>
                  </a:extLst>
                </a:hlinkClick>
              </a:rPr>
              <a:t>관광지 확산 및 산업 동향 (PEdaily, 2026.6)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3-2 · 정직한 평가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과대평가도 과소평가도 하지 않기</a:t>
            </a:r>
            <a:endParaRPr lang="en-US" sz="3000" dirty="0"/>
          </a:p>
        </p:txBody>
      </p:sp>
      <p:sp>
        <p:nvSpPr>
          <p:cNvPr id="4" name="Shape 2"/>
          <p:cNvSpPr/>
          <p:nvPr/>
        </p:nvSpPr>
        <p:spPr>
          <a:xfrm>
            <a:off x="548640" y="1536192"/>
            <a:ext cx="11064240" cy="475488"/>
          </a:xfrm>
          <a:prstGeom prst="roundRect">
            <a:avLst>
              <a:gd name="adj" fmla="val 1153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04672" y="1636776"/>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논문 수</a:t>
            </a:r>
            <a:endParaRPr lang="en-US" sz="1250" dirty="0"/>
          </a:p>
        </p:txBody>
      </p:sp>
      <p:sp>
        <p:nvSpPr>
          <p:cNvPr id="6" name="Text 4"/>
          <p:cNvSpPr/>
          <p:nvPr/>
        </p:nvSpPr>
        <p:spPr>
          <a:xfrm>
            <a:off x="3291840" y="1636776"/>
            <a:ext cx="2148840" cy="274320"/>
          </a:xfrm>
          <a:prstGeom prst="rect">
            <a:avLst/>
          </a:prstGeom>
          <a:noFill/>
          <a:ln/>
        </p:spPr>
        <p:txBody>
          <a:bodyPr wrap="square" lIns="0" tIns="0" rIns="0" bIns="0" rtlCol="0" anchor="ctr"/>
          <a:lstStyle/>
          <a:p>
            <a:pPr marL="0" indent="0">
              <a:buNone/>
            </a:pPr>
            <a:r>
              <a:rPr lang="en-US" sz="1350" b="1" dirty="0">
                <a:solidFill>
                  <a:srgbClr val="0E7C86"/>
                </a:solidFill>
                <a:latin typeface="Cambria" pitchFamily="34" charset="0"/>
                <a:ea typeface="Cambria" pitchFamily="34" charset="-122"/>
                <a:cs typeface="Cambria" pitchFamily="34" charset="-120"/>
              </a:rPr>
              <a:t>공동 1위권</a:t>
            </a:r>
            <a:endParaRPr lang="en-US" sz="1350" dirty="0"/>
          </a:p>
        </p:txBody>
      </p:sp>
      <p:sp>
        <p:nvSpPr>
          <p:cNvPr id="7" name="Text 5"/>
          <p:cNvSpPr/>
          <p:nvPr/>
        </p:nvSpPr>
        <p:spPr>
          <a:xfrm>
            <a:off x="5577840" y="1655064"/>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뇌졸중 외골격 재활 2위 217편 / EEG-BCI 재활 1위 350편 이상</a:t>
            </a:r>
            <a:endParaRPr lang="en-US" sz="1000" dirty="0"/>
          </a:p>
        </p:txBody>
      </p:sp>
      <p:sp>
        <p:nvSpPr>
          <p:cNvPr id="8" name="Shape 6"/>
          <p:cNvSpPr/>
          <p:nvPr/>
        </p:nvSpPr>
        <p:spPr>
          <a:xfrm>
            <a:off x="548640" y="2057400"/>
            <a:ext cx="11064240" cy="475488"/>
          </a:xfrm>
          <a:prstGeom prst="roundRect">
            <a:avLst>
              <a:gd name="adj" fmla="val 11538"/>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804672" y="2157984"/>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논문 영향력</a:t>
            </a:r>
            <a:endParaRPr lang="en-US" sz="1250" dirty="0"/>
          </a:p>
        </p:txBody>
      </p:sp>
      <p:sp>
        <p:nvSpPr>
          <p:cNvPr id="10" name="Text 8"/>
          <p:cNvSpPr/>
          <p:nvPr/>
        </p:nvSpPr>
        <p:spPr>
          <a:xfrm>
            <a:off x="3291840" y="2157984"/>
            <a:ext cx="2148840" cy="274320"/>
          </a:xfrm>
          <a:prstGeom prst="rect">
            <a:avLst/>
          </a:prstGeom>
          <a:noFill/>
          <a:ln/>
        </p:spPr>
        <p:txBody>
          <a:bodyPr wrap="square" lIns="0" tIns="0" rIns="0" bIns="0" rtlCol="0" anchor="ctr"/>
          <a:lstStyle/>
          <a:p>
            <a:pPr marL="0" indent="0">
              <a:buNone/>
            </a:pPr>
            <a:r>
              <a:rPr lang="en-US" sz="1350" b="1" dirty="0">
                <a:solidFill>
                  <a:srgbClr val="9B2226"/>
                </a:solidFill>
                <a:latin typeface="Cambria" pitchFamily="34" charset="0"/>
                <a:ea typeface="Cambria" pitchFamily="34" charset="-122"/>
                <a:cs typeface="Cambria" pitchFamily="34" charset="-120"/>
              </a:rPr>
              <a:t>상대적 열위</a:t>
            </a:r>
            <a:endParaRPr lang="en-US" sz="1350" dirty="0"/>
          </a:p>
        </p:txBody>
      </p:sp>
      <p:sp>
        <p:nvSpPr>
          <p:cNvPr id="11" name="Text 9"/>
          <p:cNvSpPr/>
          <p:nvPr/>
        </p:nvSpPr>
        <p:spPr>
          <a:xfrm>
            <a:off x="5577840" y="2176272"/>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매개중심성 중국 0.15 vs 미국 0.43 — 늦게 진입해 물량으로 추격 중</a:t>
            </a:r>
            <a:endParaRPr lang="en-US" sz="1000" dirty="0"/>
          </a:p>
        </p:txBody>
      </p:sp>
      <p:sp>
        <p:nvSpPr>
          <p:cNvPr id="12" name="Shape 10"/>
          <p:cNvSpPr/>
          <p:nvPr/>
        </p:nvSpPr>
        <p:spPr>
          <a:xfrm>
            <a:off x="548640" y="2578608"/>
            <a:ext cx="11064240" cy="475488"/>
          </a:xfrm>
          <a:prstGeom prst="roundRect">
            <a:avLst>
              <a:gd name="adj" fmla="val 1153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804672" y="2679192"/>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강화학습 개인화</a:t>
            </a:r>
            <a:endParaRPr lang="en-US" sz="1250" dirty="0"/>
          </a:p>
        </p:txBody>
      </p:sp>
      <p:sp>
        <p:nvSpPr>
          <p:cNvPr id="14" name="Text 12"/>
          <p:cNvSpPr/>
          <p:nvPr/>
        </p:nvSpPr>
        <p:spPr>
          <a:xfrm>
            <a:off x="3291840" y="2679192"/>
            <a:ext cx="2148840" cy="274320"/>
          </a:xfrm>
          <a:prstGeom prst="rect">
            <a:avLst/>
          </a:prstGeom>
          <a:noFill/>
          <a:ln/>
        </p:spPr>
        <p:txBody>
          <a:bodyPr wrap="square" lIns="0" tIns="0" rIns="0" bIns="0" rtlCol="0" anchor="ctr"/>
          <a:lstStyle/>
          <a:p>
            <a:pPr marL="0" indent="0">
              <a:buNone/>
            </a:pPr>
            <a:r>
              <a:rPr lang="en-US" sz="1350" b="1" dirty="0">
                <a:solidFill>
                  <a:srgbClr val="9B2226"/>
                </a:solidFill>
                <a:latin typeface="Cambria" pitchFamily="34" charset="0"/>
                <a:ea typeface="Cambria" pitchFamily="34" charset="-122"/>
                <a:cs typeface="Cambria" pitchFamily="34" charset="-120"/>
              </a:rPr>
              <a:t>추격자</a:t>
            </a:r>
            <a:endParaRPr lang="en-US" sz="1350" dirty="0"/>
          </a:p>
        </p:txBody>
      </p:sp>
      <p:sp>
        <p:nvSpPr>
          <p:cNvPr id="15" name="Text 13"/>
          <p:cNvSpPr/>
          <p:nvPr/>
        </p:nvSpPr>
        <p:spPr>
          <a:xfrm>
            <a:off x="5577840" y="2697480"/>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최상위는 미국 랩. Nature 2024: 시뮬레이션 학습만으로 대사율 보행 24.3% 감소</a:t>
            </a:r>
            <a:endParaRPr lang="en-US" sz="1000" dirty="0"/>
          </a:p>
        </p:txBody>
      </p:sp>
      <p:sp>
        <p:nvSpPr>
          <p:cNvPr id="16" name="Shape 14"/>
          <p:cNvSpPr/>
          <p:nvPr/>
        </p:nvSpPr>
        <p:spPr>
          <a:xfrm>
            <a:off x="548640" y="3099816"/>
            <a:ext cx="11064240" cy="475488"/>
          </a:xfrm>
          <a:prstGeom prst="roundRect">
            <a:avLst>
              <a:gd name="adj" fmla="val 11538"/>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804672" y="3200400"/>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LLM·파운데이션 모델</a:t>
            </a:r>
            <a:endParaRPr lang="en-US" sz="1250" dirty="0"/>
          </a:p>
        </p:txBody>
      </p:sp>
      <p:sp>
        <p:nvSpPr>
          <p:cNvPr id="18" name="Text 16"/>
          <p:cNvSpPr/>
          <p:nvPr/>
        </p:nvSpPr>
        <p:spPr>
          <a:xfrm>
            <a:off x="3291840" y="3200400"/>
            <a:ext cx="2148840" cy="274320"/>
          </a:xfrm>
          <a:prstGeom prst="rect">
            <a:avLst/>
          </a:prstGeom>
          <a:noFill/>
          <a:ln/>
        </p:spPr>
        <p:txBody>
          <a:bodyPr wrap="square" lIns="0" tIns="0" rIns="0" bIns="0" rtlCol="0" anchor="ctr"/>
          <a:lstStyle/>
          <a:p>
            <a:pPr marL="0" indent="0">
              <a:buNone/>
            </a:pPr>
            <a:r>
              <a:rPr lang="en-US" sz="1350" b="1" dirty="0">
                <a:solidFill>
                  <a:srgbClr val="829AB1"/>
                </a:solidFill>
                <a:latin typeface="Cambria" pitchFamily="34" charset="0"/>
                <a:ea typeface="Cambria" pitchFamily="34" charset="-122"/>
                <a:cs typeface="Cambria" pitchFamily="34" charset="-120"/>
              </a:rPr>
              <a:t>초기 실험</a:t>
            </a:r>
            <a:endParaRPr lang="en-US" sz="1350" dirty="0"/>
          </a:p>
        </p:txBody>
      </p:sp>
      <p:sp>
        <p:nvSpPr>
          <p:cNvPr id="19" name="Text 17"/>
          <p:cNvSpPr/>
          <p:nvPr/>
        </p:nvSpPr>
        <p:spPr>
          <a:xfrm>
            <a:off x="5577840" y="3218688"/>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칭화대가 일부 선점. 단 SIAT 로드맵 리뷰에는 LLM 언급이 없음</a:t>
            </a:r>
            <a:endParaRPr lang="en-US" sz="1000" dirty="0"/>
          </a:p>
        </p:txBody>
      </p:sp>
      <p:sp>
        <p:nvSpPr>
          <p:cNvPr id="20" name="Shape 18"/>
          <p:cNvSpPr/>
          <p:nvPr/>
        </p:nvSpPr>
        <p:spPr>
          <a:xfrm>
            <a:off x="548640" y="3621024"/>
            <a:ext cx="11064240" cy="475488"/>
          </a:xfrm>
          <a:prstGeom prst="roundRect">
            <a:avLst>
              <a:gd name="adj" fmla="val 1153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1" name="Text 19"/>
          <p:cNvSpPr/>
          <p:nvPr/>
        </p:nvSpPr>
        <p:spPr>
          <a:xfrm>
            <a:off x="804672" y="3721608"/>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EMG·EEG 의도 인식</a:t>
            </a:r>
            <a:endParaRPr lang="en-US" sz="1250" dirty="0"/>
          </a:p>
        </p:txBody>
      </p:sp>
      <p:sp>
        <p:nvSpPr>
          <p:cNvPr id="22" name="Text 20"/>
          <p:cNvSpPr/>
          <p:nvPr/>
        </p:nvSpPr>
        <p:spPr>
          <a:xfrm>
            <a:off x="3291840" y="3721608"/>
            <a:ext cx="2148840" cy="274320"/>
          </a:xfrm>
          <a:prstGeom prst="rect">
            <a:avLst/>
          </a:prstGeom>
          <a:noFill/>
          <a:ln/>
        </p:spPr>
        <p:txBody>
          <a:bodyPr wrap="square" lIns="0" tIns="0" rIns="0" bIns="0" rtlCol="0" anchor="ctr"/>
          <a:lstStyle/>
          <a:p>
            <a:pPr marL="0" indent="0">
              <a:buNone/>
            </a:pPr>
            <a:r>
              <a:rPr lang="en-US" sz="1350" b="1" dirty="0">
                <a:solidFill>
                  <a:srgbClr val="0E7C86"/>
                </a:solidFill>
                <a:latin typeface="Cambria" pitchFamily="34" charset="0"/>
                <a:ea typeface="Cambria" pitchFamily="34" charset="-122"/>
                <a:cs typeface="Cambria" pitchFamily="34" charset="-120"/>
              </a:rPr>
              <a:t>강세</a:t>
            </a:r>
            <a:endParaRPr lang="en-US" sz="1350" dirty="0"/>
          </a:p>
        </p:txBody>
      </p:sp>
      <p:sp>
        <p:nvSpPr>
          <p:cNvPr id="23" name="Text 21"/>
          <p:cNvSpPr/>
          <p:nvPr/>
        </p:nvSpPr>
        <p:spPr>
          <a:xfrm>
            <a:off x="5577840" y="3739896"/>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sEMG 예측 선행시간 약 100ms, co-attention 기반 멀티모달 융합</a:t>
            </a:r>
            <a:endParaRPr lang="en-US" sz="1000" dirty="0"/>
          </a:p>
        </p:txBody>
      </p:sp>
      <p:sp>
        <p:nvSpPr>
          <p:cNvPr id="24" name="Shape 22"/>
          <p:cNvSpPr/>
          <p:nvPr/>
        </p:nvSpPr>
        <p:spPr>
          <a:xfrm>
            <a:off x="548640" y="4142232"/>
            <a:ext cx="11064240" cy="475488"/>
          </a:xfrm>
          <a:prstGeom prst="roundRect">
            <a:avLst>
              <a:gd name="adj" fmla="val 11538"/>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5" name="Text 23"/>
          <p:cNvSpPr/>
          <p:nvPr/>
        </p:nvSpPr>
        <p:spPr>
          <a:xfrm>
            <a:off x="804672" y="4242816"/>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소프트 exosuit</a:t>
            </a:r>
            <a:endParaRPr lang="en-US" sz="1250" dirty="0"/>
          </a:p>
        </p:txBody>
      </p:sp>
      <p:sp>
        <p:nvSpPr>
          <p:cNvPr id="26" name="Text 24"/>
          <p:cNvSpPr/>
          <p:nvPr/>
        </p:nvSpPr>
        <p:spPr>
          <a:xfrm>
            <a:off x="3291840" y="4242816"/>
            <a:ext cx="2148840" cy="274320"/>
          </a:xfrm>
          <a:prstGeom prst="rect">
            <a:avLst/>
          </a:prstGeom>
          <a:noFill/>
          <a:ln/>
        </p:spPr>
        <p:txBody>
          <a:bodyPr wrap="square" lIns="0" tIns="0" rIns="0" bIns="0" rtlCol="0" anchor="ctr"/>
          <a:lstStyle/>
          <a:p>
            <a:pPr marL="0" indent="0">
              <a:buNone/>
            </a:pPr>
            <a:r>
              <a:rPr lang="en-US" sz="1350" b="1" dirty="0">
                <a:solidFill>
                  <a:srgbClr val="0E7C86"/>
                </a:solidFill>
                <a:latin typeface="Cambria" pitchFamily="34" charset="0"/>
                <a:ea typeface="Cambria" pitchFamily="34" charset="-122"/>
                <a:cs typeface="Cambria" pitchFamily="34" charset="-120"/>
              </a:rPr>
              <a:t>최상위권</a:t>
            </a:r>
            <a:endParaRPr lang="en-US" sz="1350" dirty="0"/>
          </a:p>
        </p:txBody>
      </p:sp>
      <p:sp>
        <p:nvSpPr>
          <p:cNvPr id="27" name="Text 25"/>
          <p:cNvSpPr/>
          <p:nvPr/>
        </p:nvSpPr>
        <p:spPr>
          <a:xfrm>
            <a:off x="5577840" y="4261104"/>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SJTU · USTC의 Science/Nature 계열 성과</a:t>
            </a:r>
            <a:endParaRPr lang="en-US" sz="1000" dirty="0"/>
          </a:p>
        </p:txBody>
      </p:sp>
      <p:sp>
        <p:nvSpPr>
          <p:cNvPr id="28" name="Shape 26"/>
          <p:cNvSpPr/>
          <p:nvPr/>
        </p:nvSpPr>
        <p:spPr>
          <a:xfrm>
            <a:off x="548640" y="4663440"/>
            <a:ext cx="11064240" cy="475488"/>
          </a:xfrm>
          <a:prstGeom prst="roundRect">
            <a:avLst>
              <a:gd name="adj" fmla="val 1153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9" name="Text 27"/>
          <p:cNvSpPr/>
          <p:nvPr/>
        </p:nvSpPr>
        <p:spPr>
          <a:xfrm>
            <a:off x="804672" y="4764024"/>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소비자·야외 상용화</a:t>
            </a:r>
            <a:endParaRPr lang="en-US" sz="1250" dirty="0"/>
          </a:p>
        </p:txBody>
      </p:sp>
      <p:sp>
        <p:nvSpPr>
          <p:cNvPr id="30" name="Text 28"/>
          <p:cNvSpPr/>
          <p:nvPr/>
        </p:nvSpPr>
        <p:spPr>
          <a:xfrm>
            <a:off x="3291840" y="4764024"/>
            <a:ext cx="2148840" cy="274320"/>
          </a:xfrm>
          <a:prstGeom prst="rect">
            <a:avLst/>
          </a:prstGeom>
          <a:noFill/>
          <a:ln/>
        </p:spPr>
        <p:txBody>
          <a:bodyPr wrap="square" lIns="0" tIns="0" rIns="0" bIns="0" rtlCol="0" anchor="ctr"/>
          <a:lstStyle/>
          <a:p>
            <a:pPr marL="0" indent="0">
              <a:buNone/>
            </a:pPr>
            <a:r>
              <a:rPr lang="en-US" sz="1350" b="1" dirty="0">
                <a:solidFill>
                  <a:srgbClr val="0E7C86"/>
                </a:solidFill>
                <a:latin typeface="Cambria" pitchFamily="34" charset="0"/>
                <a:ea typeface="Cambria" pitchFamily="34" charset="-122"/>
                <a:cs typeface="Cambria" pitchFamily="34" charset="-120"/>
              </a:rPr>
              <a:t>명확한 세계 선두</a:t>
            </a:r>
            <a:endParaRPr lang="en-US" sz="1350" dirty="0"/>
          </a:p>
        </p:txBody>
      </p:sp>
      <p:sp>
        <p:nvSpPr>
          <p:cNvPr id="31" name="Text 29"/>
          <p:cNvSpPr/>
          <p:nvPr/>
        </p:nvSpPr>
        <p:spPr>
          <a:xfrm>
            <a:off x="5577840" y="4782312"/>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시장 16억 위안, 출하 2.6만 대, 소비자 70% 이상</a:t>
            </a:r>
            <a:endParaRPr lang="en-US" sz="1000" dirty="0"/>
          </a:p>
        </p:txBody>
      </p:sp>
      <p:sp>
        <p:nvSpPr>
          <p:cNvPr id="32" name="Shape 30"/>
          <p:cNvSpPr/>
          <p:nvPr/>
        </p:nvSpPr>
        <p:spPr>
          <a:xfrm>
            <a:off x="548640" y="5184648"/>
            <a:ext cx="11064240" cy="475488"/>
          </a:xfrm>
          <a:prstGeom prst="roundRect">
            <a:avLst>
              <a:gd name="adj" fmla="val 11538"/>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33" name="Text 31"/>
          <p:cNvSpPr/>
          <p:nvPr/>
        </p:nvSpPr>
        <p:spPr>
          <a:xfrm>
            <a:off x="804672" y="5285232"/>
            <a:ext cx="2377440" cy="274320"/>
          </a:xfrm>
          <a:prstGeom prst="rect">
            <a:avLst/>
          </a:prstGeom>
          <a:noFill/>
          <a:ln/>
        </p:spPr>
        <p:txBody>
          <a:bodyPr wrap="square" lIns="0" tIns="0" rIns="0" bIns="0" rtlCol="0" anchor="ctr"/>
          <a:lstStyle/>
          <a:p>
            <a:pPr marL="0" indent="0">
              <a:buNone/>
            </a:pPr>
            <a:r>
              <a:rPr lang="en-US" sz="1250" b="1" dirty="0">
                <a:solidFill>
                  <a:srgbClr val="102A43"/>
                </a:solidFill>
                <a:latin typeface="Calibri" pitchFamily="34" charset="0"/>
                <a:ea typeface="Calibri" pitchFamily="34" charset="-122"/>
                <a:cs typeface="Calibri" pitchFamily="34" charset="-120"/>
              </a:rPr>
              <a:t>표준화</a:t>
            </a:r>
            <a:endParaRPr lang="en-US" sz="1250" dirty="0"/>
          </a:p>
        </p:txBody>
      </p:sp>
      <p:sp>
        <p:nvSpPr>
          <p:cNvPr id="34" name="Text 32"/>
          <p:cNvSpPr/>
          <p:nvPr/>
        </p:nvSpPr>
        <p:spPr>
          <a:xfrm>
            <a:off x="3291840" y="5285232"/>
            <a:ext cx="2148840" cy="274320"/>
          </a:xfrm>
          <a:prstGeom prst="rect">
            <a:avLst/>
          </a:prstGeom>
          <a:noFill/>
          <a:ln/>
        </p:spPr>
        <p:txBody>
          <a:bodyPr wrap="square" lIns="0" tIns="0" rIns="0" bIns="0" rtlCol="0" anchor="ctr"/>
          <a:lstStyle/>
          <a:p>
            <a:pPr marL="0" indent="0">
              <a:buNone/>
            </a:pPr>
            <a:r>
              <a:rPr lang="en-US" sz="1350" b="1" dirty="0">
                <a:solidFill>
                  <a:srgbClr val="9B2226"/>
                </a:solidFill>
                <a:latin typeface="Cambria" pitchFamily="34" charset="0"/>
                <a:ea typeface="Cambria" pitchFamily="34" charset="-122"/>
                <a:cs typeface="Cambria" pitchFamily="34" charset="-120"/>
              </a:rPr>
              <a:t>미성숙</a:t>
            </a:r>
            <a:endParaRPr lang="en-US" sz="1350" dirty="0"/>
          </a:p>
        </p:txBody>
      </p:sp>
      <p:sp>
        <p:nvSpPr>
          <p:cNvPr id="35" name="Text 33"/>
          <p:cNvSpPr/>
          <p:nvPr/>
        </p:nvSpPr>
        <p:spPr>
          <a:xfrm>
            <a:off x="5577840" y="5303520"/>
            <a:ext cx="5806440" cy="256032"/>
          </a:xfrm>
          <a:prstGeom prst="rect">
            <a:avLst/>
          </a:prstGeom>
          <a:noFill/>
          <a:ln/>
        </p:spPr>
        <p:txBody>
          <a:bodyPr wrap="square" lIns="0" tIns="0" rIns="0" bIns="0" rtlCol="0" anchor="ctr"/>
          <a:lstStyle/>
          <a:p>
            <a:pPr marL="0" indent="0">
              <a:buNone/>
            </a:pPr>
            <a:r>
              <a:rPr lang="en-US" sz="1000" dirty="0">
                <a:solidFill>
                  <a:srgbClr val="52606D"/>
                </a:solidFill>
                <a:latin typeface="Calibri" pitchFamily="34" charset="0"/>
                <a:ea typeface="Calibri" pitchFamily="34" charset="-122"/>
                <a:cs typeface="Calibri" pitchFamily="34" charset="-120"/>
              </a:rPr>
              <a:t>국가표준 5건. 용어·인간공학·리스크평가 체계에 공백</a:t>
            </a:r>
            <a:endParaRPr lang="en-US" sz="1000" dirty="0"/>
          </a:p>
        </p:txBody>
      </p:sp>
      <p:sp>
        <p:nvSpPr>
          <p:cNvPr id="36" name="Text 34"/>
          <p:cNvSpPr/>
          <p:nvPr/>
        </p:nvSpPr>
        <p:spPr>
          <a:xfrm>
            <a:off x="548640" y="5779008"/>
            <a:ext cx="11064240" cy="548640"/>
          </a:xfrm>
          <a:prstGeom prst="rect">
            <a:avLst/>
          </a:prstGeom>
          <a:noFill/>
          <a:ln/>
        </p:spPr>
        <p:txBody>
          <a:bodyPr wrap="square" lIns="0" tIns="0" rIns="0" bIns="0" rtlCol="0" anchor="ctr"/>
          <a:lstStyle/>
          <a:p>
            <a:pPr marL="0" indent="0">
              <a:lnSpc>
                <a:spcPct val="115000"/>
              </a:lnSpc>
              <a:buNone/>
            </a:pPr>
            <a:r>
              <a:rPr lang="en-US" sz="1250" b="1" i="1" dirty="0">
                <a:solidFill>
                  <a:srgbClr val="102A43"/>
                </a:solidFill>
                <a:latin typeface="Calibri" pitchFamily="34" charset="0"/>
                <a:ea typeface="Calibri" pitchFamily="34" charset="-122"/>
                <a:cs typeface="Calibri" pitchFamily="34" charset="-120"/>
              </a:rPr>
              <a:t>"최상위 알고리즘 논문은 미국이 쓰지만, 사람 몸에 붙어 돌아가는 기기 수는 중국이 압도적입니다."</a:t>
            </a:r>
            <a:endParaRPr lang="en-US" sz="1250" dirty="0"/>
          </a:p>
        </p:txBody>
      </p:sp>
      <p:sp>
        <p:nvSpPr>
          <p:cNvPr id="37" name="Text 35"/>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뇌졸중 외골격 재활 계량서지 2014–2024 (Frontiers)">
                  <a:extLst>
                    <a:ext uri="{A12FA001-AC4F-418D-AE19-62706E023703}">
                      <ahyp:hlinkClr xmlns:ahyp="http://schemas.microsoft.com/office/drawing/2018/hyperlinkcolor" val="tx"/>
                    </a:ext>
                  </a:extLst>
                </a:hlinkClick>
              </a:rPr>
              <a:t>뇌졸중 외골격 재활 계량서지 2014–2024 (Frontiers)</a:t>
            </a:r>
            <a:r>
              <a:rPr lang="en-US" sz="900" dirty="0">
                <a:solidFill>
                  <a:srgbClr val="829AB1"/>
                </a:solidFill>
              </a:rPr>
              <a:t>   ·   </a:t>
            </a:r>
            <a:r>
              <a:rPr lang="en-US" sz="900" u="sng" dirty="0">
                <a:solidFill>
                  <a:srgbClr val="0E7C86"/>
                </a:solidFill>
                <a:hlinkClick r:id="rId4" tooltip="EEG-BCI 재활 계량서지 (MDPI Sensors)">
                  <a:extLst>
                    <a:ext uri="{A12FA001-AC4F-418D-AE19-62706E023703}">
                      <ahyp:hlinkClr xmlns:ahyp="http://schemas.microsoft.com/office/drawing/2018/hyperlinkcolor" val="tx"/>
                    </a:ext>
                  </a:extLst>
                </a:hlinkClick>
              </a:rPr>
              <a:t>EEG-BCI 재활 계량서지 (MDPI Sensors)</a:t>
            </a:r>
            <a:r>
              <a:rPr lang="en-US" sz="900" dirty="0">
                <a:solidFill>
                  <a:srgbClr val="829AB1"/>
                </a:solidFill>
              </a:rPr>
              <a:t>   ·   </a:t>
            </a:r>
            <a:r>
              <a:rPr lang="en-US" sz="900" u="sng" dirty="0">
                <a:solidFill>
                  <a:srgbClr val="0E7C86"/>
                </a:solidFill>
                <a:hlinkClick r:id="rId5" tooltip="Nature 2024 — Experiment-free exoskeleton assistance">
                  <a:extLst>
                    <a:ext uri="{A12FA001-AC4F-418D-AE19-62706E023703}">
                      <ahyp:hlinkClr xmlns:ahyp="http://schemas.microsoft.com/office/drawing/2018/hyperlinkcolor" val="tx"/>
                    </a:ext>
                  </a:extLst>
                </a:hlinkClick>
              </a:rPr>
              <a:t>Nature 2024 — Experiment-free exoskeleton assistance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3-2 · 정책 배경</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국가가 밀어주는 방향이 명확합니다</a:t>
            </a:r>
            <a:endParaRPr lang="en-US" sz="3000" dirty="0"/>
          </a:p>
        </p:txBody>
      </p:sp>
      <p:sp>
        <p:nvSpPr>
          <p:cNvPr id="4" name="Shape 2"/>
          <p:cNvSpPr/>
          <p:nvPr/>
        </p:nvSpPr>
        <p:spPr>
          <a:xfrm>
            <a:off x="548640" y="1691640"/>
            <a:ext cx="11064240" cy="1298448"/>
          </a:xfrm>
          <a:prstGeom prst="roundRect">
            <a:avLst>
              <a:gd name="adj" fmla="val 422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22960" y="1892808"/>
            <a:ext cx="118872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2023.1</a:t>
            </a:r>
            <a:endParaRPr lang="en-US" sz="1700" dirty="0"/>
          </a:p>
        </p:txBody>
      </p:sp>
      <p:sp>
        <p:nvSpPr>
          <p:cNvPr id="6" name="Text 4"/>
          <p:cNvSpPr/>
          <p:nvPr/>
        </p:nvSpPr>
        <p:spPr>
          <a:xfrm>
            <a:off x="2240280" y="1874520"/>
            <a:ext cx="905256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「'로봇+' 응용 행동 실시방안」</a:t>
            </a:r>
            <a:endParaRPr lang="en-US" sz="1600" dirty="0"/>
          </a:p>
        </p:txBody>
      </p:sp>
      <p:sp>
        <p:nvSpPr>
          <p:cNvPr id="7" name="Text 5"/>
          <p:cNvSpPr/>
          <p:nvPr/>
        </p:nvSpPr>
        <p:spPr>
          <a:xfrm>
            <a:off x="2240280" y="2240280"/>
            <a:ext cx="9052560" cy="621792"/>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공신부 등 17개 부처 공동. 양로 서비스 현장의 외골격 로봇 응용 검증을 명시적으로 장려. 의료보건 항목에 재활 로봇과 뇌-컴퓨터 인터페이스(BCI) 보조 재활 시스템 포함.</a:t>
            </a:r>
            <a:endParaRPr lang="en-US" sz="1250" dirty="0"/>
          </a:p>
        </p:txBody>
      </p:sp>
      <p:sp>
        <p:nvSpPr>
          <p:cNvPr id="8" name="Shape 6"/>
          <p:cNvSpPr/>
          <p:nvPr/>
        </p:nvSpPr>
        <p:spPr>
          <a:xfrm>
            <a:off x="548640" y="3136392"/>
            <a:ext cx="11064240" cy="1298448"/>
          </a:xfrm>
          <a:prstGeom prst="roundRect">
            <a:avLst>
              <a:gd name="adj" fmla="val 422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822960" y="3337560"/>
            <a:ext cx="1188720" cy="365760"/>
          </a:xfrm>
          <a:prstGeom prst="rect">
            <a:avLst/>
          </a:prstGeom>
          <a:noFill/>
          <a:ln/>
        </p:spPr>
        <p:txBody>
          <a:bodyPr wrap="square" lIns="0" tIns="0" rIns="0" bIns="0" rtlCol="0" anchor="ctr"/>
          <a:lstStyle/>
          <a:p>
            <a:pPr marL="0" indent="0">
              <a:buNone/>
            </a:pPr>
            <a:r>
              <a:rPr lang="en-US" sz="1700" b="1" dirty="0">
                <a:solidFill>
                  <a:srgbClr val="0E7C86"/>
                </a:solidFill>
                <a:latin typeface="Cambria" pitchFamily="34" charset="0"/>
                <a:ea typeface="Cambria" pitchFamily="34" charset="-122"/>
                <a:cs typeface="Cambria" pitchFamily="34" charset="-120"/>
              </a:rPr>
              <a:t>2025</a:t>
            </a:r>
            <a:endParaRPr lang="en-US" sz="1700" dirty="0"/>
          </a:p>
        </p:txBody>
      </p:sp>
      <p:sp>
        <p:nvSpPr>
          <p:cNvPr id="10" name="Text 8"/>
          <p:cNvSpPr/>
          <p:nvPr/>
        </p:nvSpPr>
        <p:spPr>
          <a:xfrm>
            <a:off x="2240280" y="3319272"/>
            <a:ext cx="905256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국가 AI 의료기기 혁신 과제</a:t>
            </a:r>
            <a:endParaRPr lang="en-US" sz="1600" dirty="0"/>
          </a:p>
        </p:txBody>
      </p:sp>
      <p:sp>
        <p:nvSpPr>
          <p:cNvPr id="11" name="Text 9"/>
          <p:cNvSpPr/>
          <p:nvPr/>
        </p:nvSpPr>
        <p:spPr>
          <a:xfrm>
            <a:off x="2240280" y="3685032"/>
            <a:ext cx="9052560" cy="621792"/>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외골격 2건 선정 — 둘 다 BCI + 외골격 조합(RoboCT 程天科技, 우한 中华脑机融合). 국가가 지목한 다음 단계가 뇌-기계 인터페이스라는 신호.</a:t>
            </a:r>
            <a:endParaRPr lang="en-US" sz="1250" dirty="0"/>
          </a:p>
        </p:txBody>
      </p:sp>
      <p:sp>
        <p:nvSpPr>
          <p:cNvPr id="12" name="Shape 10"/>
          <p:cNvSpPr/>
          <p:nvPr/>
        </p:nvSpPr>
        <p:spPr>
          <a:xfrm>
            <a:off x="548640" y="4581144"/>
            <a:ext cx="11064240" cy="1298448"/>
          </a:xfrm>
          <a:prstGeom prst="roundRect">
            <a:avLst>
              <a:gd name="adj" fmla="val 4225"/>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822960" y="4782312"/>
            <a:ext cx="1188720" cy="365760"/>
          </a:xfrm>
          <a:prstGeom prst="rect">
            <a:avLst/>
          </a:prstGeom>
          <a:noFill/>
          <a:ln/>
        </p:spPr>
        <p:txBody>
          <a:bodyPr wrap="square" lIns="0" tIns="0" rIns="0" bIns="0" rtlCol="0" anchor="ctr"/>
          <a:lstStyle/>
          <a:p>
            <a:pPr marL="0" indent="0">
              <a:buNone/>
            </a:pPr>
            <a:r>
              <a:rPr lang="en-US" sz="1700" b="1" dirty="0">
                <a:solidFill>
                  <a:srgbClr val="9B2226"/>
                </a:solidFill>
                <a:latin typeface="Cambria" pitchFamily="34" charset="0"/>
                <a:ea typeface="Cambria" pitchFamily="34" charset="-122"/>
                <a:cs typeface="Cambria" pitchFamily="34" charset="-120"/>
              </a:rPr>
              <a:t>보도</a:t>
            </a:r>
            <a:endParaRPr lang="en-US" sz="1700" dirty="0"/>
          </a:p>
        </p:txBody>
      </p:sp>
      <p:sp>
        <p:nvSpPr>
          <p:cNvPr id="14" name="Text 12"/>
          <p:cNvSpPr/>
          <p:nvPr/>
        </p:nvSpPr>
        <p:spPr>
          <a:xfrm>
            <a:off x="2240280" y="4764024"/>
            <a:ext cx="905256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의료보험 편입</a:t>
            </a:r>
            <a:endParaRPr lang="en-US" sz="1600" dirty="0"/>
          </a:p>
        </p:txBody>
      </p:sp>
      <p:sp>
        <p:nvSpPr>
          <p:cNvPr id="15" name="Text 13"/>
          <p:cNvSpPr/>
          <p:nvPr/>
        </p:nvSpPr>
        <p:spPr>
          <a:xfrm>
            <a:off x="2240280" y="5129784"/>
            <a:ext cx="9052560" cy="621792"/>
          </a:xfrm>
          <a:prstGeom prst="rect">
            <a:avLst/>
          </a:prstGeom>
          <a:noFill/>
          <a:ln/>
        </p:spPr>
        <p:txBody>
          <a:bodyPr wrap="square" lIns="0" tIns="0" rIns="0" bIns="0" rtlCol="0" anchor="ctr"/>
          <a:lstStyle/>
          <a:p>
            <a:pPr marL="0" indent="0">
              <a:lnSpc>
                <a:spcPct val="125000"/>
              </a:lnSpc>
              <a:buNone/>
            </a:pPr>
            <a:r>
              <a:rPr lang="en-US" sz="1250" dirty="0">
                <a:solidFill>
                  <a:srgbClr val="52606D"/>
                </a:solidFill>
                <a:latin typeface="Calibri" pitchFamily="34" charset="0"/>
                <a:ea typeface="Calibri" pitchFamily="34" charset="-122"/>
                <a:cs typeface="Calibri" pitchFamily="34" charset="-120"/>
              </a:rPr>
              <a:t>베이징·장쑤 등 11개 성·시가 외골격 치료를 의료보험에 편입, 환자 부담 60% 이상 경감. 단일 매체 출처이므로 '보도에 따르면' 수준으로만 다룹니다.</a:t>
            </a:r>
            <a:endParaRPr lang="en-US" sz="1250" dirty="0"/>
          </a:p>
        </p:txBody>
      </p:sp>
      <p:sp>
        <p:nvSpPr>
          <p:cNvPr id="16" name="Text 14"/>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로봇+' 응용 행동 실시방안」(17개 부처, 2023.1)">
                  <a:extLst>
                    <a:ext uri="{A12FA001-AC4F-418D-AE19-62706E023703}">
                      <ahyp:hlinkClr xmlns:ahyp="http://schemas.microsoft.com/office/drawing/2018/hyperlinkcolor" val="tx"/>
                    </a:ext>
                  </a:extLst>
                </a:hlinkClick>
              </a:rPr>
              <a:t>「'로봇+' 응용 행동 실시방안」(17개 부처, 2023.1)</a:t>
            </a:r>
            <a:r>
              <a:rPr lang="en-US" sz="900" dirty="0">
                <a:solidFill>
                  <a:srgbClr val="829AB1"/>
                </a:solidFill>
              </a:rPr>
              <a:t>   ·   </a:t>
            </a:r>
            <a:r>
              <a:rPr lang="en-US" sz="900" u="sng" dirty="0">
                <a:solidFill>
                  <a:srgbClr val="0E7C86"/>
                </a:solidFill>
                <a:hlinkClick r:id="rId4" tooltip="중국 실버경제와 외골격 (Exoskeleton Report)">
                  <a:extLst>
                    <a:ext uri="{A12FA001-AC4F-418D-AE19-62706E023703}">
                      <ahyp:hlinkClr xmlns:ahyp="http://schemas.microsoft.com/office/drawing/2018/hyperlinkcolor" val="tx"/>
                    </a:ext>
                  </a:extLst>
                </a:hlinkClick>
              </a:rPr>
              <a:t>중국 실버경제와 외골격 (Exoskeleton Report)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3-3 · 그렇다면 한국은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논문으로도, 산업으로도 주변부가 아닙니다</a:t>
            </a:r>
            <a:endParaRPr lang="en-US" sz="3000" dirty="0"/>
          </a:p>
        </p:txBody>
      </p:sp>
      <p:graphicFrame>
        <p:nvGraphicFramePr>
          <p:cNvPr id="4" name="Chart 0"/>
          <p:cNvGraphicFramePr/>
          <p:nvPr/>
        </p:nvGraphicFramePr>
        <p:xfrm>
          <a:off x="548640" y="1691640"/>
          <a:ext cx="59436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812280" y="1783080"/>
            <a:ext cx="4800600" cy="1143000"/>
          </a:xfrm>
          <a:prstGeom prst="roundRect">
            <a:avLst>
              <a:gd name="adj" fmla="val 48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6" name="Text 3"/>
          <p:cNvSpPr/>
          <p:nvPr/>
        </p:nvSpPr>
        <p:spPr>
          <a:xfrm>
            <a:off x="7059168" y="1920240"/>
            <a:ext cx="4297680" cy="274320"/>
          </a:xfrm>
          <a:prstGeom prst="rect">
            <a:avLst/>
          </a:prstGeom>
          <a:noFill/>
          <a:ln/>
        </p:spPr>
        <p:txBody>
          <a:bodyPr wrap="square" lIns="0" tIns="0" rIns="0" bIns="0" rtlCol="0" anchor="ctr"/>
          <a:lstStyle/>
          <a:p>
            <a:pPr marL="0" indent="0">
              <a:buNone/>
            </a:pPr>
            <a:r>
              <a:rPr lang="en-US" sz="1300" b="1" dirty="0">
                <a:solidFill>
                  <a:srgbClr val="102A43"/>
                </a:solidFill>
                <a:latin typeface="Calibri" pitchFamily="34" charset="0"/>
                <a:ea typeface="Calibri" pitchFamily="34" charset="-122"/>
                <a:cs typeface="Calibri" pitchFamily="34" charset="-120"/>
              </a:rPr>
              <a:t>현대자동차·기아 X-ble MEX</a:t>
            </a:r>
            <a:endParaRPr lang="en-US" sz="1300" dirty="0"/>
          </a:p>
        </p:txBody>
      </p:sp>
      <p:sp>
        <p:nvSpPr>
          <p:cNvPr id="7" name="Text 4"/>
          <p:cNvSpPr/>
          <p:nvPr/>
        </p:nvSpPr>
        <p:spPr>
          <a:xfrm>
            <a:off x="7059168" y="2221992"/>
            <a:ext cx="4297680" cy="594360"/>
          </a:xfrm>
          <a:prstGeom prst="rect">
            <a:avLst/>
          </a:prstGeom>
          <a:noFill/>
          <a:ln/>
        </p:spPr>
        <p:txBody>
          <a:bodyPr wrap="square" lIns="0" tIns="0" rIns="0" bIns="0" rtlCol="0" anchor="ctr"/>
          <a:lstStyle/>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의료용 착용로봇. 식품의약품안전처 의료기기 2등급 허가(2023.1).</a:t>
            </a:r>
            <a:endParaRPr lang="en-US" sz="1100" dirty="0"/>
          </a:p>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걷기·서기·앉기·계단·회전 5개 동작 지원.</a:t>
            </a:r>
            <a:endParaRPr lang="en-US" sz="1100" dirty="0"/>
          </a:p>
        </p:txBody>
      </p:sp>
      <p:sp>
        <p:nvSpPr>
          <p:cNvPr id="8" name="Shape 5"/>
          <p:cNvSpPr/>
          <p:nvPr/>
        </p:nvSpPr>
        <p:spPr>
          <a:xfrm>
            <a:off x="6812280" y="3017520"/>
            <a:ext cx="4800600" cy="1143000"/>
          </a:xfrm>
          <a:prstGeom prst="roundRect">
            <a:avLst>
              <a:gd name="adj" fmla="val 48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6"/>
          <p:cNvSpPr/>
          <p:nvPr/>
        </p:nvSpPr>
        <p:spPr>
          <a:xfrm>
            <a:off x="7059168" y="3154680"/>
            <a:ext cx="4297680" cy="274320"/>
          </a:xfrm>
          <a:prstGeom prst="rect">
            <a:avLst/>
          </a:prstGeom>
          <a:noFill/>
          <a:ln/>
        </p:spPr>
        <p:txBody>
          <a:bodyPr wrap="square" lIns="0" tIns="0" rIns="0" bIns="0" rtlCol="0" anchor="ctr"/>
          <a:lstStyle/>
          <a:p>
            <a:pPr marL="0" indent="0">
              <a:buNone/>
            </a:pPr>
            <a:r>
              <a:rPr lang="en-US" sz="1300" b="1" dirty="0">
                <a:solidFill>
                  <a:srgbClr val="102A43"/>
                </a:solidFill>
                <a:latin typeface="Calibri" pitchFamily="34" charset="0"/>
                <a:ea typeface="Calibri" pitchFamily="34" charset="-122"/>
                <a:cs typeface="Calibri" pitchFamily="34" charset="-120"/>
              </a:rPr>
              <a:t>현대자동차·기아 X-ble Shoulder</a:t>
            </a:r>
            <a:endParaRPr lang="en-US" sz="1300" dirty="0"/>
          </a:p>
        </p:txBody>
      </p:sp>
      <p:sp>
        <p:nvSpPr>
          <p:cNvPr id="10" name="Text 7"/>
          <p:cNvSpPr/>
          <p:nvPr/>
        </p:nvSpPr>
        <p:spPr>
          <a:xfrm>
            <a:off x="7059168" y="3456432"/>
            <a:ext cx="4297680" cy="594360"/>
          </a:xfrm>
          <a:prstGeom prst="rect">
            <a:avLst/>
          </a:prstGeom>
          <a:noFill/>
          <a:ln/>
        </p:spPr>
        <p:txBody>
          <a:bodyPr wrap="square" lIns="0" tIns="0" rIns="0" bIns="0" rtlCol="0" anchor="ctr"/>
          <a:lstStyle/>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무동력 1.9kg. 어깨 관절 부하 최대 60% 경감,</a:t>
            </a:r>
            <a:endParaRPr lang="en-US" sz="1100" dirty="0"/>
          </a:p>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삼각근 활성도 30% 경감. 산업 상방 작업용.</a:t>
            </a:r>
            <a:endParaRPr lang="en-US" sz="1100" dirty="0"/>
          </a:p>
        </p:txBody>
      </p:sp>
      <p:sp>
        <p:nvSpPr>
          <p:cNvPr id="11" name="Shape 8"/>
          <p:cNvSpPr/>
          <p:nvPr/>
        </p:nvSpPr>
        <p:spPr>
          <a:xfrm>
            <a:off x="6812280" y="4251960"/>
            <a:ext cx="4800600" cy="1143000"/>
          </a:xfrm>
          <a:prstGeom prst="roundRect">
            <a:avLst>
              <a:gd name="adj" fmla="val 480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2" name="Text 9"/>
          <p:cNvSpPr/>
          <p:nvPr/>
        </p:nvSpPr>
        <p:spPr>
          <a:xfrm>
            <a:off x="7059168" y="4389120"/>
            <a:ext cx="4297680" cy="274320"/>
          </a:xfrm>
          <a:prstGeom prst="rect">
            <a:avLst/>
          </a:prstGeom>
          <a:noFill/>
          <a:ln/>
        </p:spPr>
        <p:txBody>
          <a:bodyPr wrap="square" lIns="0" tIns="0" rIns="0" bIns="0" rtlCol="0" anchor="ctr"/>
          <a:lstStyle/>
          <a:p>
            <a:pPr marL="0" indent="0">
              <a:buNone/>
            </a:pPr>
            <a:r>
              <a:rPr lang="en-US" sz="1300" b="1" dirty="0">
                <a:solidFill>
                  <a:srgbClr val="9B2226"/>
                </a:solidFill>
                <a:latin typeface="Calibri" pitchFamily="34" charset="0"/>
                <a:ea typeface="Calibri" pitchFamily="34" charset="-122"/>
                <a:cs typeface="Calibri" pitchFamily="34" charset="-120"/>
              </a:rPr>
              <a:t>삼성전자 Bot Fit</a:t>
            </a:r>
            <a:endParaRPr lang="en-US" sz="1300" dirty="0"/>
          </a:p>
        </p:txBody>
      </p:sp>
      <p:sp>
        <p:nvSpPr>
          <p:cNvPr id="13" name="Text 10"/>
          <p:cNvSpPr/>
          <p:nvPr/>
        </p:nvSpPr>
        <p:spPr>
          <a:xfrm>
            <a:off x="7059168" y="4690872"/>
            <a:ext cx="4297680" cy="594360"/>
          </a:xfrm>
          <a:prstGeom prst="rect">
            <a:avLst/>
          </a:prstGeom>
          <a:noFill/>
          <a:ln/>
        </p:spPr>
        <p:txBody>
          <a:bodyPr wrap="square" lIns="0" tIns="0" rIns="0" bIns="0" rtlCol="0" anchor="ctr"/>
          <a:lstStyle/>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출시가 계속 미뤄지며 업계에서 회의적 평가.</a:t>
            </a:r>
            <a:endParaRPr lang="en-US" sz="1100" dirty="0"/>
          </a:p>
          <a:p>
            <a:pPr marL="0" indent="0">
              <a:lnSpc>
                <a:spcPct val="120000"/>
              </a:lnSpc>
              <a:buNone/>
            </a:pPr>
            <a:r>
              <a:rPr lang="en-US" sz="1100" dirty="0">
                <a:solidFill>
                  <a:srgbClr val="52606D"/>
                </a:solidFill>
                <a:latin typeface="Calibri" pitchFamily="34" charset="0"/>
                <a:ea typeface="Calibri" pitchFamily="34" charset="-122"/>
                <a:cs typeface="Calibri" pitchFamily="34" charset="-120"/>
              </a:rPr>
              <a:t>2019년 CES 시제품 공개 이후 뚜렷한 성과 부재 지적.</a:t>
            </a:r>
            <a:endParaRPr lang="en-US" sz="1100" dirty="0"/>
          </a:p>
        </p:txBody>
      </p:sp>
      <p:sp>
        <p:nvSpPr>
          <p:cNvPr id="14" name="Shape 11"/>
          <p:cNvSpPr/>
          <p:nvPr/>
        </p:nvSpPr>
        <p:spPr>
          <a:xfrm>
            <a:off x="6812280" y="5486400"/>
            <a:ext cx="4800600" cy="777240"/>
          </a:xfrm>
          <a:prstGeom prst="roundRect">
            <a:avLst>
              <a:gd name="adj" fmla="val 705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5" name="Text 12"/>
          <p:cNvSpPr/>
          <p:nvPr/>
        </p:nvSpPr>
        <p:spPr>
          <a:xfrm>
            <a:off x="7059168" y="5486400"/>
            <a:ext cx="429768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국내는 '임상 근거 + 현장 보급'의 조합에서 승부가 갈립니다.</a:t>
            </a:r>
            <a:endParaRPr lang="en-US" sz="1300" dirty="0"/>
          </a:p>
        </p:txBody>
      </p:sp>
      <p:sp>
        <p:nvSpPr>
          <p:cNvPr id="16" name="Text 13"/>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4" tooltip="뇌졸중 외골격 재활 계량서지 (Frontiers 2024)">
                  <a:extLst>
                    <a:ext uri="{A12FA001-AC4F-418D-AE19-62706E023703}">
                      <ahyp:hlinkClr xmlns:ahyp="http://schemas.microsoft.com/office/drawing/2018/hyperlinkcolor" val="tx"/>
                    </a:ext>
                  </a:extLst>
                </a:hlinkClick>
              </a:rPr>
              <a:t>뇌졸중 외골격 재활 계량서지 (Frontiers 2024)</a:t>
            </a:r>
            <a:r>
              <a:rPr lang="en-US" sz="900" dirty="0">
                <a:solidFill>
                  <a:srgbClr val="829AB1"/>
                </a:solidFill>
              </a:rPr>
              <a:t>   ·   </a:t>
            </a:r>
            <a:r>
              <a:rPr lang="en-US" sz="900" u="sng" dirty="0">
                <a:solidFill>
                  <a:srgbClr val="0E7C86"/>
                </a:solidFill>
                <a:hlinkClick r:id="rId5" tooltip="현대차그룹 엑스블 숄더 (inews24)">
                  <a:extLst>
                    <a:ext uri="{A12FA001-AC4F-418D-AE19-62706E023703}">
                      <ahyp:hlinkClr xmlns:ahyp="http://schemas.microsoft.com/office/drawing/2018/hyperlinkcolor" val="tx"/>
                    </a:ext>
                  </a:extLst>
                </a:hlinkClick>
              </a:rPr>
              <a:t>현대차그룹 엑스블 숄더 (inews24)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4</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로봇은 어떻게 사람을 읽는가</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센서 — 그리고 '정답'이라 불리는 VICON과의 비교.</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몸에 붙여 재는 방식과, 밖에서 관찰해 재는 방식.</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4-1 · 센서 라인업</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무엇을 재고, 무엇을 못 재는가</a:t>
            </a:r>
            <a:endParaRPr lang="en-US" sz="3000" dirty="0"/>
          </a:p>
        </p:txBody>
      </p:sp>
      <p:sp>
        <p:nvSpPr>
          <p:cNvPr id="4" name="Shape 2"/>
          <p:cNvSpPr/>
          <p:nvPr/>
        </p:nvSpPr>
        <p:spPr>
          <a:xfrm>
            <a:off x="548640" y="1572768"/>
            <a:ext cx="768096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04672" y="1719072"/>
            <a:ext cx="1600200" cy="292608"/>
          </a:xfrm>
          <a:prstGeom prst="rect">
            <a:avLst/>
          </a:prstGeom>
          <a:noFill/>
          <a:ln/>
        </p:spPr>
        <p:txBody>
          <a:bodyPr wrap="square" lIns="0" tIns="0" rIns="0" bIns="0" rtlCol="0" anchor="ctr"/>
          <a:lstStyle/>
          <a:p>
            <a:pPr marL="0" indent="0">
              <a:buNone/>
            </a:pPr>
            <a:r>
              <a:rPr lang="en-US" sz="1450" b="1" dirty="0">
                <a:solidFill>
                  <a:srgbClr val="102A43"/>
                </a:solidFill>
                <a:latin typeface="Cambria" pitchFamily="34" charset="0"/>
                <a:ea typeface="Cambria" pitchFamily="34" charset="-122"/>
                <a:cs typeface="Cambria" pitchFamily="34" charset="-120"/>
              </a:rPr>
              <a:t>IMU</a:t>
            </a:r>
            <a:endParaRPr lang="en-US" sz="1450" dirty="0"/>
          </a:p>
        </p:txBody>
      </p:sp>
      <p:sp>
        <p:nvSpPr>
          <p:cNvPr id="6" name="Text 4"/>
          <p:cNvSpPr/>
          <p:nvPr/>
        </p:nvSpPr>
        <p:spPr>
          <a:xfrm>
            <a:off x="804672" y="2029968"/>
            <a:ext cx="1600200" cy="237744"/>
          </a:xfrm>
          <a:prstGeom prst="rect">
            <a:avLst/>
          </a:prstGeom>
          <a:noFill/>
          <a:ln/>
        </p:spPr>
        <p:txBody>
          <a:bodyPr wrap="square" lIns="0" tIns="0" rIns="0" bIns="0" rtlCol="0" anchor="ctr"/>
          <a:lstStyle/>
          <a:p>
            <a:pPr marL="0" indent="0">
              <a:buNone/>
            </a:pPr>
            <a:r>
              <a:rPr lang="en-US" sz="1000" dirty="0">
                <a:solidFill>
                  <a:srgbClr val="0E7C86"/>
                </a:solidFill>
                <a:latin typeface="Calibri" pitchFamily="34" charset="0"/>
                <a:ea typeface="Calibri" pitchFamily="34" charset="-122"/>
                <a:cs typeface="Calibri" pitchFamily="34" charset="-120"/>
              </a:rPr>
              <a:t>가속도 + 자이로</a:t>
            </a:r>
            <a:endParaRPr lang="en-US" sz="1000" dirty="0"/>
          </a:p>
        </p:txBody>
      </p:sp>
      <p:sp>
        <p:nvSpPr>
          <p:cNvPr id="7" name="Text 5"/>
          <p:cNvSpPr/>
          <p:nvPr/>
        </p:nvSpPr>
        <p:spPr>
          <a:xfrm>
            <a:off x="2514600" y="1847088"/>
            <a:ext cx="2606040" cy="292608"/>
          </a:xfrm>
          <a:prstGeom prst="rect">
            <a:avLst/>
          </a:prstGeom>
          <a:noFill/>
          <a:ln/>
        </p:spPr>
        <p:txBody>
          <a:bodyPr wrap="square" lIns="0" tIns="0" rIns="0" bIns="0" rtlCol="0" anchor="ctr"/>
          <a:lstStyle/>
          <a:p>
            <a:pPr marL="0" indent="0">
              <a:buNone/>
            </a:pPr>
            <a:r>
              <a:rPr lang="en-US" sz="1200" dirty="0">
                <a:solidFill>
                  <a:srgbClr val="102A43"/>
                </a:solidFill>
                <a:latin typeface="Calibri" pitchFamily="34" charset="0"/>
                <a:ea typeface="Calibri" pitchFamily="34" charset="-122"/>
                <a:cs typeface="Calibri" pitchFamily="34" charset="-120"/>
              </a:rPr>
              <a:t>자세, 각속도, 보행 위상</a:t>
            </a:r>
            <a:endParaRPr lang="en-US" sz="1200" dirty="0"/>
          </a:p>
        </p:txBody>
      </p:sp>
      <p:sp>
        <p:nvSpPr>
          <p:cNvPr id="8" name="Text 6"/>
          <p:cNvSpPr/>
          <p:nvPr/>
        </p:nvSpPr>
        <p:spPr>
          <a:xfrm>
            <a:off x="5257800" y="1691640"/>
            <a:ext cx="2743200" cy="292608"/>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  싸고 어디든 붙는다</a:t>
            </a:r>
            <a:endParaRPr lang="en-US" sz="1100" dirty="0"/>
          </a:p>
        </p:txBody>
      </p:sp>
      <p:sp>
        <p:nvSpPr>
          <p:cNvPr id="9" name="Text 7"/>
          <p:cNvSpPr/>
          <p:nvPr/>
        </p:nvSpPr>
        <p:spPr>
          <a:xfrm>
            <a:off x="5257800" y="2002536"/>
            <a:ext cx="2743200" cy="292608"/>
          </a:xfrm>
          <a:prstGeom prst="rect">
            <a:avLst/>
          </a:prstGeom>
          <a:noFill/>
          <a:ln/>
        </p:spPr>
        <p:txBody>
          <a:bodyPr wrap="square" lIns="0" tIns="0" rIns="0" bIns="0" rtlCol="0" anchor="ctr"/>
          <a:lstStyle/>
          <a:p>
            <a:pPr marL="0" indent="0">
              <a:buNone/>
            </a:pPr>
            <a:r>
              <a:rPr lang="en-US" sz="1100" dirty="0">
                <a:solidFill>
                  <a:srgbClr val="9B2226"/>
                </a:solidFill>
                <a:latin typeface="Calibri" pitchFamily="34" charset="0"/>
                <a:ea typeface="Calibri" pitchFamily="34" charset="-122"/>
                <a:cs typeface="Calibri" pitchFamily="34" charset="-120"/>
              </a:rPr>
              <a:t>–  적분 드리프트</a:t>
            </a:r>
            <a:endParaRPr lang="en-US" sz="1100" dirty="0"/>
          </a:p>
        </p:txBody>
      </p:sp>
      <p:sp>
        <p:nvSpPr>
          <p:cNvPr id="10" name="Shape 8"/>
          <p:cNvSpPr/>
          <p:nvPr/>
        </p:nvSpPr>
        <p:spPr>
          <a:xfrm>
            <a:off x="548640" y="2468880"/>
            <a:ext cx="7680960" cy="822960"/>
          </a:xfrm>
          <a:prstGeom prst="roundRect">
            <a:avLst>
              <a:gd name="adj" fmla="val 666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804672" y="2615184"/>
            <a:ext cx="1600200" cy="292608"/>
          </a:xfrm>
          <a:prstGeom prst="rect">
            <a:avLst/>
          </a:prstGeom>
          <a:noFill/>
          <a:ln/>
        </p:spPr>
        <p:txBody>
          <a:bodyPr wrap="square" lIns="0" tIns="0" rIns="0" bIns="0" rtlCol="0" anchor="ctr"/>
          <a:lstStyle/>
          <a:p>
            <a:pPr marL="0" indent="0">
              <a:buNone/>
            </a:pPr>
            <a:r>
              <a:rPr lang="en-US" sz="1450" b="1" dirty="0">
                <a:solidFill>
                  <a:srgbClr val="102A43"/>
                </a:solidFill>
                <a:latin typeface="Cambria" pitchFamily="34" charset="0"/>
                <a:ea typeface="Cambria" pitchFamily="34" charset="-122"/>
                <a:cs typeface="Cambria" pitchFamily="34" charset="-120"/>
              </a:rPr>
              <a:t>EMG</a:t>
            </a:r>
            <a:endParaRPr lang="en-US" sz="1450" dirty="0"/>
          </a:p>
        </p:txBody>
      </p:sp>
      <p:sp>
        <p:nvSpPr>
          <p:cNvPr id="12" name="Text 10"/>
          <p:cNvSpPr/>
          <p:nvPr/>
        </p:nvSpPr>
        <p:spPr>
          <a:xfrm>
            <a:off x="804672" y="2926080"/>
            <a:ext cx="1600200" cy="237744"/>
          </a:xfrm>
          <a:prstGeom prst="rect">
            <a:avLst/>
          </a:prstGeom>
          <a:noFill/>
          <a:ln/>
        </p:spPr>
        <p:txBody>
          <a:bodyPr wrap="square" lIns="0" tIns="0" rIns="0" bIns="0" rtlCol="0" anchor="ctr"/>
          <a:lstStyle/>
          <a:p>
            <a:pPr marL="0" indent="0">
              <a:buNone/>
            </a:pPr>
            <a:r>
              <a:rPr lang="en-US" sz="1000" dirty="0">
                <a:solidFill>
                  <a:srgbClr val="0E7C86"/>
                </a:solidFill>
                <a:latin typeface="Calibri" pitchFamily="34" charset="0"/>
                <a:ea typeface="Calibri" pitchFamily="34" charset="-122"/>
                <a:cs typeface="Calibri" pitchFamily="34" charset="-120"/>
              </a:rPr>
              <a:t>근전도</a:t>
            </a:r>
            <a:endParaRPr lang="en-US" sz="1000" dirty="0"/>
          </a:p>
        </p:txBody>
      </p:sp>
      <p:sp>
        <p:nvSpPr>
          <p:cNvPr id="13" name="Text 11"/>
          <p:cNvSpPr/>
          <p:nvPr/>
        </p:nvSpPr>
        <p:spPr>
          <a:xfrm>
            <a:off x="2514600" y="2743200"/>
            <a:ext cx="2606040" cy="292608"/>
          </a:xfrm>
          <a:prstGeom prst="rect">
            <a:avLst/>
          </a:prstGeom>
          <a:noFill/>
          <a:ln/>
        </p:spPr>
        <p:txBody>
          <a:bodyPr wrap="square" lIns="0" tIns="0" rIns="0" bIns="0" rtlCol="0" anchor="ctr"/>
          <a:lstStyle/>
          <a:p>
            <a:pPr marL="0" indent="0">
              <a:buNone/>
            </a:pPr>
            <a:r>
              <a:rPr lang="en-US" sz="1200" dirty="0">
                <a:solidFill>
                  <a:srgbClr val="102A43"/>
                </a:solidFill>
                <a:latin typeface="Calibri" pitchFamily="34" charset="0"/>
                <a:ea typeface="Calibri" pitchFamily="34" charset="-122"/>
                <a:cs typeface="Calibri" pitchFamily="34" charset="-120"/>
              </a:rPr>
              <a:t>근육이 '일하려는' 전기 신호</a:t>
            </a:r>
            <a:endParaRPr lang="en-US" sz="1200" dirty="0"/>
          </a:p>
        </p:txBody>
      </p:sp>
      <p:sp>
        <p:nvSpPr>
          <p:cNvPr id="14" name="Text 12"/>
          <p:cNvSpPr/>
          <p:nvPr/>
        </p:nvSpPr>
        <p:spPr>
          <a:xfrm>
            <a:off x="5257800" y="2587752"/>
            <a:ext cx="2743200" cy="292608"/>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  움직임보다 먼저 나온다</a:t>
            </a:r>
            <a:endParaRPr lang="en-US" sz="1100" dirty="0"/>
          </a:p>
        </p:txBody>
      </p:sp>
      <p:sp>
        <p:nvSpPr>
          <p:cNvPr id="15" name="Text 13"/>
          <p:cNvSpPr/>
          <p:nvPr/>
        </p:nvSpPr>
        <p:spPr>
          <a:xfrm>
            <a:off x="5257800" y="2898648"/>
            <a:ext cx="2743200" cy="292608"/>
          </a:xfrm>
          <a:prstGeom prst="rect">
            <a:avLst/>
          </a:prstGeom>
          <a:noFill/>
          <a:ln/>
        </p:spPr>
        <p:txBody>
          <a:bodyPr wrap="square" lIns="0" tIns="0" rIns="0" bIns="0" rtlCol="0" anchor="ctr"/>
          <a:lstStyle/>
          <a:p>
            <a:pPr marL="0" indent="0">
              <a:buNone/>
            </a:pPr>
            <a:r>
              <a:rPr lang="en-US" sz="1100" dirty="0">
                <a:solidFill>
                  <a:srgbClr val="9B2226"/>
                </a:solidFill>
                <a:latin typeface="Calibri" pitchFamily="34" charset="0"/>
                <a:ea typeface="Calibri" pitchFamily="34" charset="-122"/>
                <a:cs typeface="Calibri" pitchFamily="34" charset="-120"/>
              </a:rPr>
              <a:t>–  땀·전극 위치에 취약</a:t>
            </a:r>
            <a:endParaRPr lang="en-US" sz="1100" dirty="0"/>
          </a:p>
        </p:txBody>
      </p:sp>
      <p:sp>
        <p:nvSpPr>
          <p:cNvPr id="16" name="Shape 14"/>
          <p:cNvSpPr/>
          <p:nvPr/>
        </p:nvSpPr>
        <p:spPr>
          <a:xfrm>
            <a:off x="548640" y="3364992"/>
            <a:ext cx="768096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804672" y="3511296"/>
            <a:ext cx="1600200" cy="292608"/>
          </a:xfrm>
          <a:prstGeom prst="rect">
            <a:avLst/>
          </a:prstGeom>
          <a:noFill/>
          <a:ln/>
        </p:spPr>
        <p:txBody>
          <a:bodyPr wrap="square" lIns="0" tIns="0" rIns="0" bIns="0" rtlCol="0" anchor="ctr"/>
          <a:lstStyle/>
          <a:p>
            <a:pPr marL="0" indent="0">
              <a:buNone/>
            </a:pPr>
            <a:r>
              <a:rPr lang="en-US" sz="1450" b="1" dirty="0">
                <a:solidFill>
                  <a:srgbClr val="102A43"/>
                </a:solidFill>
                <a:latin typeface="Cambria" pitchFamily="34" charset="0"/>
                <a:ea typeface="Cambria" pitchFamily="34" charset="-122"/>
                <a:cs typeface="Cambria" pitchFamily="34" charset="-120"/>
              </a:rPr>
              <a:t>힘·토크 센서</a:t>
            </a:r>
            <a:endParaRPr lang="en-US" sz="1450" dirty="0"/>
          </a:p>
        </p:txBody>
      </p:sp>
      <p:sp>
        <p:nvSpPr>
          <p:cNvPr id="18" name="Text 16"/>
          <p:cNvSpPr/>
          <p:nvPr/>
        </p:nvSpPr>
        <p:spPr>
          <a:xfrm>
            <a:off x="804672" y="3822192"/>
            <a:ext cx="1600200" cy="237744"/>
          </a:xfrm>
          <a:prstGeom prst="rect">
            <a:avLst/>
          </a:prstGeom>
          <a:noFill/>
          <a:ln/>
        </p:spPr>
        <p:txBody>
          <a:bodyPr wrap="square" lIns="0" tIns="0" rIns="0" bIns="0" rtlCol="0" anchor="ctr"/>
          <a:lstStyle/>
          <a:p>
            <a:pPr marL="0" indent="0">
              <a:buNone/>
            </a:pPr>
            <a:r>
              <a:rPr lang="en-US" sz="1000" dirty="0">
                <a:solidFill>
                  <a:srgbClr val="0E7C86"/>
                </a:solidFill>
                <a:latin typeface="Calibri" pitchFamily="34" charset="0"/>
                <a:ea typeface="Calibri" pitchFamily="34" charset="-122"/>
                <a:cs typeface="Calibri" pitchFamily="34" charset="-120"/>
              </a:rPr>
              <a:t>로드셀</a:t>
            </a:r>
            <a:endParaRPr lang="en-US" sz="1000" dirty="0"/>
          </a:p>
        </p:txBody>
      </p:sp>
      <p:sp>
        <p:nvSpPr>
          <p:cNvPr id="19" name="Text 17"/>
          <p:cNvSpPr/>
          <p:nvPr/>
        </p:nvSpPr>
        <p:spPr>
          <a:xfrm>
            <a:off x="2514600" y="3639312"/>
            <a:ext cx="2606040" cy="292608"/>
          </a:xfrm>
          <a:prstGeom prst="rect">
            <a:avLst/>
          </a:prstGeom>
          <a:noFill/>
          <a:ln/>
        </p:spPr>
        <p:txBody>
          <a:bodyPr wrap="square" lIns="0" tIns="0" rIns="0" bIns="0" rtlCol="0" anchor="ctr"/>
          <a:lstStyle/>
          <a:p>
            <a:pPr marL="0" indent="0">
              <a:buNone/>
            </a:pPr>
            <a:r>
              <a:rPr lang="en-US" sz="1200" dirty="0">
                <a:solidFill>
                  <a:srgbClr val="102A43"/>
                </a:solidFill>
                <a:latin typeface="Calibri" pitchFamily="34" charset="0"/>
                <a:ea typeface="Calibri" pitchFamily="34" charset="-122"/>
                <a:cs typeface="Calibri" pitchFamily="34" charset="-120"/>
              </a:rPr>
              <a:t>실제 상호작용력</a:t>
            </a:r>
            <a:endParaRPr lang="en-US" sz="1200" dirty="0"/>
          </a:p>
        </p:txBody>
      </p:sp>
      <p:sp>
        <p:nvSpPr>
          <p:cNvPr id="20" name="Text 18"/>
          <p:cNvSpPr/>
          <p:nvPr/>
        </p:nvSpPr>
        <p:spPr>
          <a:xfrm>
            <a:off x="5257800" y="3483864"/>
            <a:ext cx="2743200" cy="292608"/>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  제어의 직접 근거</a:t>
            </a:r>
            <a:endParaRPr lang="en-US" sz="1100" dirty="0"/>
          </a:p>
        </p:txBody>
      </p:sp>
      <p:sp>
        <p:nvSpPr>
          <p:cNvPr id="21" name="Text 19"/>
          <p:cNvSpPr/>
          <p:nvPr/>
        </p:nvSpPr>
        <p:spPr>
          <a:xfrm>
            <a:off x="5257800" y="3794760"/>
            <a:ext cx="2743200" cy="292608"/>
          </a:xfrm>
          <a:prstGeom prst="rect">
            <a:avLst/>
          </a:prstGeom>
          <a:noFill/>
          <a:ln/>
        </p:spPr>
        <p:txBody>
          <a:bodyPr wrap="square" lIns="0" tIns="0" rIns="0" bIns="0" rtlCol="0" anchor="ctr"/>
          <a:lstStyle/>
          <a:p>
            <a:pPr marL="0" indent="0">
              <a:buNone/>
            </a:pPr>
            <a:r>
              <a:rPr lang="en-US" sz="1100" dirty="0">
                <a:solidFill>
                  <a:srgbClr val="9B2226"/>
                </a:solidFill>
                <a:latin typeface="Calibri" pitchFamily="34" charset="0"/>
                <a:ea typeface="Calibri" pitchFamily="34" charset="-122"/>
                <a:cs typeface="Calibri" pitchFamily="34" charset="-120"/>
              </a:rPr>
              <a:t>–  비싸고 무겁다</a:t>
            </a:r>
            <a:endParaRPr lang="en-US" sz="1100" dirty="0"/>
          </a:p>
        </p:txBody>
      </p:sp>
      <p:sp>
        <p:nvSpPr>
          <p:cNvPr id="22" name="Shape 20"/>
          <p:cNvSpPr/>
          <p:nvPr/>
        </p:nvSpPr>
        <p:spPr>
          <a:xfrm>
            <a:off x="548640" y="4261104"/>
            <a:ext cx="7680960" cy="822960"/>
          </a:xfrm>
          <a:prstGeom prst="roundRect">
            <a:avLst>
              <a:gd name="adj" fmla="val 666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3" name="Text 21"/>
          <p:cNvSpPr/>
          <p:nvPr/>
        </p:nvSpPr>
        <p:spPr>
          <a:xfrm>
            <a:off x="804672" y="4407408"/>
            <a:ext cx="1600200" cy="292608"/>
          </a:xfrm>
          <a:prstGeom prst="rect">
            <a:avLst/>
          </a:prstGeom>
          <a:noFill/>
          <a:ln/>
        </p:spPr>
        <p:txBody>
          <a:bodyPr wrap="square" lIns="0" tIns="0" rIns="0" bIns="0" rtlCol="0" anchor="ctr"/>
          <a:lstStyle/>
          <a:p>
            <a:pPr marL="0" indent="0">
              <a:buNone/>
            </a:pPr>
            <a:r>
              <a:rPr lang="en-US" sz="1450" b="1" dirty="0">
                <a:solidFill>
                  <a:srgbClr val="102A43"/>
                </a:solidFill>
                <a:latin typeface="Cambria" pitchFamily="34" charset="0"/>
                <a:ea typeface="Cambria" pitchFamily="34" charset="-122"/>
                <a:cs typeface="Cambria" pitchFamily="34" charset="-120"/>
              </a:rPr>
              <a:t>관절 엔코더</a:t>
            </a:r>
            <a:endParaRPr lang="en-US" sz="1450" dirty="0"/>
          </a:p>
        </p:txBody>
      </p:sp>
      <p:sp>
        <p:nvSpPr>
          <p:cNvPr id="24" name="Text 22"/>
          <p:cNvSpPr/>
          <p:nvPr/>
        </p:nvSpPr>
        <p:spPr>
          <a:xfrm>
            <a:off x="804672" y="4718304"/>
            <a:ext cx="1600200" cy="237744"/>
          </a:xfrm>
          <a:prstGeom prst="rect">
            <a:avLst/>
          </a:prstGeom>
          <a:noFill/>
          <a:ln/>
        </p:spPr>
        <p:txBody>
          <a:bodyPr wrap="square" lIns="0" tIns="0" rIns="0" bIns="0" rtlCol="0" anchor="ctr"/>
          <a:lstStyle/>
          <a:p>
            <a:pPr marL="0" indent="0">
              <a:buNone/>
            </a:pPr>
            <a:r>
              <a:rPr lang="en-US" sz="1000" dirty="0">
                <a:solidFill>
                  <a:srgbClr val="0E7C86"/>
                </a:solidFill>
                <a:latin typeface="Calibri" pitchFamily="34" charset="0"/>
                <a:ea typeface="Calibri" pitchFamily="34" charset="-122"/>
                <a:cs typeface="Calibri" pitchFamily="34" charset="-120"/>
              </a:rPr>
              <a:t>각도 센서</a:t>
            </a:r>
            <a:endParaRPr lang="en-US" sz="1000" dirty="0"/>
          </a:p>
        </p:txBody>
      </p:sp>
      <p:sp>
        <p:nvSpPr>
          <p:cNvPr id="25" name="Text 23"/>
          <p:cNvSpPr/>
          <p:nvPr/>
        </p:nvSpPr>
        <p:spPr>
          <a:xfrm>
            <a:off x="2514600" y="4535424"/>
            <a:ext cx="2606040" cy="292608"/>
          </a:xfrm>
          <a:prstGeom prst="rect">
            <a:avLst/>
          </a:prstGeom>
          <a:noFill/>
          <a:ln/>
        </p:spPr>
        <p:txBody>
          <a:bodyPr wrap="square" lIns="0" tIns="0" rIns="0" bIns="0" rtlCol="0" anchor="ctr"/>
          <a:lstStyle/>
          <a:p>
            <a:pPr marL="0" indent="0">
              <a:buNone/>
            </a:pPr>
            <a:r>
              <a:rPr lang="en-US" sz="1200" dirty="0">
                <a:solidFill>
                  <a:srgbClr val="102A43"/>
                </a:solidFill>
                <a:latin typeface="Calibri" pitchFamily="34" charset="0"/>
                <a:ea typeface="Calibri" pitchFamily="34" charset="-122"/>
                <a:cs typeface="Calibri" pitchFamily="34" charset="-120"/>
              </a:rPr>
              <a:t>관절 각도</a:t>
            </a:r>
            <a:endParaRPr lang="en-US" sz="1200" dirty="0"/>
          </a:p>
        </p:txBody>
      </p:sp>
      <p:sp>
        <p:nvSpPr>
          <p:cNvPr id="26" name="Text 24"/>
          <p:cNvSpPr/>
          <p:nvPr/>
        </p:nvSpPr>
        <p:spPr>
          <a:xfrm>
            <a:off x="5257800" y="4379976"/>
            <a:ext cx="2743200" cy="292608"/>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  정확하고 안정적</a:t>
            </a:r>
            <a:endParaRPr lang="en-US" sz="1100" dirty="0"/>
          </a:p>
        </p:txBody>
      </p:sp>
      <p:sp>
        <p:nvSpPr>
          <p:cNvPr id="27" name="Text 25"/>
          <p:cNvSpPr/>
          <p:nvPr/>
        </p:nvSpPr>
        <p:spPr>
          <a:xfrm>
            <a:off x="5257800" y="4690872"/>
            <a:ext cx="2743200" cy="292608"/>
          </a:xfrm>
          <a:prstGeom prst="rect">
            <a:avLst/>
          </a:prstGeom>
          <a:noFill/>
          <a:ln/>
        </p:spPr>
        <p:txBody>
          <a:bodyPr wrap="square" lIns="0" tIns="0" rIns="0" bIns="0" rtlCol="0" anchor="ctr"/>
          <a:lstStyle/>
          <a:p>
            <a:pPr marL="0" indent="0">
              <a:buNone/>
            </a:pPr>
            <a:r>
              <a:rPr lang="en-US" sz="1100" dirty="0">
                <a:solidFill>
                  <a:srgbClr val="9B2226"/>
                </a:solidFill>
                <a:latin typeface="Calibri" pitchFamily="34" charset="0"/>
                <a:ea typeface="Calibri" pitchFamily="34" charset="-122"/>
                <a:cs typeface="Calibri" pitchFamily="34" charset="-120"/>
              </a:rPr>
              <a:t>–  로봇 각도지 사람 각도는 아니다</a:t>
            </a:r>
            <a:endParaRPr lang="en-US" sz="1100" dirty="0"/>
          </a:p>
        </p:txBody>
      </p:sp>
      <p:sp>
        <p:nvSpPr>
          <p:cNvPr id="28" name="Shape 26"/>
          <p:cNvSpPr/>
          <p:nvPr/>
        </p:nvSpPr>
        <p:spPr>
          <a:xfrm>
            <a:off x="548640" y="5157216"/>
            <a:ext cx="7680960" cy="822960"/>
          </a:xfrm>
          <a:prstGeom prst="roundRect">
            <a:avLst>
              <a:gd name="adj" fmla="val 666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9" name="Text 27"/>
          <p:cNvSpPr/>
          <p:nvPr/>
        </p:nvSpPr>
        <p:spPr>
          <a:xfrm>
            <a:off x="804672" y="5303520"/>
            <a:ext cx="1600200" cy="292608"/>
          </a:xfrm>
          <a:prstGeom prst="rect">
            <a:avLst/>
          </a:prstGeom>
          <a:noFill/>
          <a:ln/>
        </p:spPr>
        <p:txBody>
          <a:bodyPr wrap="square" lIns="0" tIns="0" rIns="0" bIns="0" rtlCol="0" anchor="ctr"/>
          <a:lstStyle/>
          <a:p>
            <a:pPr marL="0" indent="0">
              <a:buNone/>
            </a:pPr>
            <a:r>
              <a:rPr lang="en-US" sz="1450" b="1" dirty="0">
                <a:solidFill>
                  <a:srgbClr val="102A43"/>
                </a:solidFill>
                <a:latin typeface="Cambria" pitchFamily="34" charset="0"/>
                <a:ea typeface="Cambria" pitchFamily="34" charset="-122"/>
                <a:cs typeface="Cambria" pitchFamily="34" charset="-120"/>
              </a:rPr>
              <a:t>압력 깔창</a:t>
            </a:r>
            <a:endParaRPr lang="en-US" sz="1450" dirty="0"/>
          </a:p>
        </p:txBody>
      </p:sp>
      <p:sp>
        <p:nvSpPr>
          <p:cNvPr id="30" name="Text 28"/>
          <p:cNvSpPr/>
          <p:nvPr/>
        </p:nvSpPr>
        <p:spPr>
          <a:xfrm>
            <a:off x="804672" y="5614416"/>
            <a:ext cx="1600200" cy="237744"/>
          </a:xfrm>
          <a:prstGeom prst="rect">
            <a:avLst/>
          </a:prstGeom>
          <a:noFill/>
          <a:ln/>
        </p:spPr>
        <p:txBody>
          <a:bodyPr wrap="square" lIns="0" tIns="0" rIns="0" bIns="0" rtlCol="0" anchor="ctr"/>
          <a:lstStyle/>
          <a:p>
            <a:pPr marL="0" indent="0">
              <a:buNone/>
            </a:pPr>
            <a:r>
              <a:rPr lang="en-US" sz="1000" dirty="0">
                <a:solidFill>
                  <a:srgbClr val="0E7C86"/>
                </a:solidFill>
                <a:latin typeface="Calibri" pitchFamily="34" charset="0"/>
                <a:ea typeface="Calibri" pitchFamily="34" charset="-122"/>
                <a:cs typeface="Calibri" pitchFamily="34" charset="-120"/>
              </a:rPr>
              <a:t>FSR</a:t>
            </a:r>
            <a:endParaRPr lang="en-US" sz="1000" dirty="0"/>
          </a:p>
        </p:txBody>
      </p:sp>
      <p:sp>
        <p:nvSpPr>
          <p:cNvPr id="31" name="Text 29"/>
          <p:cNvSpPr/>
          <p:nvPr/>
        </p:nvSpPr>
        <p:spPr>
          <a:xfrm>
            <a:off x="2514600" y="5431536"/>
            <a:ext cx="2606040" cy="292608"/>
          </a:xfrm>
          <a:prstGeom prst="rect">
            <a:avLst/>
          </a:prstGeom>
          <a:noFill/>
          <a:ln/>
        </p:spPr>
        <p:txBody>
          <a:bodyPr wrap="square" lIns="0" tIns="0" rIns="0" bIns="0" rtlCol="0" anchor="ctr"/>
          <a:lstStyle/>
          <a:p>
            <a:pPr marL="0" indent="0">
              <a:buNone/>
            </a:pPr>
            <a:r>
              <a:rPr lang="en-US" sz="1200" dirty="0">
                <a:solidFill>
                  <a:srgbClr val="102A43"/>
                </a:solidFill>
                <a:latin typeface="Calibri" pitchFamily="34" charset="0"/>
                <a:ea typeface="Calibri" pitchFamily="34" charset="-122"/>
                <a:cs typeface="Calibri" pitchFamily="34" charset="-120"/>
              </a:rPr>
              <a:t>발 접지, 하중 분포</a:t>
            </a:r>
            <a:endParaRPr lang="en-US" sz="1200" dirty="0"/>
          </a:p>
        </p:txBody>
      </p:sp>
      <p:sp>
        <p:nvSpPr>
          <p:cNvPr id="32" name="Text 30"/>
          <p:cNvSpPr/>
          <p:nvPr/>
        </p:nvSpPr>
        <p:spPr>
          <a:xfrm>
            <a:off x="5257800" y="5276088"/>
            <a:ext cx="2743200" cy="292608"/>
          </a:xfrm>
          <a:prstGeom prst="rect">
            <a:avLst/>
          </a:prstGeom>
          <a:noFill/>
          <a:ln/>
        </p:spPr>
        <p:txBody>
          <a:bodyPr wrap="square" lIns="0" tIns="0" rIns="0" bIns="0" rtlCol="0" anchor="ctr"/>
          <a:lstStyle/>
          <a:p>
            <a:pPr marL="0" indent="0">
              <a:buNone/>
            </a:pPr>
            <a:r>
              <a:rPr lang="en-US" sz="1100" b="1" dirty="0">
                <a:solidFill>
                  <a:srgbClr val="0E7C86"/>
                </a:solidFill>
                <a:latin typeface="Calibri" pitchFamily="34" charset="0"/>
                <a:ea typeface="Calibri" pitchFamily="34" charset="-122"/>
                <a:cs typeface="Calibri" pitchFamily="34" charset="-120"/>
              </a:rPr>
              <a:t>+  보행 이벤트 검출</a:t>
            </a:r>
            <a:endParaRPr lang="en-US" sz="1100" dirty="0"/>
          </a:p>
        </p:txBody>
      </p:sp>
      <p:sp>
        <p:nvSpPr>
          <p:cNvPr id="33" name="Text 31"/>
          <p:cNvSpPr/>
          <p:nvPr/>
        </p:nvSpPr>
        <p:spPr>
          <a:xfrm>
            <a:off x="5257800" y="5586984"/>
            <a:ext cx="2743200" cy="292608"/>
          </a:xfrm>
          <a:prstGeom prst="rect">
            <a:avLst/>
          </a:prstGeom>
          <a:noFill/>
          <a:ln/>
        </p:spPr>
        <p:txBody>
          <a:bodyPr wrap="square" lIns="0" tIns="0" rIns="0" bIns="0" rtlCol="0" anchor="ctr"/>
          <a:lstStyle/>
          <a:p>
            <a:pPr marL="0" indent="0">
              <a:buNone/>
            </a:pPr>
            <a:r>
              <a:rPr lang="en-US" sz="1100" dirty="0">
                <a:solidFill>
                  <a:srgbClr val="9B2226"/>
                </a:solidFill>
                <a:latin typeface="Calibri" pitchFamily="34" charset="0"/>
                <a:ea typeface="Calibri" pitchFamily="34" charset="-122"/>
                <a:cs typeface="Calibri" pitchFamily="34" charset="-120"/>
              </a:rPr>
              <a:t>–  마모·개인차</a:t>
            </a:r>
            <a:endParaRPr lang="en-US" sz="1100" dirty="0"/>
          </a:p>
        </p:txBody>
      </p:sp>
      <p:sp>
        <p:nvSpPr>
          <p:cNvPr id="34" name="Shape 32"/>
          <p:cNvSpPr/>
          <p:nvPr/>
        </p:nvSpPr>
        <p:spPr>
          <a:xfrm>
            <a:off x="8549640" y="1572768"/>
            <a:ext cx="3063240" cy="4389120"/>
          </a:xfrm>
          <a:prstGeom prst="roundRect">
            <a:avLst>
              <a:gd name="adj" fmla="val 1791"/>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35" name="Text 33"/>
          <p:cNvSpPr/>
          <p:nvPr/>
        </p:nvSpPr>
        <p:spPr>
          <a:xfrm>
            <a:off x="8823960" y="1810512"/>
            <a:ext cx="2514600" cy="292608"/>
          </a:xfrm>
          <a:prstGeom prst="rect">
            <a:avLst/>
          </a:prstGeom>
          <a:noFill/>
          <a:ln/>
        </p:spPr>
        <p:txBody>
          <a:bodyPr wrap="square" lIns="0" tIns="0" rIns="0" bIns="0" rtlCol="0" anchor="ctr"/>
          <a:lstStyle/>
          <a:p>
            <a:pPr marL="0" indent="0">
              <a:buNone/>
            </a:pPr>
            <a:r>
              <a:rPr lang="en-US" sz="1200" b="1" dirty="0">
                <a:solidFill>
                  <a:srgbClr val="8FC7CE"/>
                </a:solidFill>
                <a:latin typeface="Calibri" pitchFamily="34" charset="0"/>
                <a:ea typeface="Calibri" pitchFamily="34" charset="-122"/>
                <a:cs typeface="Calibri" pitchFamily="34" charset="-120"/>
              </a:rPr>
              <a:t>엔젤슈트 H10</a:t>
            </a:r>
            <a:endParaRPr lang="en-US" sz="1200" dirty="0"/>
          </a:p>
        </p:txBody>
      </p:sp>
      <p:sp>
        <p:nvSpPr>
          <p:cNvPr id="36" name="Text 34"/>
          <p:cNvSpPr/>
          <p:nvPr/>
        </p:nvSpPr>
        <p:spPr>
          <a:xfrm>
            <a:off x="8823960" y="2148840"/>
            <a:ext cx="2514600" cy="685800"/>
          </a:xfrm>
          <a:prstGeom prst="rect">
            <a:avLst/>
          </a:prstGeom>
          <a:noFill/>
          <a:ln/>
        </p:spPr>
        <p:txBody>
          <a:bodyPr wrap="square" lIns="0" tIns="0" rIns="0" bIns="0" rtlCol="0" anchor="ctr"/>
          <a:lstStyle/>
          <a:p>
            <a:pPr marL="0" indent="0">
              <a:buNone/>
            </a:pPr>
            <a:r>
              <a:rPr lang="en-US" sz="4000" b="1" dirty="0">
                <a:solidFill>
                  <a:srgbClr val="E8871E"/>
                </a:solidFill>
                <a:latin typeface="Cambria" pitchFamily="34" charset="0"/>
                <a:ea typeface="Cambria" pitchFamily="34" charset="-122"/>
                <a:cs typeface="Cambria" pitchFamily="34" charset="-120"/>
              </a:rPr>
              <a:t>7개</a:t>
            </a:r>
            <a:endParaRPr lang="en-US" sz="4000" dirty="0"/>
          </a:p>
        </p:txBody>
      </p:sp>
      <p:sp>
        <p:nvSpPr>
          <p:cNvPr id="37" name="Text 35"/>
          <p:cNvSpPr/>
          <p:nvPr/>
        </p:nvSpPr>
        <p:spPr>
          <a:xfrm>
            <a:off x="8823960" y="2880360"/>
            <a:ext cx="2514600" cy="109728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고성능 센서 +</a:t>
            </a:r>
            <a:endParaRPr lang="en-US" sz="1250" dirty="0"/>
          </a:p>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온디바이스 AI로</a:t>
            </a:r>
            <a:endParaRPr lang="en-US" sz="1250" dirty="0"/>
          </a:p>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사용자 움직임을</a:t>
            </a:r>
            <a:endParaRPr lang="en-US" sz="1250" dirty="0"/>
          </a:p>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실시간 분석</a:t>
            </a:r>
            <a:endParaRPr lang="en-US" sz="1250" dirty="0"/>
          </a:p>
        </p:txBody>
      </p:sp>
      <p:sp>
        <p:nvSpPr>
          <p:cNvPr id="38" name="Shape 36"/>
          <p:cNvSpPr/>
          <p:nvPr/>
        </p:nvSpPr>
        <p:spPr>
          <a:xfrm>
            <a:off x="8823960" y="4114800"/>
            <a:ext cx="2514600" cy="0"/>
          </a:xfrm>
          <a:prstGeom prst="line">
            <a:avLst/>
          </a:prstGeom>
          <a:noFill/>
          <a:ln w="12700">
            <a:solidFill>
              <a:srgbClr val="0E7C86"/>
            </a:solidFill>
            <a:prstDash val="solid"/>
          </a:ln>
        </p:spPr>
        <p:txBody>
          <a:bodyPr/>
          <a:lstStyle/>
          <a:p>
            <a:endParaRPr lang="ko-KR" altLang="en-US"/>
          </a:p>
        </p:txBody>
      </p:sp>
      <p:sp>
        <p:nvSpPr>
          <p:cNvPr id="39" name="Text 37"/>
          <p:cNvSpPr/>
          <p:nvPr/>
        </p:nvSpPr>
        <p:spPr>
          <a:xfrm>
            <a:off x="8823960" y="4251960"/>
            <a:ext cx="2514600" cy="1371600"/>
          </a:xfrm>
          <a:prstGeom prst="rect">
            <a:avLst/>
          </a:prstGeom>
          <a:noFill/>
          <a:ln/>
        </p:spPr>
        <p:txBody>
          <a:bodyPr wrap="square" lIns="0" tIns="0" rIns="0" bIns="0" rtlCol="0" anchor="ctr"/>
          <a:lstStyle/>
          <a:p>
            <a:pPr marL="0" indent="0">
              <a:lnSpc>
                <a:spcPct val="125000"/>
              </a:lnSpc>
              <a:buNone/>
            </a:pPr>
            <a:r>
              <a:rPr lang="en-US" sz="1100" i="1" dirty="0">
                <a:solidFill>
                  <a:srgbClr val="8FC7CE"/>
                </a:solidFill>
                <a:latin typeface="Calibri" pitchFamily="34" charset="0"/>
                <a:ea typeface="Calibri" pitchFamily="34" charset="-122"/>
                <a:cs typeface="Calibri" pitchFamily="34" charset="-120"/>
              </a:rPr>
              <a:t>반대 방향도 있습니다 —</a:t>
            </a:r>
            <a:endParaRPr lang="en-US" sz="1100" dirty="0"/>
          </a:p>
          <a:p>
            <a:pPr marL="0" indent="0">
              <a:lnSpc>
                <a:spcPct val="125000"/>
              </a:lnSpc>
              <a:buNone/>
            </a:pPr>
            <a:r>
              <a:rPr lang="en-US" sz="1100" i="1" dirty="0">
                <a:solidFill>
                  <a:srgbClr val="8FC7CE"/>
                </a:solidFill>
                <a:latin typeface="Calibri" pitchFamily="34" charset="0"/>
                <a:ea typeface="Calibri" pitchFamily="34" charset="-122"/>
                <a:cs typeface="Calibri" pitchFamily="34" charset="-120"/>
              </a:rPr>
              <a:t>전자과기대는 IROS 2025에서</a:t>
            </a:r>
            <a:endParaRPr lang="en-US" sz="1100" dirty="0"/>
          </a:p>
          <a:p>
            <a:pPr marL="0" indent="0">
              <a:lnSpc>
                <a:spcPct val="125000"/>
              </a:lnSpc>
              <a:buNone/>
            </a:pPr>
            <a:r>
              <a:rPr lang="en-US" sz="1100" i="1" dirty="0">
                <a:solidFill>
                  <a:srgbClr val="8FC7CE"/>
                </a:solidFill>
                <a:latin typeface="Calibri" pitchFamily="34" charset="0"/>
                <a:ea typeface="Calibri" pitchFamily="34" charset="-122"/>
                <a:cs typeface="Calibri" pitchFamily="34" charset="-120"/>
              </a:rPr>
              <a:t>힘 센서 없이 접촉 상태를</a:t>
            </a:r>
            <a:endParaRPr lang="en-US" sz="1100" dirty="0"/>
          </a:p>
          <a:p>
            <a:pPr marL="0" indent="0">
              <a:lnSpc>
                <a:spcPct val="125000"/>
              </a:lnSpc>
              <a:buNone/>
            </a:pPr>
            <a:r>
              <a:rPr lang="en-US" sz="1100" i="1" dirty="0">
                <a:solidFill>
                  <a:srgbClr val="8FC7CE"/>
                </a:solidFill>
                <a:latin typeface="Calibri" pitchFamily="34" charset="0"/>
                <a:ea typeface="Calibri" pitchFamily="34" charset="-122"/>
                <a:cs typeface="Calibri" pitchFamily="34" charset="-120"/>
              </a:rPr>
              <a:t>추정하는 방법을 발표했습니다.</a:t>
            </a:r>
            <a:endParaRPr lang="en-US" sz="1100" dirty="0"/>
          </a:p>
        </p:txBody>
      </p:sp>
      <p:sp>
        <p:nvSpPr>
          <p:cNvPr id="40" name="Text 38"/>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엔젤슈트 H10 (BioTimes)">
                  <a:extLst>
                    <a:ext uri="{A12FA001-AC4F-418D-AE19-62706E023703}">
                      <ahyp:hlinkClr xmlns:ahyp="http://schemas.microsoft.com/office/drawing/2018/hyperlinkcolor" val="tx"/>
                    </a:ext>
                  </a:extLst>
                </a:hlinkClick>
              </a:rPr>
              <a:t>엔젤슈트 H10 (BioTimes)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4-2 · 두 가지 재는 방식</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몸에 붙여 재기 vs 밖에서 보기</a:t>
            </a:r>
            <a:endParaRPr lang="en-US" sz="3000" dirty="0"/>
          </a:p>
        </p:txBody>
      </p:sp>
      <p:sp>
        <p:nvSpPr>
          <p:cNvPr id="4" name="Shape 2"/>
          <p:cNvSpPr/>
          <p:nvPr/>
        </p:nvSpPr>
        <p:spPr>
          <a:xfrm>
            <a:off x="548640" y="1572768"/>
            <a:ext cx="5074920" cy="566928"/>
          </a:xfrm>
          <a:prstGeom prst="roundRect">
            <a:avLst>
              <a:gd name="adj" fmla="val 9677"/>
            </a:avLst>
          </a:prstGeom>
          <a:solidFill>
            <a:srgbClr val="0E7C86"/>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548640" y="1572768"/>
            <a:ext cx="5074920" cy="56692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웨어러블 센서</a:t>
            </a:r>
            <a:endParaRPr lang="en-US" sz="1900" dirty="0"/>
          </a:p>
        </p:txBody>
      </p:sp>
      <p:sp>
        <p:nvSpPr>
          <p:cNvPr id="6" name="Shape 4"/>
          <p:cNvSpPr/>
          <p:nvPr/>
        </p:nvSpPr>
        <p:spPr>
          <a:xfrm>
            <a:off x="6537960" y="1572768"/>
            <a:ext cx="5074920" cy="566928"/>
          </a:xfrm>
          <a:prstGeom prst="roundRect">
            <a:avLst>
              <a:gd name="adj" fmla="val 9677"/>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7" name="Text 5"/>
          <p:cNvSpPr/>
          <p:nvPr/>
        </p:nvSpPr>
        <p:spPr>
          <a:xfrm>
            <a:off x="6537960" y="1572768"/>
            <a:ext cx="5074920" cy="56692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광학 모션캡처 (VICON)</a:t>
            </a:r>
            <a:endParaRPr lang="en-US" sz="1900" dirty="0"/>
          </a:p>
        </p:txBody>
      </p:sp>
      <p:sp>
        <p:nvSpPr>
          <p:cNvPr id="8" name="Shape 6"/>
          <p:cNvSpPr/>
          <p:nvPr/>
        </p:nvSpPr>
        <p:spPr>
          <a:xfrm>
            <a:off x="548640" y="2267712"/>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Shape 7"/>
          <p:cNvSpPr/>
          <p:nvPr/>
        </p:nvSpPr>
        <p:spPr>
          <a:xfrm>
            <a:off x="6537960" y="2267712"/>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0" name="Text 8"/>
          <p:cNvSpPr/>
          <p:nvPr/>
        </p:nvSpPr>
        <p:spPr>
          <a:xfrm>
            <a:off x="5687568" y="2404872"/>
            <a:ext cx="786384" cy="274320"/>
          </a:xfrm>
          <a:prstGeom prst="rect">
            <a:avLst/>
          </a:prstGeom>
          <a:noFill/>
          <a:ln/>
        </p:spPr>
        <p:txBody>
          <a:bodyPr wrap="square" lIns="0" tIns="0" rIns="0" bIns="0" rtlCol="0" anchor="ctr"/>
          <a:lstStyle/>
          <a:p>
            <a:pPr marL="0" indent="0" algn="ctr">
              <a:buNone/>
            </a:pPr>
            <a:r>
              <a:rPr lang="en-US" sz="950" b="1" dirty="0">
                <a:solidFill>
                  <a:srgbClr val="829AB1"/>
                </a:solidFill>
                <a:latin typeface="Calibri" pitchFamily="34" charset="0"/>
                <a:ea typeface="Calibri" pitchFamily="34" charset="-122"/>
                <a:cs typeface="Calibri" pitchFamily="34" charset="-120"/>
              </a:rPr>
              <a:t>원리</a:t>
            </a:r>
            <a:endParaRPr lang="en-US" sz="950" dirty="0"/>
          </a:p>
        </p:txBody>
      </p:sp>
      <p:sp>
        <p:nvSpPr>
          <p:cNvPr id="11" name="Text 9"/>
          <p:cNvSpPr/>
          <p:nvPr/>
        </p:nvSpPr>
        <p:spPr>
          <a:xfrm>
            <a:off x="822960" y="2386584"/>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몸/로봇에 붙어 스스로 잰다</a:t>
            </a:r>
            <a:endParaRPr lang="en-US" sz="1300" dirty="0"/>
          </a:p>
        </p:txBody>
      </p:sp>
      <p:sp>
        <p:nvSpPr>
          <p:cNvPr id="12" name="Text 10"/>
          <p:cNvSpPr/>
          <p:nvPr/>
        </p:nvSpPr>
        <p:spPr>
          <a:xfrm>
            <a:off x="6812280" y="2386584"/>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카메라가 마커를 밖에서 관찰한다</a:t>
            </a:r>
            <a:endParaRPr lang="en-US" sz="1300" dirty="0"/>
          </a:p>
        </p:txBody>
      </p:sp>
      <p:sp>
        <p:nvSpPr>
          <p:cNvPr id="13" name="Shape 11"/>
          <p:cNvSpPr/>
          <p:nvPr/>
        </p:nvSpPr>
        <p:spPr>
          <a:xfrm>
            <a:off x="548640" y="2871216"/>
            <a:ext cx="5074920" cy="530352"/>
          </a:xfrm>
          <a:prstGeom prst="roundRect">
            <a:avLst>
              <a:gd name="adj" fmla="val 10345"/>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4" name="Shape 12"/>
          <p:cNvSpPr/>
          <p:nvPr/>
        </p:nvSpPr>
        <p:spPr>
          <a:xfrm>
            <a:off x="6537960" y="2871216"/>
            <a:ext cx="5074920" cy="530352"/>
          </a:xfrm>
          <a:prstGeom prst="roundRect">
            <a:avLst>
              <a:gd name="adj" fmla="val 10345"/>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5687568" y="3008376"/>
            <a:ext cx="786384" cy="274320"/>
          </a:xfrm>
          <a:prstGeom prst="rect">
            <a:avLst/>
          </a:prstGeom>
          <a:noFill/>
          <a:ln/>
        </p:spPr>
        <p:txBody>
          <a:bodyPr wrap="square" lIns="0" tIns="0" rIns="0" bIns="0" rtlCol="0" anchor="ctr"/>
          <a:lstStyle/>
          <a:p>
            <a:pPr marL="0" indent="0" algn="ctr">
              <a:buNone/>
            </a:pPr>
            <a:r>
              <a:rPr lang="en-US" sz="950" b="1" dirty="0">
                <a:solidFill>
                  <a:srgbClr val="829AB1"/>
                </a:solidFill>
                <a:latin typeface="Calibri" pitchFamily="34" charset="0"/>
                <a:ea typeface="Calibri" pitchFamily="34" charset="-122"/>
                <a:cs typeface="Calibri" pitchFamily="34" charset="-120"/>
              </a:rPr>
              <a:t>정확도</a:t>
            </a:r>
            <a:endParaRPr lang="en-US" sz="950" dirty="0"/>
          </a:p>
        </p:txBody>
      </p:sp>
      <p:sp>
        <p:nvSpPr>
          <p:cNvPr id="16" name="Text 14"/>
          <p:cNvSpPr/>
          <p:nvPr/>
        </p:nvSpPr>
        <p:spPr>
          <a:xfrm>
            <a:off x="822960" y="2990088"/>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검증이 필요한 값</a:t>
            </a:r>
            <a:endParaRPr lang="en-US" sz="1300" dirty="0"/>
          </a:p>
        </p:txBody>
      </p:sp>
      <p:sp>
        <p:nvSpPr>
          <p:cNvPr id="17" name="Text 15"/>
          <p:cNvSpPr/>
          <p:nvPr/>
        </p:nvSpPr>
        <p:spPr>
          <a:xfrm>
            <a:off x="6812280" y="2990088"/>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황금 기준(gold standard) = 사실상 정답</a:t>
            </a:r>
            <a:endParaRPr lang="en-US" sz="1300" dirty="0"/>
          </a:p>
        </p:txBody>
      </p:sp>
      <p:sp>
        <p:nvSpPr>
          <p:cNvPr id="18" name="Shape 16"/>
          <p:cNvSpPr/>
          <p:nvPr/>
        </p:nvSpPr>
        <p:spPr>
          <a:xfrm>
            <a:off x="548640" y="3474720"/>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9" name="Shape 17"/>
          <p:cNvSpPr/>
          <p:nvPr/>
        </p:nvSpPr>
        <p:spPr>
          <a:xfrm>
            <a:off x="6537960" y="3474720"/>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5687568" y="3611880"/>
            <a:ext cx="786384" cy="274320"/>
          </a:xfrm>
          <a:prstGeom prst="rect">
            <a:avLst/>
          </a:prstGeom>
          <a:noFill/>
          <a:ln/>
        </p:spPr>
        <p:txBody>
          <a:bodyPr wrap="square" lIns="0" tIns="0" rIns="0" bIns="0" rtlCol="0" anchor="ctr"/>
          <a:lstStyle/>
          <a:p>
            <a:pPr marL="0" indent="0" algn="ctr">
              <a:buNone/>
            </a:pPr>
            <a:r>
              <a:rPr lang="en-US" sz="950" b="1" dirty="0">
                <a:solidFill>
                  <a:srgbClr val="829AB1"/>
                </a:solidFill>
                <a:latin typeface="Calibri" pitchFamily="34" charset="0"/>
                <a:ea typeface="Calibri" pitchFamily="34" charset="-122"/>
                <a:cs typeface="Calibri" pitchFamily="34" charset="-120"/>
              </a:rPr>
              <a:t>환경</a:t>
            </a:r>
            <a:endParaRPr lang="en-US" sz="950" dirty="0"/>
          </a:p>
        </p:txBody>
      </p:sp>
      <p:sp>
        <p:nvSpPr>
          <p:cNvPr id="21" name="Text 19"/>
          <p:cNvSpPr/>
          <p:nvPr/>
        </p:nvSpPr>
        <p:spPr>
          <a:xfrm>
            <a:off x="822960" y="3593592"/>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일상, 야외, 무제한</a:t>
            </a:r>
            <a:endParaRPr lang="en-US" sz="1300" dirty="0"/>
          </a:p>
        </p:txBody>
      </p:sp>
      <p:sp>
        <p:nvSpPr>
          <p:cNvPr id="22" name="Text 20"/>
          <p:cNvSpPr/>
          <p:nvPr/>
        </p:nvSpPr>
        <p:spPr>
          <a:xfrm>
            <a:off x="6812280" y="3593592"/>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실험실 안, 마커 부착 필수</a:t>
            </a:r>
            <a:endParaRPr lang="en-US" sz="1300" dirty="0"/>
          </a:p>
        </p:txBody>
      </p:sp>
      <p:sp>
        <p:nvSpPr>
          <p:cNvPr id="23" name="Shape 21"/>
          <p:cNvSpPr/>
          <p:nvPr/>
        </p:nvSpPr>
        <p:spPr>
          <a:xfrm>
            <a:off x="548640" y="4078224"/>
            <a:ext cx="5074920" cy="530352"/>
          </a:xfrm>
          <a:prstGeom prst="roundRect">
            <a:avLst>
              <a:gd name="adj" fmla="val 10345"/>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4" name="Shape 22"/>
          <p:cNvSpPr/>
          <p:nvPr/>
        </p:nvSpPr>
        <p:spPr>
          <a:xfrm>
            <a:off x="6537960" y="4078224"/>
            <a:ext cx="5074920" cy="530352"/>
          </a:xfrm>
          <a:prstGeom prst="roundRect">
            <a:avLst>
              <a:gd name="adj" fmla="val 10345"/>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5" name="Text 23"/>
          <p:cNvSpPr/>
          <p:nvPr/>
        </p:nvSpPr>
        <p:spPr>
          <a:xfrm>
            <a:off x="5687568" y="4215384"/>
            <a:ext cx="786384" cy="274320"/>
          </a:xfrm>
          <a:prstGeom prst="rect">
            <a:avLst/>
          </a:prstGeom>
          <a:noFill/>
          <a:ln/>
        </p:spPr>
        <p:txBody>
          <a:bodyPr wrap="square" lIns="0" tIns="0" rIns="0" bIns="0" rtlCol="0" anchor="ctr"/>
          <a:lstStyle/>
          <a:p>
            <a:pPr marL="0" indent="0" algn="ctr">
              <a:buNone/>
            </a:pPr>
            <a:r>
              <a:rPr lang="en-US" sz="950" b="1" dirty="0">
                <a:solidFill>
                  <a:srgbClr val="829AB1"/>
                </a:solidFill>
                <a:latin typeface="Calibri" pitchFamily="34" charset="0"/>
                <a:ea typeface="Calibri" pitchFamily="34" charset="-122"/>
                <a:cs typeface="Calibri" pitchFamily="34" charset="-120"/>
              </a:rPr>
              <a:t>비용</a:t>
            </a:r>
            <a:endParaRPr lang="en-US" sz="950" dirty="0"/>
          </a:p>
        </p:txBody>
      </p:sp>
      <p:sp>
        <p:nvSpPr>
          <p:cNvPr id="26" name="Text 24"/>
          <p:cNvSpPr/>
          <p:nvPr/>
        </p:nvSpPr>
        <p:spPr>
          <a:xfrm>
            <a:off x="822960" y="4197096"/>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낮다</a:t>
            </a:r>
            <a:endParaRPr lang="en-US" sz="1300" dirty="0"/>
          </a:p>
        </p:txBody>
      </p:sp>
      <p:sp>
        <p:nvSpPr>
          <p:cNvPr id="27" name="Text 25"/>
          <p:cNvSpPr/>
          <p:nvPr/>
        </p:nvSpPr>
        <p:spPr>
          <a:xfrm>
            <a:off x="6812280" y="4197096"/>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매우 높다</a:t>
            </a:r>
            <a:endParaRPr lang="en-US" sz="1300" dirty="0"/>
          </a:p>
        </p:txBody>
      </p:sp>
      <p:sp>
        <p:nvSpPr>
          <p:cNvPr id="28" name="Shape 26"/>
          <p:cNvSpPr/>
          <p:nvPr/>
        </p:nvSpPr>
        <p:spPr>
          <a:xfrm>
            <a:off x="548640" y="4681728"/>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9" name="Shape 27"/>
          <p:cNvSpPr/>
          <p:nvPr/>
        </p:nvSpPr>
        <p:spPr>
          <a:xfrm>
            <a:off x="6537960" y="4681728"/>
            <a:ext cx="5074920" cy="530352"/>
          </a:xfrm>
          <a:prstGeom prst="roundRect">
            <a:avLst>
              <a:gd name="adj" fmla="val 1034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30" name="Text 28"/>
          <p:cNvSpPr/>
          <p:nvPr/>
        </p:nvSpPr>
        <p:spPr>
          <a:xfrm>
            <a:off x="5687568" y="4818888"/>
            <a:ext cx="786384" cy="274320"/>
          </a:xfrm>
          <a:prstGeom prst="rect">
            <a:avLst/>
          </a:prstGeom>
          <a:noFill/>
          <a:ln/>
        </p:spPr>
        <p:txBody>
          <a:bodyPr wrap="square" lIns="0" tIns="0" rIns="0" bIns="0" rtlCol="0" anchor="ctr"/>
          <a:lstStyle/>
          <a:p>
            <a:pPr marL="0" indent="0" algn="ctr">
              <a:buNone/>
            </a:pPr>
            <a:r>
              <a:rPr lang="en-US" sz="950" b="1" dirty="0">
                <a:solidFill>
                  <a:srgbClr val="829AB1"/>
                </a:solidFill>
                <a:latin typeface="Calibri" pitchFamily="34" charset="0"/>
                <a:ea typeface="Calibri" pitchFamily="34" charset="-122"/>
                <a:cs typeface="Calibri" pitchFamily="34" charset="-120"/>
              </a:rPr>
              <a:t>데이터량</a:t>
            </a:r>
            <a:endParaRPr lang="en-US" sz="950" dirty="0"/>
          </a:p>
        </p:txBody>
      </p:sp>
      <p:sp>
        <p:nvSpPr>
          <p:cNvPr id="31" name="Text 29"/>
          <p:cNvSpPr/>
          <p:nvPr/>
        </p:nvSpPr>
        <p:spPr>
          <a:xfrm>
            <a:off x="822960" y="4800600"/>
            <a:ext cx="4526280" cy="292608"/>
          </a:xfrm>
          <a:prstGeom prst="rect">
            <a:avLst/>
          </a:prstGeom>
          <a:noFill/>
          <a:ln/>
        </p:spPr>
        <p:txBody>
          <a:bodyPr wrap="square" lIns="0" tIns="0" rIns="0" bIns="0" rtlCol="0" anchor="ctr"/>
          <a:lstStyle/>
          <a:p>
            <a:pPr marL="0" indent="0">
              <a:buNone/>
            </a:pPr>
            <a:r>
              <a:rPr lang="en-US" sz="1300" dirty="0" err="1">
                <a:solidFill>
                  <a:srgbClr val="102A43"/>
                </a:solidFill>
                <a:latin typeface="Calibri" pitchFamily="34" charset="0"/>
                <a:ea typeface="Calibri" pitchFamily="34" charset="-122"/>
                <a:cs typeface="Calibri" pitchFamily="34" charset="-120"/>
              </a:rPr>
              <a:t>무한히</a:t>
            </a:r>
            <a:r>
              <a:rPr lang="en-US" sz="1300" dirty="0">
                <a:solidFill>
                  <a:srgbClr val="102A43"/>
                </a:solidFill>
                <a:latin typeface="Calibri" pitchFamily="34" charset="0"/>
                <a:ea typeface="Calibri" pitchFamily="34" charset="-122"/>
                <a:cs typeface="Calibri" pitchFamily="34" charset="-120"/>
              </a:rPr>
              <a:t>? 쌓인다</a:t>
            </a:r>
            <a:endParaRPr lang="en-US" sz="1300" dirty="0"/>
          </a:p>
        </p:txBody>
      </p:sp>
      <p:sp>
        <p:nvSpPr>
          <p:cNvPr id="32" name="Text 30"/>
          <p:cNvSpPr/>
          <p:nvPr/>
        </p:nvSpPr>
        <p:spPr>
          <a:xfrm>
            <a:off x="6812280" y="4800600"/>
            <a:ext cx="4526280" cy="292608"/>
          </a:xfrm>
          <a:prstGeom prst="rect">
            <a:avLst/>
          </a:prstGeom>
          <a:noFill/>
          <a:ln/>
        </p:spPr>
        <p:txBody>
          <a:bodyPr wrap="square" lIns="0" tIns="0" rIns="0" bIns="0" rtlCol="0" anchor="ctr"/>
          <a:lstStyle/>
          <a:p>
            <a:pPr marL="0" indent="0">
              <a:buNone/>
            </a:pPr>
            <a:r>
              <a:rPr lang="en-US" sz="1300" dirty="0">
                <a:solidFill>
                  <a:srgbClr val="102A43"/>
                </a:solidFill>
                <a:latin typeface="Calibri" pitchFamily="34" charset="0"/>
                <a:ea typeface="Calibri" pitchFamily="34" charset="-122"/>
                <a:cs typeface="Calibri" pitchFamily="34" charset="-120"/>
              </a:rPr>
              <a:t>세션 단위로 제한적</a:t>
            </a:r>
            <a:endParaRPr lang="en-US" sz="1300" dirty="0"/>
          </a:p>
        </p:txBody>
      </p:sp>
      <p:sp>
        <p:nvSpPr>
          <p:cNvPr id="33" name="Shape 31"/>
          <p:cNvSpPr/>
          <p:nvPr/>
        </p:nvSpPr>
        <p:spPr>
          <a:xfrm>
            <a:off x="548640" y="5440680"/>
            <a:ext cx="11064240" cy="822960"/>
          </a:xfrm>
          <a:prstGeom prst="roundRect">
            <a:avLst>
              <a:gd name="adj" fmla="val 6667"/>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34" name="Text 32"/>
          <p:cNvSpPr/>
          <p:nvPr/>
        </p:nvSpPr>
        <p:spPr>
          <a:xfrm>
            <a:off x="914400" y="5440680"/>
            <a:ext cx="10332720" cy="8229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연구의 기본 태도 — "웨어러블 센서 값이 VICON만큼 정확한지 늘 비교하고 검증한다."  </a:t>
            </a:r>
          </a:p>
          <a:p>
            <a:pPr marL="0" indent="0">
              <a:buNone/>
            </a:pPr>
            <a:r>
              <a:rPr lang="en-US" sz="1350" b="1" dirty="0" err="1">
                <a:solidFill>
                  <a:srgbClr val="FFFFFF"/>
                </a:solidFill>
                <a:latin typeface="Calibri" pitchFamily="34" charset="0"/>
                <a:ea typeface="Calibri" pitchFamily="34" charset="-122"/>
                <a:cs typeface="Calibri" pitchFamily="34" charset="-120"/>
              </a:rPr>
              <a:t>논문의</a:t>
            </a:r>
            <a:r>
              <a:rPr lang="en-US" sz="1350" b="1" dirty="0">
                <a:solidFill>
                  <a:srgbClr val="FFFFFF"/>
                </a:solidFill>
                <a:latin typeface="Calibri" pitchFamily="34" charset="0"/>
                <a:ea typeface="Calibri" pitchFamily="34" charset="-122"/>
                <a:cs typeface="Calibri" pitchFamily="34" charset="-120"/>
              </a:rPr>
              <a:t> "validated against optical motion capture"가 바로 이 작업입니다.</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4-3 · 영상 vs 센서</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대립이 아니라, 서로를 검증하고 보완하는 두 축</a:t>
            </a:r>
            <a:endParaRPr lang="en-US" sz="3000" dirty="0"/>
          </a:p>
        </p:txBody>
      </p:sp>
      <p:sp>
        <p:nvSpPr>
          <p:cNvPr id="8" name="Shape 6"/>
          <p:cNvSpPr/>
          <p:nvPr/>
        </p:nvSpPr>
        <p:spPr>
          <a:xfrm>
            <a:off x="2536052" y="1691640"/>
            <a:ext cx="3429000" cy="1920240"/>
          </a:xfrm>
          <a:prstGeom prst="roundRect">
            <a:avLst>
              <a:gd name="adj" fmla="val 285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2792084" y="1874520"/>
            <a:ext cx="2926080" cy="256032"/>
          </a:xfrm>
          <a:prstGeom prst="rect">
            <a:avLst/>
          </a:prstGeom>
          <a:noFill/>
          <a:ln/>
        </p:spPr>
        <p:txBody>
          <a:bodyPr wrap="square" lIns="0" tIns="0" rIns="0" bIns="0" rtlCol="0" anchor="ctr"/>
          <a:lstStyle/>
          <a:p>
            <a:pPr marL="0" indent="0">
              <a:buNone/>
            </a:pPr>
            <a:r>
              <a:rPr lang="en-US" sz="1150" b="1" dirty="0" err="1">
                <a:solidFill>
                  <a:srgbClr val="0E7C86"/>
                </a:solidFill>
                <a:latin typeface="Calibri" pitchFamily="34" charset="0"/>
                <a:ea typeface="Calibri" pitchFamily="34" charset="-122"/>
                <a:cs typeface="Calibri" pitchFamily="34" charset="-120"/>
              </a:rPr>
              <a:t>서울대</a:t>
            </a:r>
            <a:endParaRPr lang="en-US" sz="1150" dirty="0"/>
          </a:p>
        </p:txBody>
      </p:sp>
      <p:sp>
        <p:nvSpPr>
          <p:cNvPr id="10" name="Text 8"/>
          <p:cNvSpPr/>
          <p:nvPr/>
        </p:nvSpPr>
        <p:spPr>
          <a:xfrm>
            <a:off x="2792084" y="2148840"/>
            <a:ext cx="2926080" cy="365760"/>
          </a:xfrm>
          <a:prstGeom prst="rect">
            <a:avLst/>
          </a:prstGeom>
          <a:noFill/>
          <a:ln/>
        </p:spPr>
        <p:txBody>
          <a:bodyPr wrap="square" lIns="0" tIns="0" rIns="0" bIns="0" rtlCol="0" anchor="ctr"/>
          <a:lstStyle/>
          <a:p>
            <a:pPr marL="0" indent="0">
              <a:buNone/>
            </a:pPr>
            <a:r>
              <a:rPr lang="en-US" sz="1800" b="1" dirty="0">
                <a:solidFill>
                  <a:srgbClr val="102A43"/>
                </a:solidFill>
                <a:latin typeface="Cambria" pitchFamily="34" charset="0"/>
                <a:ea typeface="Cambria" pitchFamily="34" charset="-122"/>
                <a:cs typeface="Cambria" pitchFamily="34" charset="-120"/>
              </a:rPr>
              <a:t>VideoNet</a:t>
            </a:r>
            <a:endParaRPr lang="en-US" sz="1800" dirty="0"/>
          </a:p>
        </p:txBody>
      </p:sp>
      <p:sp>
        <p:nvSpPr>
          <p:cNvPr id="11" name="Text 9"/>
          <p:cNvSpPr/>
          <p:nvPr/>
        </p:nvSpPr>
        <p:spPr>
          <a:xfrm>
            <a:off x="2792084" y="2606040"/>
            <a:ext cx="2926080" cy="73152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안경 카메라 영상만으로 의도 예측</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 센서 없이도 읽을 수 있다</a:t>
            </a:r>
            <a:endParaRPr lang="en-US" sz="1250" dirty="0"/>
          </a:p>
        </p:txBody>
      </p:sp>
      <p:sp>
        <p:nvSpPr>
          <p:cNvPr id="12" name="Shape 10"/>
          <p:cNvSpPr/>
          <p:nvPr/>
        </p:nvSpPr>
        <p:spPr>
          <a:xfrm>
            <a:off x="6376532" y="1691640"/>
            <a:ext cx="3383280" cy="1920240"/>
          </a:xfrm>
          <a:prstGeom prst="roundRect">
            <a:avLst>
              <a:gd name="adj" fmla="val 2857"/>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6632564" y="1874520"/>
            <a:ext cx="2880360" cy="256032"/>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VICON</a:t>
            </a:r>
            <a:endParaRPr lang="en-US" sz="1150" dirty="0"/>
          </a:p>
        </p:txBody>
      </p:sp>
      <p:sp>
        <p:nvSpPr>
          <p:cNvPr id="14" name="Text 12"/>
          <p:cNvSpPr/>
          <p:nvPr/>
        </p:nvSpPr>
        <p:spPr>
          <a:xfrm>
            <a:off x="6632564" y="2148840"/>
            <a:ext cx="2880360" cy="365760"/>
          </a:xfrm>
          <a:prstGeom prst="rect">
            <a:avLst/>
          </a:prstGeom>
          <a:noFill/>
          <a:ln/>
        </p:spPr>
        <p:txBody>
          <a:bodyPr wrap="square" lIns="0" tIns="0" rIns="0" bIns="0" rtlCol="0" anchor="ctr"/>
          <a:lstStyle/>
          <a:p>
            <a:pPr marL="0" indent="0">
              <a:buNone/>
            </a:pPr>
            <a:r>
              <a:rPr lang="en-US" sz="1800" b="1" dirty="0">
                <a:solidFill>
                  <a:srgbClr val="102A43"/>
                </a:solidFill>
                <a:latin typeface="Cambria" pitchFamily="34" charset="0"/>
                <a:ea typeface="Cambria" pitchFamily="34" charset="-122"/>
                <a:cs typeface="Cambria" pitchFamily="34" charset="-120"/>
              </a:rPr>
              <a:t>광학 모션캡처</a:t>
            </a:r>
            <a:endParaRPr lang="en-US" sz="1800" dirty="0"/>
          </a:p>
        </p:txBody>
      </p:sp>
      <p:sp>
        <p:nvSpPr>
          <p:cNvPr id="15" name="Text 13"/>
          <p:cNvSpPr/>
          <p:nvPr/>
        </p:nvSpPr>
        <p:spPr>
          <a:xfrm>
            <a:off x="6632564" y="2606040"/>
            <a:ext cx="2880360" cy="73152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카메라가 정답을 만든다</a:t>
            </a:r>
            <a:endParaRPr lang="en-US" sz="1250" dirty="0"/>
          </a:p>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 센서를 검증하는 기준</a:t>
            </a:r>
            <a:endParaRPr lang="en-US" sz="1250" dirty="0"/>
          </a:p>
        </p:txBody>
      </p:sp>
      <p:sp>
        <p:nvSpPr>
          <p:cNvPr id="16" name="Shape 14"/>
          <p:cNvSpPr/>
          <p:nvPr/>
        </p:nvSpPr>
        <p:spPr>
          <a:xfrm>
            <a:off x="548640" y="3840480"/>
            <a:ext cx="11064240" cy="1874520"/>
          </a:xfrm>
          <a:prstGeom prst="roundRect">
            <a:avLst>
              <a:gd name="adj" fmla="val 2927"/>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1005840" y="4069080"/>
            <a:ext cx="1014984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정답이 실험실에만 있다는 것 — 이게 이 분야의 근본 제약입니다.</a:t>
            </a:r>
            <a:endParaRPr lang="en-US" sz="2200" dirty="0"/>
          </a:p>
        </p:txBody>
      </p:sp>
      <p:sp>
        <p:nvSpPr>
          <p:cNvPr id="18" name="Text 16"/>
          <p:cNvSpPr/>
          <p:nvPr/>
        </p:nvSpPr>
        <p:spPr>
          <a:xfrm>
            <a:off x="1005840" y="4572000"/>
            <a:ext cx="10149840" cy="914400"/>
          </a:xfrm>
          <a:prstGeom prst="rect">
            <a:avLst/>
          </a:prstGeom>
          <a:noFill/>
          <a:ln/>
        </p:spPr>
        <p:txBody>
          <a:bodyPr wrap="square" lIns="0" tIns="0" rIns="0" bIns="0" rtlCol="0" anchor="ctr"/>
          <a:lstStyle/>
          <a:p>
            <a:pPr marL="0" indent="0">
              <a:lnSpc>
                <a:spcPct val="135000"/>
              </a:lnSpc>
              <a:buNone/>
            </a:pPr>
            <a:r>
              <a:rPr lang="en-US" sz="1500" dirty="0">
                <a:solidFill>
                  <a:srgbClr val="8FC7CE"/>
                </a:solidFill>
                <a:latin typeface="Calibri" pitchFamily="34" charset="0"/>
                <a:ea typeface="Calibri" pitchFamily="34" charset="-122"/>
                <a:cs typeface="Calibri" pitchFamily="34" charset="-120"/>
              </a:rPr>
              <a:t>그래서 3부에서 본 '실사용 기기 수 = 데이터 수'가 전략적으로 중요해집니다.</a:t>
            </a:r>
            <a:endParaRPr lang="en-US" sz="1500" dirty="0"/>
          </a:p>
          <a:p>
            <a:pPr marL="0" indent="0">
              <a:lnSpc>
                <a:spcPct val="135000"/>
              </a:lnSpc>
              <a:buNone/>
            </a:pPr>
            <a:r>
              <a:rPr lang="en-US" sz="1500" dirty="0">
                <a:solidFill>
                  <a:srgbClr val="8FC7CE"/>
                </a:solidFill>
                <a:latin typeface="Calibri" pitchFamily="34" charset="0"/>
                <a:ea typeface="Calibri" pitchFamily="34" charset="-122"/>
                <a:cs typeface="Calibri" pitchFamily="34" charset="-120"/>
              </a:rPr>
              <a:t>일상에서 쌓이는 데이터를 실험실의 정답과 어떻게 연결할 것인가 — 이게 이 분야의 열린 문제입니다.</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6">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5</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정답이 없는 문제</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사람마다 다르기 때문에, 하나의 표준으로 보조할 수 없습니다.</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그래서 개인화 자체가 기술이 됩니다.</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5-1 · 표준이 없다</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'정상 보행'은 하나가 아닙니다</a:t>
            </a:r>
            <a:endParaRPr lang="en-US" sz="3000" dirty="0"/>
          </a:p>
        </p:txBody>
      </p:sp>
      <p:sp>
        <p:nvSpPr>
          <p:cNvPr id="4" name="Shape 2"/>
          <p:cNvSpPr/>
          <p:nvPr/>
        </p:nvSpPr>
        <p:spPr>
          <a:xfrm>
            <a:off x="548640" y="1691640"/>
            <a:ext cx="3352830" cy="342900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22960" y="1920240"/>
            <a:ext cx="2804190" cy="457200"/>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나이 · 성별 · 체격</a:t>
            </a:r>
            <a:endParaRPr lang="en-US" sz="1900" dirty="0"/>
          </a:p>
        </p:txBody>
      </p:sp>
      <p:sp>
        <p:nvSpPr>
          <p:cNvPr id="6" name="Text 4"/>
          <p:cNvSpPr/>
          <p:nvPr/>
        </p:nvSpPr>
        <p:spPr>
          <a:xfrm>
            <a:off x="822960" y="2487168"/>
            <a:ext cx="2804190" cy="137160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건강한 성인(20~70세) 대상 연구에서, 센서로 측정한 보행 지표가 나이·성별·키·체중에 따라 달라진다는 것이 확인되었습니다.</a:t>
            </a:r>
            <a:endParaRPr lang="en-US" sz="1250" dirty="0"/>
          </a:p>
        </p:txBody>
      </p:sp>
      <p:sp>
        <p:nvSpPr>
          <p:cNvPr id="7" name="Shape 5"/>
          <p:cNvSpPr/>
          <p:nvPr/>
        </p:nvSpPr>
        <p:spPr>
          <a:xfrm>
            <a:off x="822960" y="3950208"/>
            <a:ext cx="2804190" cy="0"/>
          </a:xfrm>
          <a:prstGeom prst="line">
            <a:avLst/>
          </a:prstGeom>
          <a:noFill/>
          <a:ln w="12700">
            <a:solidFill>
              <a:srgbClr val="829AB1"/>
            </a:solidFill>
            <a:prstDash val="solid"/>
          </a:ln>
        </p:spPr>
        <p:txBody>
          <a:bodyPr/>
          <a:lstStyle/>
          <a:p>
            <a:endParaRPr lang="ko-KR" altLang="en-US"/>
          </a:p>
        </p:txBody>
      </p:sp>
      <p:sp>
        <p:nvSpPr>
          <p:cNvPr id="8" name="Text 6"/>
          <p:cNvSpPr/>
          <p:nvPr/>
        </p:nvSpPr>
        <p:spPr>
          <a:xfrm>
            <a:off x="822960" y="4096512"/>
            <a:ext cx="2804190" cy="868680"/>
          </a:xfrm>
          <a:prstGeom prst="rect">
            <a:avLst/>
          </a:prstGeom>
          <a:noFill/>
          <a:ln/>
        </p:spPr>
        <p:txBody>
          <a:bodyPr wrap="square" lIns="0" tIns="0" rIns="0" bIns="0" rtlCol="0" anchor="ctr"/>
          <a:lstStyle/>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"20대 남성의 정상 보행"과</a:t>
            </a:r>
            <a:endParaRPr lang="en-US" sz="1300" dirty="0"/>
          </a:p>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"70대 여성의 정상 보행"은 다른 값입니다.</a:t>
            </a:r>
            <a:endParaRPr lang="en-US" sz="1300" dirty="0"/>
          </a:p>
        </p:txBody>
      </p:sp>
      <p:sp>
        <p:nvSpPr>
          <p:cNvPr id="9" name="Shape 7"/>
          <p:cNvSpPr/>
          <p:nvPr/>
        </p:nvSpPr>
        <p:spPr>
          <a:xfrm>
            <a:off x="4404390" y="1691640"/>
            <a:ext cx="3352830" cy="342900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0" name="Text 8"/>
          <p:cNvSpPr/>
          <p:nvPr/>
        </p:nvSpPr>
        <p:spPr>
          <a:xfrm>
            <a:off x="4678710" y="1920240"/>
            <a:ext cx="2804190" cy="457200"/>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질환 · 환경</a:t>
            </a:r>
            <a:endParaRPr lang="en-US" sz="1900" dirty="0"/>
          </a:p>
        </p:txBody>
      </p:sp>
      <p:sp>
        <p:nvSpPr>
          <p:cNvPr id="11" name="Text 9"/>
          <p:cNvSpPr/>
          <p:nvPr/>
        </p:nvSpPr>
        <p:spPr>
          <a:xfrm>
            <a:off x="4678710" y="2487168"/>
            <a:ext cx="2804190" cy="137160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나이(고령)·질환(파킨슨병)·환경(실내 vs 실외)이 보행 검출 알고리즘의 정확도 자체에 영향을 줍니다.</a:t>
            </a:r>
            <a:endParaRPr lang="en-US" sz="1250" dirty="0"/>
          </a:p>
        </p:txBody>
      </p:sp>
      <p:sp>
        <p:nvSpPr>
          <p:cNvPr id="12" name="Shape 10"/>
          <p:cNvSpPr/>
          <p:nvPr/>
        </p:nvSpPr>
        <p:spPr>
          <a:xfrm>
            <a:off x="4678710" y="3950208"/>
            <a:ext cx="2804190" cy="0"/>
          </a:xfrm>
          <a:prstGeom prst="line">
            <a:avLst/>
          </a:prstGeom>
          <a:noFill/>
          <a:ln w="12700">
            <a:solidFill>
              <a:srgbClr val="829AB1"/>
            </a:solidFill>
            <a:prstDash val="solid"/>
          </a:ln>
        </p:spPr>
        <p:txBody>
          <a:bodyPr/>
          <a:lstStyle/>
          <a:p>
            <a:endParaRPr lang="ko-KR" altLang="en-US"/>
          </a:p>
        </p:txBody>
      </p:sp>
      <p:sp>
        <p:nvSpPr>
          <p:cNvPr id="13" name="Text 11"/>
          <p:cNvSpPr/>
          <p:nvPr/>
        </p:nvSpPr>
        <p:spPr>
          <a:xfrm>
            <a:off x="4678710" y="4096512"/>
            <a:ext cx="2804190" cy="868680"/>
          </a:xfrm>
          <a:prstGeom prst="rect">
            <a:avLst/>
          </a:prstGeom>
          <a:noFill/>
          <a:ln/>
        </p:spPr>
        <p:txBody>
          <a:bodyPr wrap="square" lIns="0" tIns="0" rIns="0" bIns="0" rtlCol="0" anchor="ctr"/>
          <a:lstStyle/>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환자군이 바뀌면</a:t>
            </a:r>
            <a:endParaRPr lang="en-US" sz="1300" dirty="0"/>
          </a:p>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같은 알고리즘이 안 통합니다.</a:t>
            </a:r>
            <a:endParaRPr lang="en-US" sz="1300" dirty="0"/>
          </a:p>
        </p:txBody>
      </p:sp>
      <p:sp>
        <p:nvSpPr>
          <p:cNvPr id="14" name="Shape 12"/>
          <p:cNvSpPr/>
          <p:nvPr/>
        </p:nvSpPr>
        <p:spPr>
          <a:xfrm>
            <a:off x="8260141" y="1691640"/>
            <a:ext cx="3352830" cy="3429000"/>
          </a:xfrm>
          <a:prstGeom prst="roundRect">
            <a:avLst>
              <a:gd name="adj" fmla="val 163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8534461" y="1920240"/>
            <a:ext cx="2804190" cy="457200"/>
          </a:xfrm>
          <a:prstGeom prst="rect">
            <a:avLst/>
          </a:prstGeom>
          <a:noFill/>
          <a:ln/>
        </p:spPr>
        <p:txBody>
          <a:bodyPr wrap="square" lIns="0" tIns="0" rIns="0" bIns="0" rtlCol="0" anchor="ctr"/>
          <a:lstStyle/>
          <a:p>
            <a:pPr marL="0" indent="0">
              <a:buNone/>
            </a:pPr>
            <a:r>
              <a:rPr lang="en-US" sz="1900" b="1" dirty="0">
                <a:solidFill>
                  <a:srgbClr val="102A43"/>
                </a:solidFill>
                <a:latin typeface="Cambria" pitchFamily="34" charset="0"/>
                <a:ea typeface="Cambria" pitchFamily="34" charset="-122"/>
                <a:cs typeface="Cambria" pitchFamily="34" charset="-120"/>
              </a:rPr>
              <a:t>일반화의 벽</a:t>
            </a:r>
            <a:endParaRPr lang="en-US" sz="1900" dirty="0"/>
          </a:p>
        </p:txBody>
      </p:sp>
      <p:sp>
        <p:nvSpPr>
          <p:cNvPr id="16" name="Text 14"/>
          <p:cNvSpPr/>
          <p:nvPr/>
        </p:nvSpPr>
        <p:spPr>
          <a:xfrm>
            <a:off x="8534461" y="2487168"/>
            <a:ext cx="2804190" cy="137160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중국 SIAT의 2026년 로드맵 리뷰가 미해결 과제로 명시한 것도 정확히 이것입니다.</a:t>
            </a:r>
            <a:endParaRPr lang="en-US" sz="1250" dirty="0"/>
          </a:p>
        </p:txBody>
      </p:sp>
      <p:sp>
        <p:nvSpPr>
          <p:cNvPr id="17" name="Shape 15"/>
          <p:cNvSpPr/>
          <p:nvPr/>
        </p:nvSpPr>
        <p:spPr>
          <a:xfrm>
            <a:off x="8534461" y="3950208"/>
            <a:ext cx="2804190" cy="0"/>
          </a:xfrm>
          <a:prstGeom prst="line">
            <a:avLst/>
          </a:prstGeom>
          <a:noFill/>
          <a:ln w="12700">
            <a:solidFill>
              <a:srgbClr val="829AB1"/>
            </a:solidFill>
            <a:prstDash val="solid"/>
          </a:ln>
        </p:spPr>
        <p:txBody>
          <a:bodyPr/>
          <a:lstStyle/>
          <a:p>
            <a:endParaRPr lang="ko-KR" altLang="en-US"/>
          </a:p>
        </p:txBody>
      </p:sp>
      <p:sp>
        <p:nvSpPr>
          <p:cNvPr id="18" name="Text 16"/>
          <p:cNvSpPr/>
          <p:nvPr/>
        </p:nvSpPr>
        <p:spPr>
          <a:xfrm>
            <a:off x="8534461" y="4096512"/>
            <a:ext cx="2804190" cy="868680"/>
          </a:xfrm>
          <a:prstGeom prst="rect">
            <a:avLst/>
          </a:prstGeom>
          <a:noFill/>
          <a:ln/>
        </p:spPr>
        <p:txBody>
          <a:bodyPr wrap="square" lIns="0" tIns="0" rIns="0" bIns="0" rtlCol="0" anchor="ctr"/>
          <a:lstStyle/>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병리 보행에서의 의도 인식 일반화</a:t>
            </a:r>
            <a:endParaRPr lang="en-US" sz="1300" dirty="0"/>
          </a:p>
          <a:p>
            <a:pPr marL="0" indent="0">
              <a:lnSpc>
                <a:spcPct val="130000"/>
              </a:lnSpc>
              <a:buNone/>
            </a:pPr>
            <a:r>
              <a:rPr lang="en-US" sz="1300" b="1" dirty="0">
                <a:solidFill>
                  <a:srgbClr val="0E7C86"/>
                </a:solidFill>
                <a:latin typeface="Calibri" pitchFamily="34" charset="0"/>
                <a:ea typeface="Calibri" pitchFamily="34" charset="-122"/>
                <a:cs typeface="Calibri" pitchFamily="34" charset="-120"/>
              </a:rPr>
              <a:t>개인 간(cross-subject) 일반화</a:t>
            </a:r>
            <a:endParaRPr lang="en-US" sz="1300" dirty="0"/>
          </a:p>
        </p:txBody>
      </p:sp>
      <p:sp>
        <p:nvSpPr>
          <p:cNvPr id="19" name="Shape 17"/>
          <p:cNvSpPr/>
          <p:nvPr/>
        </p:nvSpPr>
        <p:spPr>
          <a:xfrm>
            <a:off x="548640" y="5285232"/>
            <a:ext cx="11064240" cy="868680"/>
          </a:xfrm>
          <a:prstGeom prst="roundRect">
            <a:avLst>
              <a:gd name="adj" fmla="val 6316"/>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960120" y="5285232"/>
            <a:ext cx="10241280" cy="8686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로봇이 똑같은 기준으로 보조하면 안 된다 — 이게 이 분야의 출발점입니다.</a:t>
            </a:r>
            <a:endParaRPr lang="en-US" sz="1900" dirty="0"/>
          </a:p>
        </p:txBody>
      </p:sp>
      <p:sp>
        <p:nvSpPr>
          <p:cNvPr id="21" name="Text 19"/>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SIAT 2026 리뷰 — 외골격에서 인간-기계 공신체 시스템까지">
                  <a:extLst>
                    <a:ext uri="{A12FA001-AC4F-418D-AE19-62706E023703}">
                      <ahyp:hlinkClr xmlns:ahyp="http://schemas.microsoft.com/office/drawing/2018/hyperlinkcolor" val="tx"/>
                    </a:ext>
                  </a:extLst>
                </a:hlinkClick>
              </a:rPr>
              <a:t>SIAT 2026 리뷰 — 외골격에서 인간-기계 공신체 시스템까지</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5-2 · 역설</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많이 도와준다고 좋은 게 아닙니다</a:t>
            </a:r>
            <a:endParaRPr lang="en-US" sz="3000" dirty="0"/>
          </a:p>
        </p:txBody>
      </p:sp>
      <p:sp>
        <p:nvSpPr>
          <p:cNvPr id="4" name="Shape 2"/>
          <p:cNvSpPr/>
          <p:nvPr/>
        </p:nvSpPr>
        <p:spPr>
          <a:xfrm>
            <a:off x="548640" y="1737360"/>
            <a:ext cx="11064240" cy="1417320"/>
          </a:xfrm>
          <a:prstGeom prst="roundRect">
            <a:avLst>
              <a:gd name="adj" fmla="val 3871"/>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1005840" y="1938528"/>
            <a:ext cx="1014984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"안경처럼, 필요한 만큼만 교정해야 한다"</a:t>
            </a:r>
            <a:endParaRPr lang="en-US" sz="2600" dirty="0"/>
          </a:p>
        </p:txBody>
      </p:sp>
      <p:sp>
        <p:nvSpPr>
          <p:cNvPr id="6" name="Text 4"/>
          <p:cNvSpPr/>
          <p:nvPr/>
        </p:nvSpPr>
        <p:spPr>
          <a:xfrm>
            <a:off x="1005840" y="2468880"/>
            <a:ext cx="10149840" cy="365760"/>
          </a:xfrm>
          <a:prstGeom prst="rect">
            <a:avLst/>
          </a:prstGeom>
          <a:noFill/>
          <a:ln/>
        </p:spPr>
        <p:txBody>
          <a:bodyPr wrap="square" lIns="0" tIns="0" rIns="0" bIns="0" rtlCol="0" anchor="ctr"/>
          <a:lstStyle/>
          <a:p>
            <a:pPr marL="0" indent="0">
              <a:buNone/>
            </a:pPr>
            <a:r>
              <a:rPr lang="en-US" sz="1400" dirty="0">
                <a:solidFill>
                  <a:srgbClr val="FFF3E0"/>
                </a:solidFill>
                <a:latin typeface="Calibri" pitchFamily="34" charset="0"/>
                <a:ea typeface="Calibri" pitchFamily="34" charset="-122"/>
                <a:cs typeface="Calibri" pitchFamily="34" charset="-120"/>
              </a:rPr>
              <a:t>공경철 원장이 엔젤슈트 H10을 안경에 비유하며 한 이야기</a:t>
            </a:r>
            <a:endParaRPr lang="en-US" sz="1400" dirty="0"/>
          </a:p>
        </p:txBody>
      </p:sp>
      <p:sp>
        <p:nvSpPr>
          <p:cNvPr id="7" name="Shape 5"/>
          <p:cNvSpPr/>
          <p:nvPr/>
        </p:nvSpPr>
        <p:spPr>
          <a:xfrm>
            <a:off x="548640" y="3429000"/>
            <a:ext cx="3352830" cy="1600200"/>
          </a:xfrm>
          <a:prstGeom prst="roundRect">
            <a:avLst>
              <a:gd name="adj" fmla="val 342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822960" y="3639312"/>
            <a:ext cx="2804190" cy="292608"/>
          </a:xfrm>
          <a:prstGeom prst="rect">
            <a:avLst/>
          </a:prstGeom>
          <a:noFill/>
          <a:ln/>
        </p:spPr>
        <p:txBody>
          <a:bodyPr wrap="square" lIns="0" tIns="0" rIns="0" bIns="0" rtlCol="0" anchor="ctr"/>
          <a:lstStyle/>
          <a:p>
            <a:pPr marL="0" indent="0">
              <a:buNone/>
            </a:pPr>
            <a:r>
              <a:rPr lang="en-US" sz="1200" b="1" kern="0" spc="80" dirty="0">
                <a:solidFill>
                  <a:srgbClr val="52606D"/>
                </a:solidFill>
                <a:latin typeface="Calibri" pitchFamily="34" charset="0"/>
                <a:ea typeface="Calibri" pitchFamily="34" charset="-122"/>
                <a:cs typeface="Calibri" pitchFamily="34" charset="-120"/>
              </a:rPr>
              <a:t>보조력이 너무 강하면</a:t>
            </a:r>
            <a:endParaRPr lang="en-US" sz="1200" dirty="0"/>
          </a:p>
        </p:txBody>
      </p:sp>
      <p:sp>
        <p:nvSpPr>
          <p:cNvPr id="9" name="Text 7"/>
          <p:cNvSpPr/>
          <p:nvPr/>
        </p:nvSpPr>
        <p:spPr>
          <a:xfrm>
            <a:off x="822960" y="3977640"/>
            <a:ext cx="2804190" cy="914400"/>
          </a:xfrm>
          <a:prstGeom prst="rect">
            <a:avLst/>
          </a:prstGeom>
          <a:noFill/>
          <a:ln/>
        </p:spPr>
        <p:txBody>
          <a:bodyPr wrap="square" lIns="0" tIns="0" rIns="0" bIns="0" rtlCol="0" anchor="ctr"/>
          <a:lstStyle/>
          <a:p>
            <a:pPr marL="0" indent="0">
              <a:lnSpc>
                <a:spcPct val="125000"/>
              </a:lnSpc>
              <a:buNone/>
            </a:pPr>
            <a:r>
              <a:rPr lang="en-US" sz="1500" b="1" dirty="0">
                <a:solidFill>
                  <a:srgbClr val="9B2226"/>
                </a:solidFill>
                <a:latin typeface="Calibri" pitchFamily="34" charset="0"/>
                <a:ea typeface="Calibri" pitchFamily="34" charset="-122"/>
                <a:cs typeface="Calibri" pitchFamily="34" charset="-120"/>
              </a:rPr>
              <a:t>오히려 자기 몸이 무겁게 느껴진다</a:t>
            </a:r>
            <a:endParaRPr lang="en-US" sz="1500" dirty="0"/>
          </a:p>
        </p:txBody>
      </p:sp>
      <p:sp>
        <p:nvSpPr>
          <p:cNvPr id="10" name="Shape 8"/>
          <p:cNvSpPr/>
          <p:nvPr/>
        </p:nvSpPr>
        <p:spPr>
          <a:xfrm>
            <a:off x="4404390" y="3429000"/>
            <a:ext cx="3352830" cy="1600200"/>
          </a:xfrm>
          <a:prstGeom prst="roundRect">
            <a:avLst>
              <a:gd name="adj" fmla="val 3429"/>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4678710" y="3639312"/>
            <a:ext cx="2804190" cy="292608"/>
          </a:xfrm>
          <a:prstGeom prst="rect">
            <a:avLst/>
          </a:prstGeom>
          <a:noFill/>
          <a:ln/>
        </p:spPr>
        <p:txBody>
          <a:bodyPr wrap="square" lIns="0" tIns="0" rIns="0" bIns="0" rtlCol="0" anchor="ctr"/>
          <a:lstStyle/>
          <a:p>
            <a:pPr marL="0" indent="0">
              <a:buNone/>
            </a:pPr>
            <a:r>
              <a:rPr lang="en-US" sz="1200" b="1" kern="0" spc="80" dirty="0">
                <a:solidFill>
                  <a:srgbClr val="52606D"/>
                </a:solidFill>
                <a:latin typeface="Calibri" pitchFamily="34" charset="0"/>
                <a:ea typeface="Calibri" pitchFamily="34" charset="-122"/>
                <a:cs typeface="Calibri" pitchFamily="34" charset="-120"/>
              </a:rPr>
              <a:t>그리고</a:t>
            </a:r>
            <a:endParaRPr lang="en-US" sz="1200" dirty="0"/>
          </a:p>
        </p:txBody>
      </p:sp>
      <p:sp>
        <p:nvSpPr>
          <p:cNvPr id="12" name="Text 10"/>
          <p:cNvSpPr/>
          <p:nvPr/>
        </p:nvSpPr>
        <p:spPr>
          <a:xfrm>
            <a:off x="4678710" y="3977640"/>
            <a:ext cx="2804190" cy="914400"/>
          </a:xfrm>
          <a:prstGeom prst="rect">
            <a:avLst/>
          </a:prstGeom>
          <a:noFill/>
          <a:ln/>
        </p:spPr>
        <p:txBody>
          <a:bodyPr wrap="square" lIns="0" tIns="0" rIns="0" bIns="0" rtlCol="0" anchor="ctr"/>
          <a:lstStyle/>
          <a:p>
            <a:pPr marL="0" indent="0">
              <a:lnSpc>
                <a:spcPct val="125000"/>
              </a:lnSpc>
              <a:buNone/>
            </a:pPr>
            <a:r>
              <a:rPr lang="en-US" sz="1500" b="1" dirty="0">
                <a:solidFill>
                  <a:srgbClr val="9B2226"/>
                </a:solidFill>
                <a:latin typeface="Calibri" pitchFamily="34" charset="0"/>
                <a:ea typeface="Calibri" pitchFamily="34" charset="-122"/>
                <a:cs typeface="Calibri" pitchFamily="34" charset="-120"/>
              </a:rPr>
              <a:t>착용자의 근력을 저하시킬 수 있다</a:t>
            </a:r>
            <a:endParaRPr lang="en-US" sz="1500" dirty="0"/>
          </a:p>
        </p:txBody>
      </p:sp>
      <p:sp>
        <p:nvSpPr>
          <p:cNvPr id="13" name="Shape 11"/>
          <p:cNvSpPr/>
          <p:nvPr/>
        </p:nvSpPr>
        <p:spPr>
          <a:xfrm>
            <a:off x="8260141" y="3429000"/>
            <a:ext cx="3352830" cy="1600200"/>
          </a:xfrm>
          <a:prstGeom prst="roundRect">
            <a:avLst>
              <a:gd name="adj" fmla="val 3429"/>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8534461" y="3639312"/>
            <a:ext cx="2804190" cy="292608"/>
          </a:xfrm>
          <a:prstGeom prst="rect">
            <a:avLst/>
          </a:prstGeom>
          <a:noFill/>
          <a:ln/>
        </p:spPr>
        <p:txBody>
          <a:bodyPr wrap="square" lIns="0" tIns="0" rIns="0" bIns="0" rtlCol="0" anchor="ctr"/>
          <a:lstStyle/>
          <a:p>
            <a:pPr marL="0" indent="0">
              <a:buNone/>
            </a:pPr>
            <a:r>
              <a:rPr lang="en-US" sz="1200" b="1" kern="0" spc="80" dirty="0">
                <a:solidFill>
                  <a:srgbClr val="8FC7CE"/>
                </a:solidFill>
                <a:latin typeface="Calibri" pitchFamily="34" charset="0"/>
                <a:ea typeface="Calibri" pitchFamily="34" charset="-122"/>
                <a:cs typeface="Calibri" pitchFamily="34" charset="-120"/>
              </a:rPr>
              <a:t>그래서</a:t>
            </a:r>
            <a:endParaRPr lang="en-US" sz="1200" dirty="0"/>
          </a:p>
        </p:txBody>
      </p:sp>
      <p:sp>
        <p:nvSpPr>
          <p:cNvPr id="15" name="Text 13"/>
          <p:cNvSpPr/>
          <p:nvPr/>
        </p:nvSpPr>
        <p:spPr>
          <a:xfrm>
            <a:off x="8534461" y="3977640"/>
            <a:ext cx="2804190" cy="914400"/>
          </a:xfrm>
          <a:prstGeom prst="rect">
            <a:avLst/>
          </a:prstGeom>
          <a:noFill/>
          <a:ln/>
        </p:spPr>
        <p:txBody>
          <a:bodyPr wrap="square" lIns="0" tIns="0" rIns="0" bIns="0" rtlCol="0" anchor="ctr"/>
          <a:lstStyle/>
          <a:p>
            <a:pPr marL="0" indent="0">
              <a:lnSpc>
                <a:spcPct val="125000"/>
              </a:lnSpc>
              <a:buNone/>
            </a:pPr>
            <a:r>
              <a:rPr lang="en-US" sz="1500" b="1" dirty="0">
                <a:solidFill>
                  <a:srgbClr val="FFFFFF"/>
                </a:solidFill>
                <a:latin typeface="Calibri" pitchFamily="34" charset="0"/>
                <a:ea typeface="Calibri" pitchFamily="34" charset="-122"/>
                <a:cs typeface="Calibri" pitchFamily="34" charset="-120"/>
              </a:rPr>
              <a:t>회복을 목표로 하면 보조력은 적을수록 좋을 수도 있다</a:t>
            </a:r>
            <a:endParaRPr lang="en-US" sz="1500" dirty="0"/>
          </a:p>
        </p:txBody>
      </p:sp>
      <p:sp>
        <p:nvSpPr>
          <p:cNvPr id="16" name="Shape 14"/>
          <p:cNvSpPr/>
          <p:nvPr/>
        </p:nvSpPr>
        <p:spPr>
          <a:xfrm>
            <a:off x="548640" y="5166360"/>
            <a:ext cx="11064240" cy="960120"/>
          </a:xfrm>
          <a:prstGeom prst="roundRect">
            <a:avLst>
              <a:gd name="adj" fmla="val 5714"/>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960120" y="5166360"/>
            <a:ext cx="10241280" cy="960120"/>
          </a:xfrm>
          <a:prstGeom prst="rect">
            <a:avLst/>
          </a:prstGeom>
          <a:noFill/>
          <a:ln/>
        </p:spPr>
        <p:txBody>
          <a:bodyPr wrap="square" lIns="0" tIns="0" rIns="0" bIns="0" rtlCol="0" anchor="ctr"/>
          <a:lstStyle/>
          <a:p>
            <a:pPr marL="0" indent="0">
              <a:lnSpc>
                <a:spcPct val="125000"/>
              </a:lnSpc>
              <a:buNone/>
            </a:pPr>
            <a:r>
              <a:rPr lang="en-US" sz="1400" dirty="0">
                <a:solidFill>
                  <a:srgbClr val="102A43"/>
                </a:solidFill>
                <a:latin typeface="Calibri" pitchFamily="34" charset="0"/>
                <a:ea typeface="Calibri" pitchFamily="34" charset="-122"/>
                <a:cs typeface="Calibri" pitchFamily="34" charset="-120"/>
              </a:rPr>
              <a:t>1부에서 만든 '기능 대체 ↔ 기능 회복' 축이 여기서 돌아옵니다. 대체는 힘이 많아야 좋고, 회복은 힘이 적어야 좋을 수 있습니다. 같은 로봇으로 목표가 정반대가 됩니다.</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5-3 · 그래서 개인화가 기술이 된다</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세 가지 접근</a:t>
            </a:r>
            <a:endParaRPr lang="en-US" sz="3000" dirty="0"/>
          </a:p>
        </p:txBody>
      </p:sp>
      <p:sp>
        <p:nvSpPr>
          <p:cNvPr id="4" name="Shape 2"/>
          <p:cNvSpPr/>
          <p:nvPr/>
        </p:nvSpPr>
        <p:spPr>
          <a:xfrm>
            <a:off x="548640" y="1645920"/>
            <a:ext cx="11064240" cy="1261872"/>
          </a:xfrm>
          <a:prstGeom prst="roundRect">
            <a:avLst>
              <a:gd name="adj" fmla="val 434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Shape 3"/>
          <p:cNvSpPr/>
          <p:nvPr/>
        </p:nvSpPr>
        <p:spPr>
          <a:xfrm>
            <a:off x="822960" y="2066544"/>
            <a:ext cx="420624" cy="420624"/>
          </a:xfrm>
          <a:prstGeom prst="ellipse">
            <a:avLst/>
          </a:prstGeom>
          <a:solidFill>
            <a:srgbClr val="0E7C86"/>
          </a:solidFill>
          <a:ln/>
        </p:spPr>
        <p:txBody>
          <a:bodyPr/>
          <a:lstStyle/>
          <a:p>
            <a:endParaRPr lang="ko-KR" altLang="en-US"/>
          </a:p>
        </p:txBody>
      </p:sp>
      <p:sp>
        <p:nvSpPr>
          <p:cNvPr id="6" name="Text 4"/>
          <p:cNvSpPr/>
          <p:nvPr/>
        </p:nvSpPr>
        <p:spPr>
          <a:xfrm>
            <a:off x="822960" y="20665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01368"/>
            <a:ext cx="3657600" cy="329184"/>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의도를 읽어 그만큼만</a:t>
            </a:r>
            <a:endParaRPr lang="en-US" sz="1700" dirty="0"/>
          </a:p>
        </p:txBody>
      </p:sp>
      <p:sp>
        <p:nvSpPr>
          <p:cNvPr id="8" name="Text 6"/>
          <p:cNvSpPr/>
          <p:nvPr/>
        </p:nvSpPr>
        <p:spPr>
          <a:xfrm>
            <a:off x="1417320" y="2176272"/>
            <a:ext cx="3657600" cy="658368"/>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표준 궤적을 강제하지 않고, 환자가 보행을 시도하는 것을 확인한 후 부족한 만큼만 보조</a:t>
            </a:r>
            <a:endParaRPr lang="en-US" sz="1150" dirty="0"/>
          </a:p>
        </p:txBody>
      </p:sp>
      <p:sp>
        <p:nvSpPr>
          <p:cNvPr id="9" name="Shape 7"/>
          <p:cNvSpPr/>
          <p:nvPr/>
        </p:nvSpPr>
        <p:spPr>
          <a:xfrm>
            <a:off x="5257800" y="1792224"/>
            <a:ext cx="6126480" cy="969264"/>
          </a:xfrm>
          <a:prstGeom prst="roundRect">
            <a:avLst>
              <a:gd name="adj" fmla="val 5660"/>
            </a:avLst>
          </a:prstGeom>
          <a:solidFill>
            <a:srgbClr val="E8F0F5"/>
          </a:solidFill>
          <a:ln/>
          <a:effectLst>
            <a:outerShdw blurRad="101600" dist="635" dir="5400000" algn="bl" rotWithShape="0">
              <a:srgbClr val="0A1F33">
                <a:alpha val="12000"/>
              </a:srgbClr>
            </a:outerShdw>
          </a:effectLst>
        </p:spPr>
        <p:txBody>
          <a:bodyPr/>
          <a:lstStyle/>
          <a:p>
            <a:endParaRPr lang="ko-KR" altLang="en-US"/>
          </a:p>
        </p:txBody>
      </p:sp>
      <p:sp>
        <p:nvSpPr>
          <p:cNvPr id="10" name="Text 8"/>
          <p:cNvSpPr/>
          <p:nvPr/>
        </p:nvSpPr>
        <p:spPr>
          <a:xfrm>
            <a:off x="5532120" y="1792224"/>
            <a:ext cx="5577840" cy="969264"/>
          </a:xfrm>
          <a:prstGeom prst="rect">
            <a:avLst/>
          </a:prstGeom>
          <a:noFill/>
          <a:ln/>
        </p:spPr>
        <p:txBody>
          <a:bodyPr wrap="square" lIns="0" tIns="0" rIns="0" bIns="0" rtlCol="0" anchor="ctr"/>
          <a:lstStyle/>
          <a:p>
            <a:pPr marL="0" indent="0">
              <a:lnSpc>
                <a:spcPct val="125000"/>
              </a:lnSpc>
              <a:buNone/>
            </a:pPr>
            <a:r>
              <a:rPr lang="en-US" sz="1250" dirty="0">
                <a:solidFill>
                  <a:srgbClr val="102A43"/>
                </a:solidFill>
                <a:latin typeface="Calibri" pitchFamily="34" charset="0"/>
                <a:ea typeface="Calibri" pitchFamily="34" charset="-122"/>
                <a:cs typeface="Calibri" pitchFamily="34" charset="-120"/>
              </a:rPr>
              <a:t>엔젤렉스 M20 — 보행 의도 인식 + 힘 제어. 환자가 주도하는 재활.</a:t>
            </a:r>
            <a:endParaRPr lang="en-US" sz="1250" dirty="0"/>
          </a:p>
        </p:txBody>
      </p:sp>
      <p:sp>
        <p:nvSpPr>
          <p:cNvPr id="11" name="Shape 9"/>
          <p:cNvSpPr/>
          <p:nvPr/>
        </p:nvSpPr>
        <p:spPr>
          <a:xfrm>
            <a:off x="548640" y="3017520"/>
            <a:ext cx="11064240" cy="1261872"/>
          </a:xfrm>
          <a:prstGeom prst="roundRect">
            <a:avLst>
              <a:gd name="adj" fmla="val 4348"/>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2" name="Shape 10"/>
          <p:cNvSpPr/>
          <p:nvPr/>
        </p:nvSpPr>
        <p:spPr>
          <a:xfrm>
            <a:off x="822960" y="3438144"/>
            <a:ext cx="420624" cy="420624"/>
          </a:xfrm>
          <a:prstGeom prst="ellipse">
            <a:avLst/>
          </a:prstGeom>
          <a:solidFill>
            <a:srgbClr val="0E7C86"/>
          </a:solidFill>
          <a:ln/>
        </p:spPr>
        <p:txBody>
          <a:bodyPr/>
          <a:lstStyle/>
          <a:p>
            <a:endParaRPr lang="ko-KR" altLang="en-US"/>
          </a:p>
        </p:txBody>
      </p:sp>
      <p:sp>
        <p:nvSpPr>
          <p:cNvPr id="13" name="Text 11"/>
          <p:cNvSpPr/>
          <p:nvPr/>
        </p:nvSpPr>
        <p:spPr>
          <a:xfrm>
            <a:off x="822960" y="34381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417320" y="3172968"/>
            <a:ext cx="3657600" cy="329184"/>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사람을 루프에 넣어 최적화</a:t>
            </a:r>
            <a:endParaRPr lang="en-US" sz="1700" dirty="0"/>
          </a:p>
        </p:txBody>
      </p:sp>
      <p:sp>
        <p:nvSpPr>
          <p:cNvPr id="15" name="Text 13"/>
          <p:cNvSpPr/>
          <p:nvPr/>
        </p:nvSpPr>
        <p:spPr>
          <a:xfrm>
            <a:off x="1417320" y="3547872"/>
            <a:ext cx="3657600" cy="658368"/>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착용자의 근활성을 실시간으로 측정하며 보조 파라미터를 탐색 (Human-in-the-loop)</a:t>
            </a:r>
            <a:endParaRPr lang="en-US" sz="1150" dirty="0"/>
          </a:p>
        </p:txBody>
      </p:sp>
      <p:sp>
        <p:nvSpPr>
          <p:cNvPr id="16" name="Shape 14"/>
          <p:cNvSpPr/>
          <p:nvPr/>
        </p:nvSpPr>
        <p:spPr>
          <a:xfrm>
            <a:off x="5257800" y="3163824"/>
            <a:ext cx="6126480" cy="969264"/>
          </a:xfrm>
          <a:prstGeom prst="roundRect">
            <a:avLst>
              <a:gd name="adj" fmla="val 5660"/>
            </a:avLst>
          </a:prstGeom>
          <a:solidFill>
            <a:srgbClr val="E8F0F5"/>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5532120" y="3163824"/>
            <a:ext cx="5577840" cy="969264"/>
          </a:xfrm>
          <a:prstGeom prst="rect">
            <a:avLst/>
          </a:prstGeom>
          <a:noFill/>
          <a:ln/>
        </p:spPr>
        <p:txBody>
          <a:bodyPr wrap="square" lIns="0" tIns="0" rIns="0" bIns="0" rtlCol="0" anchor="ctr"/>
          <a:lstStyle/>
          <a:p>
            <a:pPr marL="0" indent="0">
              <a:lnSpc>
                <a:spcPct val="125000"/>
              </a:lnSpc>
              <a:buNone/>
            </a:pPr>
            <a:r>
              <a:rPr lang="en-US" sz="1250" dirty="0">
                <a:solidFill>
                  <a:srgbClr val="102A43"/>
                </a:solidFill>
                <a:latin typeface="Calibri" pitchFamily="34" charset="0"/>
                <a:ea typeface="Calibri" pitchFamily="34" charset="-122"/>
                <a:cs typeface="Calibri" pitchFamily="34" charset="-120"/>
              </a:rPr>
              <a:t>저장대 연구 — sEMG 기반 HITL 최적화. 1회 수집시간 120초 → 25초, 근활성 최대 33.6% 감소.</a:t>
            </a:r>
            <a:endParaRPr lang="en-US" sz="1250" dirty="0"/>
          </a:p>
        </p:txBody>
      </p:sp>
      <p:sp>
        <p:nvSpPr>
          <p:cNvPr id="18" name="Shape 16"/>
          <p:cNvSpPr/>
          <p:nvPr/>
        </p:nvSpPr>
        <p:spPr>
          <a:xfrm>
            <a:off x="548640" y="4389120"/>
            <a:ext cx="11064240" cy="1261872"/>
          </a:xfrm>
          <a:prstGeom prst="roundRect">
            <a:avLst>
              <a:gd name="adj" fmla="val 4348"/>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9" name="Shape 17"/>
          <p:cNvSpPr/>
          <p:nvPr/>
        </p:nvSpPr>
        <p:spPr>
          <a:xfrm>
            <a:off x="822960" y="4809744"/>
            <a:ext cx="420624" cy="420624"/>
          </a:xfrm>
          <a:prstGeom prst="ellipse">
            <a:avLst/>
          </a:prstGeom>
          <a:solidFill>
            <a:srgbClr val="9B2226"/>
          </a:solidFill>
          <a:ln/>
        </p:spPr>
        <p:txBody>
          <a:bodyPr/>
          <a:lstStyle/>
          <a:p>
            <a:endParaRPr lang="ko-KR" altLang="en-US"/>
          </a:p>
        </p:txBody>
      </p:sp>
      <p:sp>
        <p:nvSpPr>
          <p:cNvPr id="20" name="Text 18"/>
          <p:cNvSpPr/>
          <p:nvPr/>
        </p:nvSpPr>
        <p:spPr>
          <a:xfrm>
            <a:off x="822960" y="48097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1417320" y="4544568"/>
            <a:ext cx="3657600" cy="329184"/>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시뮬레이션에서 학습</a:t>
            </a:r>
            <a:endParaRPr lang="en-US" sz="1700" dirty="0"/>
          </a:p>
        </p:txBody>
      </p:sp>
      <p:sp>
        <p:nvSpPr>
          <p:cNvPr id="22" name="Text 20"/>
          <p:cNvSpPr/>
          <p:nvPr/>
        </p:nvSpPr>
        <p:spPr>
          <a:xfrm>
            <a:off x="1417320" y="4919472"/>
            <a:ext cx="3657600" cy="658368"/>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인체 실험 없이 근골격 시뮬레이션으로 제어기를 학습시켜 실기에 전이</a:t>
            </a:r>
            <a:endParaRPr lang="en-US" sz="1150" dirty="0"/>
          </a:p>
        </p:txBody>
      </p:sp>
      <p:sp>
        <p:nvSpPr>
          <p:cNvPr id="23" name="Shape 21"/>
          <p:cNvSpPr/>
          <p:nvPr/>
        </p:nvSpPr>
        <p:spPr>
          <a:xfrm>
            <a:off x="5257800" y="4535424"/>
            <a:ext cx="6126480" cy="969264"/>
          </a:xfrm>
          <a:prstGeom prst="roundRect">
            <a:avLst>
              <a:gd name="adj" fmla="val 5660"/>
            </a:avLst>
          </a:prstGeom>
          <a:solidFill>
            <a:srgbClr val="FFFFFF"/>
          </a:solidFill>
          <a:ln/>
          <a:effectLst>
            <a:outerShdw blurRad="101600" dist="635" dir="5400000" algn="bl" rotWithShape="0">
              <a:srgbClr val="0A1F33">
                <a:alpha val="12000"/>
              </a:srgbClr>
            </a:outerShdw>
          </a:effectLst>
        </p:spPr>
        <p:txBody>
          <a:bodyPr/>
          <a:lstStyle/>
          <a:p>
            <a:endParaRPr lang="ko-KR" altLang="en-US"/>
          </a:p>
        </p:txBody>
      </p:sp>
      <p:sp>
        <p:nvSpPr>
          <p:cNvPr id="24" name="Text 22"/>
          <p:cNvSpPr/>
          <p:nvPr/>
        </p:nvSpPr>
        <p:spPr>
          <a:xfrm>
            <a:off x="5532120" y="4535424"/>
            <a:ext cx="5577840" cy="969264"/>
          </a:xfrm>
          <a:prstGeom prst="rect">
            <a:avLst/>
          </a:prstGeom>
          <a:noFill/>
          <a:ln/>
        </p:spPr>
        <p:txBody>
          <a:bodyPr wrap="square" lIns="0" tIns="0" rIns="0" bIns="0" rtlCol="0" anchor="ctr"/>
          <a:lstStyle/>
          <a:p>
            <a:pPr marL="0" indent="0">
              <a:lnSpc>
                <a:spcPct val="125000"/>
              </a:lnSpc>
              <a:buNone/>
            </a:pPr>
            <a:r>
              <a:rPr lang="en-US" sz="1250" dirty="0">
                <a:solidFill>
                  <a:srgbClr val="9B2226"/>
                </a:solidFill>
                <a:latin typeface="Calibri" pitchFamily="34" charset="0"/>
                <a:ea typeface="Calibri" pitchFamily="34" charset="-122"/>
                <a:cs typeface="Calibri" pitchFamily="34" charset="-120"/>
              </a:rPr>
              <a:t>Nature 2024 — 대사율 보행 24.3% 감소. 단, 재현성 논쟁 진행 중. 아직 정착된 방법이 아닙니다.</a:t>
            </a:r>
            <a:endParaRPr lang="en-US" sz="1250" dirty="0"/>
          </a:p>
        </p:txBody>
      </p:sp>
      <p:sp>
        <p:nvSpPr>
          <p:cNvPr id="25" name="Text 23"/>
          <p:cNvSpPr/>
          <p:nvPr/>
        </p:nvSpPr>
        <p:spPr>
          <a:xfrm>
            <a:off x="548640" y="5806440"/>
            <a:ext cx="11064240" cy="457200"/>
          </a:xfrm>
          <a:prstGeom prst="rect">
            <a:avLst/>
          </a:prstGeom>
          <a:noFill/>
          <a:ln/>
        </p:spPr>
        <p:txBody>
          <a:bodyPr wrap="square" lIns="0" tIns="0" rIns="0" bIns="0" rtlCol="0" anchor="ctr"/>
          <a:lstStyle/>
          <a:p>
            <a:pPr marL="0" indent="0">
              <a:buNone/>
            </a:pPr>
            <a:r>
              <a:rPr lang="en-US" sz="1400" b="1" i="1" dirty="0">
                <a:solidFill>
                  <a:srgbClr val="102A43"/>
                </a:solidFill>
                <a:latin typeface="Calibri" pitchFamily="34" charset="0"/>
                <a:ea typeface="Calibri" pitchFamily="34" charset="-122"/>
                <a:cs typeface="Calibri" pitchFamily="34" charset="-120"/>
              </a:rPr>
              <a:t>마지막 줄이 중요합니다 — 최전선조차 아직 논쟁 중이라는 사실이, 우리가 들어갈 자리가 있다는 신호입니다.</a:t>
            </a:r>
            <a:endParaRPr lang="en-US" sz="1400" dirty="0"/>
          </a:p>
        </p:txBody>
      </p:sp>
      <p:sp>
        <p:nvSpPr>
          <p:cNvPr id="26" name="Text 24"/>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저장대 sEMG 기반 HITL 최적화 (Frontiers 2023)">
                  <a:extLst>
                    <a:ext uri="{A12FA001-AC4F-418D-AE19-62706E023703}">
                      <ahyp:hlinkClr xmlns:ahyp="http://schemas.microsoft.com/office/drawing/2018/hyperlinkcolor" val="tx"/>
                    </a:ext>
                  </a:extLst>
                </a:hlinkClick>
              </a:rPr>
              <a:t>저장대 sEMG 기반 HITL 최적화 (Frontiers 2023)</a:t>
            </a:r>
            <a:r>
              <a:rPr lang="en-US" sz="900" dirty="0">
                <a:solidFill>
                  <a:srgbClr val="829AB1"/>
                </a:solidFill>
              </a:rPr>
              <a:t>   ·   </a:t>
            </a:r>
            <a:r>
              <a:rPr lang="en-US" sz="900" u="sng" dirty="0">
                <a:solidFill>
                  <a:srgbClr val="0E7C86"/>
                </a:solidFill>
                <a:hlinkClick r:id="rId4" tooltip="Nature 2024 — Experiment-free exoskeleton assistance">
                  <a:extLst>
                    <a:ext uri="{A12FA001-AC4F-418D-AE19-62706E023703}">
                      <ahyp:hlinkClr xmlns:ahyp="http://schemas.microsoft.com/office/drawing/2018/hyperlinkcolor" val="tx"/>
                    </a:ext>
                  </a:extLst>
                </a:hlinkClick>
              </a:rPr>
              <a:t>Nature 2024 — Experiment-free exoskeleton assistance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5-4 · 현장에서는</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논문에는 한 줄인데, 실제로는</a:t>
            </a:r>
            <a:endParaRPr lang="en-US" sz="3000" dirty="0"/>
          </a:p>
        </p:txBody>
      </p:sp>
      <p:sp>
        <p:nvSpPr>
          <p:cNvPr id="4" name="Shape 2"/>
          <p:cNvSpPr/>
          <p:nvPr/>
        </p:nvSpPr>
        <p:spPr>
          <a:xfrm>
            <a:off x="548640" y="1645920"/>
            <a:ext cx="11064240" cy="1234440"/>
          </a:xfrm>
          <a:prstGeom prst="roundRect">
            <a:avLst>
              <a:gd name="adj" fmla="val 4444"/>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1005840" y="1810512"/>
            <a:ext cx="101498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"개인 간(cross-subject) 일반화가 어렵다"</a:t>
            </a:r>
            <a:endParaRPr lang="en-US" sz="2400" dirty="0"/>
          </a:p>
        </p:txBody>
      </p:sp>
      <p:sp>
        <p:nvSpPr>
          <p:cNvPr id="6" name="Text 4"/>
          <p:cNvSpPr/>
          <p:nvPr/>
        </p:nvSpPr>
        <p:spPr>
          <a:xfrm>
            <a:off x="1005840" y="2331720"/>
            <a:ext cx="10149840" cy="365760"/>
          </a:xfrm>
          <a:prstGeom prst="rect">
            <a:avLst/>
          </a:prstGeom>
          <a:noFill/>
          <a:ln/>
        </p:spPr>
        <p:txBody>
          <a:bodyPr wrap="square" lIns="0" tIns="0" rIns="0" bIns="0" rtlCol="0" anchor="ctr"/>
          <a:lstStyle/>
          <a:p>
            <a:pPr marL="0" indent="0">
              <a:buNone/>
            </a:pPr>
            <a:r>
              <a:rPr lang="en-US" sz="1400" dirty="0">
                <a:solidFill>
                  <a:srgbClr val="8FC7CE"/>
                </a:solidFill>
                <a:latin typeface="Calibri" pitchFamily="34" charset="0"/>
                <a:ea typeface="Calibri" pitchFamily="34" charset="-122"/>
                <a:cs typeface="Calibri" pitchFamily="34" charset="-120"/>
              </a:rPr>
              <a:t>논문에는 이렇게 한 줄로 쓰여 있습니다. 그런데 현장에서는 이런 모습입니다 —</a:t>
            </a:r>
            <a:endParaRPr lang="en-US" sz="1400" dirty="0"/>
          </a:p>
        </p:txBody>
      </p:sp>
      <p:sp>
        <p:nvSpPr>
          <p:cNvPr id="7" name="Shape 5"/>
          <p:cNvSpPr/>
          <p:nvPr/>
        </p:nvSpPr>
        <p:spPr>
          <a:xfrm>
            <a:off x="548640" y="3108960"/>
            <a:ext cx="11064240" cy="621792"/>
          </a:xfrm>
          <a:prstGeom prst="roundRect">
            <a:avLst>
              <a:gd name="adj" fmla="val 8824"/>
            </a:avLst>
          </a:prstGeom>
          <a:solidFill>
            <a:srgbClr val="FFFFFF"/>
          </a:solidFill>
          <a:ln/>
          <a:effectLst>
            <a:outerShdw blurRad="101600" dist="635" dir="5400000" algn="bl" rotWithShape="0">
              <a:srgbClr val="0A1F33">
                <a:alpha val="12000"/>
              </a:srgbClr>
            </a:outerShdw>
          </a:effectLst>
        </p:spPr>
        <p:txBody>
          <a:bodyPr/>
          <a:lstStyle/>
          <a:p>
            <a:endParaRPr lang="ko-KR" altLang="en-US"/>
          </a:p>
        </p:txBody>
      </p:sp>
      <p:sp>
        <p:nvSpPr>
          <p:cNvPr id="8" name="Shape 6"/>
          <p:cNvSpPr/>
          <p:nvPr/>
        </p:nvSpPr>
        <p:spPr>
          <a:xfrm>
            <a:off x="777240" y="3246120"/>
            <a:ext cx="347472" cy="347472"/>
          </a:xfrm>
          <a:prstGeom prst="ellipse">
            <a:avLst/>
          </a:prstGeom>
          <a:solidFill>
            <a:srgbClr val="8FC7CE"/>
          </a:solidFill>
          <a:ln/>
        </p:spPr>
        <p:txBody>
          <a:bodyPr/>
          <a:lstStyle/>
          <a:p>
            <a:endParaRPr lang="ko-KR" altLang="en-US"/>
          </a:p>
        </p:txBody>
      </p:sp>
      <p:sp>
        <p:nvSpPr>
          <p:cNvPr id="9" name="Text 7"/>
          <p:cNvSpPr/>
          <p:nvPr/>
        </p:nvSpPr>
        <p:spPr>
          <a:xfrm>
            <a:off x="777240" y="3246120"/>
            <a:ext cx="347472" cy="347472"/>
          </a:xfrm>
          <a:prstGeom prst="rect">
            <a:avLst/>
          </a:prstGeom>
          <a:noFill/>
          <a:ln/>
        </p:spPr>
        <p:txBody>
          <a:bodyPr wrap="square" lIns="0" tIns="0" rIns="0" bIns="0" rtlCol="0" anchor="ctr"/>
          <a:lstStyle/>
          <a:p>
            <a:pPr marL="0" indent="0" algn="ctr">
              <a:buNone/>
            </a:pPr>
            <a:r>
              <a:rPr lang="en-US" sz="1200" b="1" dirty="0">
                <a:solidFill>
                  <a:srgbClr val="102A43"/>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80160" y="3246120"/>
            <a:ext cx="9966960" cy="347472"/>
          </a:xfrm>
          <a:prstGeom prst="rect">
            <a:avLst/>
          </a:prstGeom>
          <a:noFill/>
          <a:ln/>
        </p:spPr>
        <p:txBody>
          <a:bodyPr wrap="square" lIns="0" tIns="0" rIns="0" bIns="0" rtlCol="0" anchor="ctr"/>
          <a:lstStyle/>
          <a:p>
            <a:pPr marL="0" indent="0">
              <a:buNone/>
            </a:pPr>
            <a:r>
              <a:rPr lang="en-US" sz="1500" i="1" dirty="0">
                <a:solidFill>
                  <a:srgbClr val="52606D"/>
                </a:solidFill>
                <a:latin typeface="Calibri" pitchFamily="34" charset="0"/>
                <a:ea typeface="Calibri" pitchFamily="34" charset="-122"/>
                <a:cs typeface="Calibri" pitchFamily="34" charset="-120"/>
              </a:rPr>
              <a:t>환자마다 세팅을 다르게 해야 했던 경험이 있으신가요?</a:t>
            </a:r>
            <a:endParaRPr lang="en-US" sz="1500" dirty="0"/>
          </a:p>
        </p:txBody>
      </p:sp>
      <p:sp>
        <p:nvSpPr>
          <p:cNvPr id="11" name="Shape 9"/>
          <p:cNvSpPr/>
          <p:nvPr/>
        </p:nvSpPr>
        <p:spPr>
          <a:xfrm>
            <a:off x="548640" y="3822192"/>
            <a:ext cx="11064240" cy="621792"/>
          </a:xfrm>
          <a:prstGeom prst="roundRect">
            <a:avLst>
              <a:gd name="adj" fmla="val 8824"/>
            </a:avLst>
          </a:prstGeom>
          <a:solidFill>
            <a:srgbClr val="FFFFFF"/>
          </a:solidFill>
          <a:ln/>
          <a:effectLst>
            <a:outerShdw blurRad="101600" dist="635" dir="5400000" algn="bl" rotWithShape="0">
              <a:srgbClr val="0A1F33">
                <a:alpha val="12000"/>
              </a:srgbClr>
            </a:outerShdw>
          </a:effectLst>
        </p:spPr>
        <p:txBody>
          <a:bodyPr/>
          <a:lstStyle/>
          <a:p>
            <a:endParaRPr lang="ko-KR" altLang="en-US"/>
          </a:p>
        </p:txBody>
      </p:sp>
      <p:sp>
        <p:nvSpPr>
          <p:cNvPr id="12" name="Shape 10"/>
          <p:cNvSpPr/>
          <p:nvPr/>
        </p:nvSpPr>
        <p:spPr>
          <a:xfrm>
            <a:off x="777240" y="3959352"/>
            <a:ext cx="347472" cy="347472"/>
          </a:xfrm>
          <a:prstGeom prst="ellipse">
            <a:avLst/>
          </a:prstGeom>
          <a:solidFill>
            <a:srgbClr val="8FC7CE"/>
          </a:solidFill>
          <a:ln/>
        </p:spPr>
        <p:txBody>
          <a:bodyPr/>
          <a:lstStyle/>
          <a:p>
            <a:endParaRPr lang="ko-KR" altLang="en-US"/>
          </a:p>
        </p:txBody>
      </p:sp>
      <p:sp>
        <p:nvSpPr>
          <p:cNvPr id="13" name="Text 11"/>
          <p:cNvSpPr/>
          <p:nvPr/>
        </p:nvSpPr>
        <p:spPr>
          <a:xfrm>
            <a:off x="777240" y="3959352"/>
            <a:ext cx="347472" cy="347472"/>
          </a:xfrm>
          <a:prstGeom prst="rect">
            <a:avLst/>
          </a:prstGeom>
          <a:noFill/>
          <a:ln/>
        </p:spPr>
        <p:txBody>
          <a:bodyPr wrap="square" lIns="0" tIns="0" rIns="0" bIns="0" rtlCol="0" anchor="ctr"/>
          <a:lstStyle/>
          <a:p>
            <a:pPr marL="0" indent="0" algn="ctr">
              <a:buNone/>
            </a:pPr>
            <a:r>
              <a:rPr lang="en-US" sz="1200" b="1" dirty="0">
                <a:solidFill>
                  <a:srgbClr val="102A43"/>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280160" y="3959352"/>
            <a:ext cx="9966960" cy="347472"/>
          </a:xfrm>
          <a:prstGeom prst="rect">
            <a:avLst/>
          </a:prstGeom>
          <a:noFill/>
          <a:ln/>
        </p:spPr>
        <p:txBody>
          <a:bodyPr wrap="square" lIns="0" tIns="0" rIns="0" bIns="0" rtlCol="0" anchor="ctr"/>
          <a:lstStyle/>
          <a:p>
            <a:pPr marL="0" indent="0">
              <a:buNone/>
            </a:pPr>
            <a:r>
              <a:rPr lang="en-US" sz="1500" i="1" dirty="0">
                <a:solidFill>
                  <a:srgbClr val="52606D"/>
                </a:solidFill>
                <a:latin typeface="Calibri" pitchFamily="34" charset="0"/>
                <a:ea typeface="Calibri" pitchFamily="34" charset="-122"/>
                <a:cs typeface="Calibri" pitchFamily="34" charset="-120"/>
              </a:rPr>
              <a:t>표준값이 없어서 판단이 어려웠던 지점은 어디였나요?</a:t>
            </a:r>
            <a:endParaRPr lang="en-US" sz="1500" dirty="0"/>
          </a:p>
        </p:txBody>
      </p:sp>
      <p:sp>
        <p:nvSpPr>
          <p:cNvPr id="15" name="Shape 13"/>
          <p:cNvSpPr/>
          <p:nvPr/>
        </p:nvSpPr>
        <p:spPr>
          <a:xfrm>
            <a:off x="548640" y="4535424"/>
            <a:ext cx="11064240" cy="621792"/>
          </a:xfrm>
          <a:prstGeom prst="roundRect">
            <a:avLst>
              <a:gd name="adj" fmla="val 8824"/>
            </a:avLst>
          </a:prstGeom>
          <a:solidFill>
            <a:srgbClr val="FFFFFF"/>
          </a:solidFill>
          <a:ln/>
          <a:effectLst>
            <a:outerShdw blurRad="101600" dist="635" dir="5400000" algn="bl" rotWithShape="0">
              <a:srgbClr val="0A1F33">
                <a:alpha val="12000"/>
              </a:srgbClr>
            </a:outerShdw>
          </a:effectLst>
        </p:spPr>
        <p:txBody>
          <a:bodyPr/>
          <a:lstStyle/>
          <a:p>
            <a:endParaRPr lang="ko-KR" altLang="en-US"/>
          </a:p>
        </p:txBody>
      </p:sp>
      <p:sp>
        <p:nvSpPr>
          <p:cNvPr id="16" name="Shape 14"/>
          <p:cNvSpPr/>
          <p:nvPr/>
        </p:nvSpPr>
        <p:spPr>
          <a:xfrm>
            <a:off x="777240" y="4672584"/>
            <a:ext cx="347472" cy="347472"/>
          </a:xfrm>
          <a:prstGeom prst="ellipse">
            <a:avLst/>
          </a:prstGeom>
          <a:solidFill>
            <a:srgbClr val="8FC7CE"/>
          </a:solidFill>
          <a:ln/>
        </p:spPr>
        <p:txBody>
          <a:bodyPr/>
          <a:lstStyle/>
          <a:p>
            <a:endParaRPr lang="ko-KR" altLang="en-US"/>
          </a:p>
        </p:txBody>
      </p:sp>
      <p:sp>
        <p:nvSpPr>
          <p:cNvPr id="17" name="Text 15"/>
          <p:cNvSpPr/>
          <p:nvPr/>
        </p:nvSpPr>
        <p:spPr>
          <a:xfrm>
            <a:off x="777240" y="4672584"/>
            <a:ext cx="347472" cy="347472"/>
          </a:xfrm>
          <a:prstGeom prst="rect">
            <a:avLst/>
          </a:prstGeom>
          <a:noFill/>
          <a:ln/>
        </p:spPr>
        <p:txBody>
          <a:bodyPr wrap="square" lIns="0" tIns="0" rIns="0" bIns="0" rtlCol="0" anchor="ctr"/>
          <a:lstStyle/>
          <a:p>
            <a:pPr marL="0" indent="0" algn="ctr">
              <a:buNone/>
            </a:pPr>
            <a:r>
              <a:rPr lang="en-US" sz="1200" b="1" dirty="0">
                <a:solidFill>
                  <a:srgbClr val="102A43"/>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280160" y="4672584"/>
            <a:ext cx="9966960" cy="347472"/>
          </a:xfrm>
          <a:prstGeom prst="rect">
            <a:avLst/>
          </a:prstGeom>
          <a:noFill/>
          <a:ln/>
        </p:spPr>
        <p:txBody>
          <a:bodyPr wrap="square" lIns="0" tIns="0" rIns="0" bIns="0" rtlCol="0" anchor="ctr"/>
          <a:lstStyle/>
          <a:p>
            <a:pPr marL="0" indent="0">
              <a:buNone/>
            </a:pPr>
            <a:r>
              <a:rPr lang="en-US" sz="1500" i="1" dirty="0">
                <a:solidFill>
                  <a:srgbClr val="52606D"/>
                </a:solidFill>
                <a:latin typeface="Calibri" pitchFamily="34" charset="0"/>
                <a:ea typeface="Calibri" pitchFamily="34" charset="-122"/>
                <a:cs typeface="Calibri" pitchFamily="34" charset="-120"/>
              </a:rPr>
              <a:t>"이 사람은 왜 이렇게 다른가" 싶었던 순간이 있었나요?</a:t>
            </a:r>
            <a:endParaRPr lang="en-US" sz="1500" dirty="0"/>
          </a:p>
        </p:txBody>
      </p:sp>
      <p:sp>
        <p:nvSpPr>
          <p:cNvPr id="19" name="Shape 17"/>
          <p:cNvSpPr/>
          <p:nvPr/>
        </p:nvSpPr>
        <p:spPr>
          <a:xfrm>
            <a:off x="548640" y="5248656"/>
            <a:ext cx="11064240" cy="621792"/>
          </a:xfrm>
          <a:prstGeom prst="roundRect">
            <a:avLst>
              <a:gd name="adj" fmla="val 8824"/>
            </a:avLst>
          </a:prstGeom>
          <a:solidFill>
            <a:srgbClr val="FFFFFF"/>
          </a:solidFill>
          <a:ln/>
          <a:effectLst>
            <a:outerShdw blurRad="101600" dist="635" dir="5400000" algn="bl" rotWithShape="0">
              <a:srgbClr val="0A1F33">
                <a:alpha val="12000"/>
              </a:srgbClr>
            </a:outerShdw>
          </a:effectLst>
        </p:spPr>
        <p:txBody>
          <a:bodyPr/>
          <a:lstStyle/>
          <a:p>
            <a:endParaRPr lang="ko-KR" altLang="en-US"/>
          </a:p>
        </p:txBody>
      </p:sp>
      <p:sp>
        <p:nvSpPr>
          <p:cNvPr id="20" name="Shape 18"/>
          <p:cNvSpPr/>
          <p:nvPr/>
        </p:nvSpPr>
        <p:spPr>
          <a:xfrm>
            <a:off x="777240" y="5385816"/>
            <a:ext cx="347472" cy="347472"/>
          </a:xfrm>
          <a:prstGeom prst="ellipse">
            <a:avLst/>
          </a:prstGeom>
          <a:solidFill>
            <a:srgbClr val="8FC7CE"/>
          </a:solidFill>
          <a:ln/>
        </p:spPr>
        <p:txBody>
          <a:bodyPr/>
          <a:lstStyle/>
          <a:p>
            <a:endParaRPr lang="ko-KR" altLang="en-US"/>
          </a:p>
        </p:txBody>
      </p:sp>
      <p:sp>
        <p:nvSpPr>
          <p:cNvPr id="21" name="Text 19"/>
          <p:cNvSpPr/>
          <p:nvPr/>
        </p:nvSpPr>
        <p:spPr>
          <a:xfrm>
            <a:off x="777240" y="5385816"/>
            <a:ext cx="347472" cy="347472"/>
          </a:xfrm>
          <a:prstGeom prst="rect">
            <a:avLst/>
          </a:prstGeom>
          <a:noFill/>
          <a:ln/>
        </p:spPr>
        <p:txBody>
          <a:bodyPr wrap="square" lIns="0" tIns="0" rIns="0" bIns="0" rtlCol="0" anchor="ctr"/>
          <a:lstStyle/>
          <a:p>
            <a:pPr marL="0" indent="0" algn="ctr">
              <a:buNone/>
            </a:pPr>
            <a:r>
              <a:rPr lang="en-US" sz="1200" b="1" dirty="0">
                <a:solidFill>
                  <a:srgbClr val="102A43"/>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280160" y="5385816"/>
            <a:ext cx="9966960" cy="347472"/>
          </a:xfrm>
          <a:prstGeom prst="rect">
            <a:avLst/>
          </a:prstGeom>
          <a:noFill/>
          <a:ln/>
        </p:spPr>
        <p:txBody>
          <a:bodyPr wrap="square" lIns="0" tIns="0" rIns="0" bIns="0" rtlCol="0" anchor="ctr"/>
          <a:lstStyle/>
          <a:p>
            <a:pPr marL="0" indent="0">
              <a:buNone/>
            </a:pPr>
            <a:r>
              <a:rPr lang="en-US" sz="1500" i="1" dirty="0">
                <a:solidFill>
                  <a:srgbClr val="52606D"/>
                </a:solidFill>
                <a:latin typeface="Calibri" pitchFamily="34" charset="0"/>
                <a:ea typeface="Calibri" pitchFamily="34" charset="-122"/>
                <a:cs typeface="Calibri" pitchFamily="34" charset="-120"/>
              </a:rPr>
              <a:t>현장에서 처음 배운, 논문에 안 나오는 감각이 있나요?</a:t>
            </a:r>
            <a:endParaRPr lang="en-US" sz="1500" dirty="0"/>
          </a:p>
        </p:txBody>
      </p:sp>
      <p:sp>
        <p:nvSpPr>
          <p:cNvPr id="23" name="Text 21"/>
          <p:cNvSpPr/>
          <p:nvPr/>
        </p:nvSpPr>
        <p:spPr>
          <a:xfrm>
            <a:off x="548640" y="5989320"/>
            <a:ext cx="11064240" cy="365760"/>
          </a:xfrm>
          <a:prstGeom prst="rect">
            <a:avLst/>
          </a:prstGeom>
          <a:noFill/>
          <a:ln/>
        </p:spPr>
        <p:txBody>
          <a:bodyPr wrap="square" lIns="0" tIns="0" rIns="0" bIns="0" rtlCol="0" anchor="ctr"/>
          <a:lstStyle/>
          <a:p>
            <a:pPr marL="0" indent="0">
              <a:buNone/>
            </a:pPr>
            <a:r>
              <a:rPr lang="en-US" sz="1150" i="1" dirty="0">
                <a:solidFill>
                  <a:srgbClr val="829AB1"/>
                </a:solidFill>
                <a:latin typeface="Calibri" pitchFamily="34" charset="0"/>
                <a:ea typeface="Calibri" pitchFamily="34" charset="-122"/>
                <a:cs typeface="Calibri" pitchFamily="34" charset="-120"/>
              </a:rPr>
              <a:t>이 슬라이드는 발표자가 직접 채우는 자리입니다. 구체적 수치나 회사 내부 데이터는 넣지 않고, "실제로 사람마다 이렇게 다르더라" 수준의 경험담이면 충분합니다.</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1">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548640" y="1965960"/>
            <a:ext cx="914400" cy="914400"/>
          </a:xfrm>
          <a:prstGeom prst="ellipse">
            <a:avLst/>
          </a:prstGeom>
          <a:solidFill>
            <a:srgbClr val="0E7C86"/>
          </a:solidFill>
          <a:ln/>
        </p:spPr>
        <p:txBody>
          <a:bodyPr/>
          <a:lstStyle/>
          <a:p>
            <a:endParaRPr lang="ko-KR" altLang="en-US"/>
          </a:p>
        </p:txBody>
      </p:sp>
      <p:sp>
        <p:nvSpPr>
          <p:cNvPr id="3" name="Text 1"/>
          <p:cNvSpPr/>
          <p:nvPr/>
        </p:nvSpPr>
        <p:spPr>
          <a:xfrm>
            <a:off x="548640" y="1965960"/>
            <a:ext cx="91440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6</a:t>
            </a:r>
            <a:endParaRPr lang="en-US" sz="3400" dirty="0"/>
          </a:p>
        </p:txBody>
      </p:sp>
      <p:sp>
        <p:nvSpPr>
          <p:cNvPr id="4" name="Text 2"/>
          <p:cNvSpPr/>
          <p:nvPr/>
        </p:nvSpPr>
        <p:spPr>
          <a:xfrm>
            <a:off x="1783080" y="1847088"/>
            <a:ext cx="98298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로봇이 남기는 데이터</a:t>
            </a:r>
            <a:endParaRPr lang="en-US" sz="4000" dirty="0"/>
          </a:p>
        </p:txBody>
      </p:sp>
      <p:sp>
        <p:nvSpPr>
          <p:cNvPr id="5" name="Text 3"/>
          <p:cNvSpPr/>
          <p:nvPr/>
        </p:nvSpPr>
        <p:spPr>
          <a:xfrm>
            <a:off x="1783080" y="2697480"/>
            <a:ext cx="9829800" cy="1280160"/>
          </a:xfrm>
          <a:prstGeom prst="rect">
            <a:avLst/>
          </a:prstGeom>
          <a:noFill/>
          <a:ln/>
        </p:spPr>
        <p:txBody>
          <a:bodyPr wrap="square" lIns="0" tIns="0" rIns="0" bIns="0" rtlCol="0" anchor="ctr"/>
          <a:lstStyle/>
          <a:p>
            <a:pPr marL="0" indent="0">
              <a:lnSpc>
                <a:spcPct val="125000"/>
              </a:lnSpc>
              <a:buNone/>
            </a:pPr>
            <a:r>
              <a:rPr lang="en-US" sz="1800" dirty="0" err="1">
                <a:solidFill>
                  <a:srgbClr val="8FC7CE"/>
                </a:solidFill>
                <a:latin typeface="Calibri" pitchFamily="34" charset="0"/>
                <a:ea typeface="Calibri" pitchFamily="34" charset="-122"/>
                <a:cs typeface="Calibri" pitchFamily="34" charset="-120"/>
              </a:rPr>
              <a:t>로봇은</a:t>
            </a:r>
            <a:r>
              <a:rPr lang="en-US" sz="1800" dirty="0">
                <a:solidFill>
                  <a:srgbClr val="8FC7CE"/>
                </a:solidFill>
                <a:latin typeface="Calibri" pitchFamily="34" charset="0"/>
                <a:ea typeface="Calibri" pitchFamily="34" charset="-122"/>
                <a:cs typeface="Calibri" pitchFamily="34" charset="-120"/>
              </a:rPr>
              <a:t> </a:t>
            </a:r>
            <a:r>
              <a:rPr lang="en-US" sz="1800" dirty="0" err="1">
                <a:solidFill>
                  <a:srgbClr val="8FC7CE"/>
                </a:solidFill>
                <a:latin typeface="Calibri" pitchFamily="34" charset="0"/>
                <a:ea typeface="Calibri" pitchFamily="34" charset="-122"/>
                <a:cs typeface="Calibri" pitchFamily="34" charset="-120"/>
              </a:rPr>
              <a:t>데이터를</a:t>
            </a:r>
            <a:r>
              <a:rPr lang="en-US" sz="1800" dirty="0">
                <a:solidFill>
                  <a:srgbClr val="8FC7CE"/>
                </a:solidFill>
                <a:latin typeface="Calibri" pitchFamily="34" charset="0"/>
                <a:ea typeface="Calibri" pitchFamily="34" charset="-122"/>
                <a:cs typeface="Calibri" pitchFamily="34" charset="-120"/>
              </a:rPr>
              <a:t> 남깁니다.</a:t>
            </a:r>
            <a:endParaRPr lang="en-US" sz="1800" dirty="0"/>
          </a:p>
          <a:p>
            <a:pPr marL="0" indent="0">
              <a:lnSpc>
                <a:spcPct val="125000"/>
              </a:lnSpc>
              <a:buNone/>
            </a:pPr>
            <a:r>
              <a:rPr lang="en-US" sz="1800" dirty="0">
                <a:solidFill>
                  <a:srgbClr val="8FC7CE"/>
                </a:solidFill>
                <a:latin typeface="Calibri" pitchFamily="34" charset="0"/>
                <a:ea typeface="Calibri" pitchFamily="34" charset="-122"/>
                <a:cs typeface="Calibri" pitchFamily="34" charset="-120"/>
              </a:rPr>
              <a:t>그러나 전처리를 거쳐야 비로소 '회복을 증명하는 근거'가 됩니다.</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6-1 · 무엇이 남는가</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로봇은 자기가 한 일을 전부 기록합니다</a:t>
            </a:r>
            <a:endParaRPr lang="en-US" sz="3000" dirty="0"/>
          </a:p>
        </p:txBody>
      </p:sp>
      <p:sp>
        <p:nvSpPr>
          <p:cNvPr id="4" name="Shape 2"/>
          <p:cNvSpPr/>
          <p:nvPr/>
        </p:nvSpPr>
        <p:spPr>
          <a:xfrm>
            <a:off x="548640" y="1737360"/>
            <a:ext cx="2066544" cy="1691640"/>
          </a:xfrm>
          <a:prstGeom prst="roundRect">
            <a:avLst>
              <a:gd name="adj" fmla="val 324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731520" y="1965960"/>
            <a:ext cx="1700784" cy="640080"/>
          </a:xfrm>
          <a:prstGeom prst="rect">
            <a:avLst/>
          </a:prstGeom>
          <a:noFill/>
          <a:ln/>
        </p:spPr>
        <p:txBody>
          <a:bodyPr wrap="square" lIns="0" tIns="0" rIns="0" bIns="0" rtlCol="0" anchor="ctr"/>
          <a:lstStyle/>
          <a:p>
            <a:pPr marL="0" indent="0">
              <a:lnSpc>
                <a:spcPct val="110000"/>
              </a:lnSpc>
              <a:buNone/>
            </a:pPr>
            <a:r>
              <a:rPr lang="en-US" sz="1500" b="1" dirty="0">
                <a:solidFill>
                  <a:srgbClr val="102A43"/>
                </a:solidFill>
                <a:latin typeface="Cambria" pitchFamily="34" charset="0"/>
                <a:ea typeface="Cambria" pitchFamily="34" charset="-122"/>
                <a:cs typeface="Cambria" pitchFamily="34" charset="-120"/>
              </a:rPr>
              <a:t>구동 토크</a:t>
            </a:r>
            <a:endParaRPr lang="en-US" sz="1500" dirty="0"/>
          </a:p>
        </p:txBody>
      </p:sp>
      <p:sp>
        <p:nvSpPr>
          <p:cNvPr id="6" name="Text 4"/>
          <p:cNvSpPr/>
          <p:nvPr/>
        </p:nvSpPr>
        <p:spPr>
          <a:xfrm>
            <a:off x="731520" y="2651760"/>
            <a:ext cx="1700784" cy="68580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모터가 실제로 낸 힘</a:t>
            </a:r>
            <a:endParaRPr lang="en-US" sz="1150" dirty="0"/>
          </a:p>
        </p:txBody>
      </p:sp>
      <p:sp>
        <p:nvSpPr>
          <p:cNvPr id="7" name="Shape 5"/>
          <p:cNvSpPr/>
          <p:nvPr/>
        </p:nvSpPr>
        <p:spPr>
          <a:xfrm>
            <a:off x="2798064" y="1737360"/>
            <a:ext cx="2066544" cy="1691640"/>
          </a:xfrm>
          <a:prstGeom prst="roundRect">
            <a:avLst>
              <a:gd name="adj" fmla="val 324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2980944" y="1965960"/>
            <a:ext cx="1700784" cy="640080"/>
          </a:xfrm>
          <a:prstGeom prst="rect">
            <a:avLst/>
          </a:prstGeom>
          <a:noFill/>
          <a:ln/>
        </p:spPr>
        <p:txBody>
          <a:bodyPr wrap="square" lIns="0" tIns="0" rIns="0" bIns="0" rtlCol="0" anchor="ctr"/>
          <a:lstStyle/>
          <a:p>
            <a:pPr marL="0" indent="0">
              <a:lnSpc>
                <a:spcPct val="110000"/>
              </a:lnSpc>
              <a:buNone/>
            </a:pPr>
            <a:r>
              <a:rPr lang="en-US" sz="1500" b="1" dirty="0">
                <a:solidFill>
                  <a:srgbClr val="102A43"/>
                </a:solidFill>
                <a:latin typeface="Cambria" pitchFamily="34" charset="0"/>
                <a:ea typeface="Cambria" pitchFamily="34" charset="-122"/>
                <a:cs typeface="Cambria" pitchFamily="34" charset="-120"/>
              </a:rPr>
              <a:t>관절 각도</a:t>
            </a:r>
            <a:endParaRPr lang="en-US" sz="1500" dirty="0"/>
          </a:p>
        </p:txBody>
      </p:sp>
      <p:sp>
        <p:nvSpPr>
          <p:cNvPr id="9" name="Text 7"/>
          <p:cNvSpPr/>
          <p:nvPr/>
        </p:nvSpPr>
        <p:spPr>
          <a:xfrm>
            <a:off x="2980944" y="2651760"/>
            <a:ext cx="1700784" cy="68580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엔코더가 기록한 궤적</a:t>
            </a:r>
            <a:endParaRPr lang="en-US" sz="1150" dirty="0"/>
          </a:p>
        </p:txBody>
      </p:sp>
      <p:sp>
        <p:nvSpPr>
          <p:cNvPr id="10" name="Shape 8"/>
          <p:cNvSpPr/>
          <p:nvPr/>
        </p:nvSpPr>
        <p:spPr>
          <a:xfrm>
            <a:off x="5047488" y="1737360"/>
            <a:ext cx="2066544" cy="1691640"/>
          </a:xfrm>
          <a:prstGeom prst="roundRect">
            <a:avLst>
              <a:gd name="adj" fmla="val 324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5230368" y="1965960"/>
            <a:ext cx="1700784" cy="640080"/>
          </a:xfrm>
          <a:prstGeom prst="rect">
            <a:avLst/>
          </a:prstGeom>
          <a:noFill/>
          <a:ln/>
        </p:spPr>
        <p:txBody>
          <a:bodyPr wrap="square" lIns="0" tIns="0" rIns="0" bIns="0" rtlCol="0" anchor="ctr"/>
          <a:lstStyle/>
          <a:p>
            <a:pPr marL="0" indent="0">
              <a:lnSpc>
                <a:spcPct val="110000"/>
              </a:lnSpc>
              <a:buNone/>
            </a:pPr>
            <a:r>
              <a:rPr lang="en-US" sz="1500" b="1" dirty="0">
                <a:solidFill>
                  <a:srgbClr val="102A43"/>
                </a:solidFill>
                <a:latin typeface="Cambria" pitchFamily="34" charset="0"/>
                <a:ea typeface="Cambria" pitchFamily="34" charset="-122"/>
                <a:cs typeface="Cambria" pitchFamily="34" charset="-120"/>
              </a:rPr>
              <a:t>보행 패턴</a:t>
            </a:r>
            <a:endParaRPr lang="en-US" sz="1500" dirty="0"/>
          </a:p>
        </p:txBody>
      </p:sp>
      <p:sp>
        <p:nvSpPr>
          <p:cNvPr id="12" name="Text 10"/>
          <p:cNvSpPr/>
          <p:nvPr/>
        </p:nvSpPr>
        <p:spPr>
          <a:xfrm>
            <a:off x="5230368" y="2651760"/>
            <a:ext cx="1700784" cy="68580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보폭 · 케이던스 · 좌우 대칭성</a:t>
            </a:r>
            <a:endParaRPr lang="en-US" sz="1150" dirty="0"/>
          </a:p>
        </p:txBody>
      </p:sp>
      <p:sp>
        <p:nvSpPr>
          <p:cNvPr id="13" name="Shape 11"/>
          <p:cNvSpPr/>
          <p:nvPr/>
        </p:nvSpPr>
        <p:spPr>
          <a:xfrm>
            <a:off x="7296912" y="1737360"/>
            <a:ext cx="2066544" cy="1691640"/>
          </a:xfrm>
          <a:prstGeom prst="roundRect">
            <a:avLst>
              <a:gd name="adj" fmla="val 324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7479792" y="1965960"/>
            <a:ext cx="1700784" cy="640080"/>
          </a:xfrm>
          <a:prstGeom prst="rect">
            <a:avLst/>
          </a:prstGeom>
          <a:noFill/>
          <a:ln/>
        </p:spPr>
        <p:txBody>
          <a:bodyPr wrap="square" lIns="0" tIns="0" rIns="0" bIns="0" rtlCol="0" anchor="ctr"/>
          <a:lstStyle/>
          <a:p>
            <a:pPr marL="0" indent="0">
              <a:lnSpc>
                <a:spcPct val="110000"/>
              </a:lnSpc>
              <a:buNone/>
            </a:pPr>
            <a:r>
              <a:rPr lang="en-US" sz="1500" b="1" dirty="0">
                <a:solidFill>
                  <a:srgbClr val="102A43"/>
                </a:solidFill>
                <a:latin typeface="Cambria" pitchFamily="34" charset="0"/>
                <a:ea typeface="Cambria" pitchFamily="34" charset="-122"/>
                <a:cs typeface="Cambria" pitchFamily="34" charset="-120"/>
              </a:rPr>
              <a:t>센서 원신호</a:t>
            </a:r>
            <a:endParaRPr lang="en-US" sz="1500" dirty="0"/>
          </a:p>
        </p:txBody>
      </p:sp>
      <p:sp>
        <p:nvSpPr>
          <p:cNvPr id="15" name="Text 13"/>
          <p:cNvSpPr/>
          <p:nvPr/>
        </p:nvSpPr>
        <p:spPr>
          <a:xfrm>
            <a:off x="7479792" y="2651760"/>
            <a:ext cx="1700784" cy="68580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IMU · EMG · 압력 raw data</a:t>
            </a:r>
            <a:endParaRPr lang="en-US" sz="1150" dirty="0"/>
          </a:p>
        </p:txBody>
      </p:sp>
      <p:sp>
        <p:nvSpPr>
          <p:cNvPr id="16" name="Shape 14"/>
          <p:cNvSpPr/>
          <p:nvPr/>
        </p:nvSpPr>
        <p:spPr>
          <a:xfrm>
            <a:off x="9546336" y="1737360"/>
            <a:ext cx="2066544" cy="1691640"/>
          </a:xfrm>
          <a:prstGeom prst="roundRect">
            <a:avLst>
              <a:gd name="adj" fmla="val 3243"/>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9729216" y="1965960"/>
            <a:ext cx="1700784" cy="640080"/>
          </a:xfrm>
          <a:prstGeom prst="rect">
            <a:avLst/>
          </a:prstGeom>
          <a:noFill/>
          <a:ln/>
        </p:spPr>
        <p:txBody>
          <a:bodyPr wrap="square" lIns="0" tIns="0" rIns="0" bIns="0" rtlCol="0" anchor="ctr"/>
          <a:lstStyle/>
          <a:p>
            <a:pPr marL="0" indent="0">
              <a:lnSpc>
                <a:spcPct val="110000"/>
              </a:lnSpc>
              <a:buNone/>
            </a:pPr>
            <a:r>
              <a:rPr lang="en-US" sz="1500" b="1" dirty="0">
                <a:solidFill>
                  <a:srgbClr val="102A43"/>
                </a:solidFill>
                <a:latin typeface="Cambria" pitchFamily="34" charset="0"/>
                <a:ea typeface="Cambria" pitchFamily="34" charset="-122"/>
                <a:cs typeface="Cambria" pitchFamily="34" charset="-120"/>
              </a:rPr>
              <a:t>이벤트 타임스탬프</a:t>
            </a:r>
            <a:endParaRPr lang="en-US" sz="1500" dirty="0"/>
          </a:p>
        </p:txBody>
      </p:sp>
      <p:sp>
        <p:nvSpPr>
          <p:cNvPr id="18" name="Text 16"/>
          <p:cNvSpPr/>
          <p:nvPr/>
        </p:nvSpPr>
        <p:spPr>
          <a:xfrm>
            <a:off x="9729216" y="2651760"/>
            <a:ext cx="1700784" cy="68580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heel strike · toe off · 모드 전환</a:t>
            </a:r>
            <a:endParaRPr lang="en-US" sz="1150" dirty="0"/>
          </a:p>
        </p:txBody>
      </p:sp>
      <p:sp>
        <p:nvSpPr>
          <p:cNvPr id="19" name="Shape 17"/>
          <p:cNvSpPr/>
          <p:nvPr/>
        </p:nvSpPr>
        <p:spPr>
          <a:xfrm>
            <a:off x="548640" y="3703320"/>
            <a:ext cx="5349240" cy="2011680"/>
          </a:xfrm>
          <a:prstGeom prst="roundRect">
            <a:avLst>
              <a:gd name="adj" fmla="val 2727"/>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841248" y="3886200"/>
            <a:ext cx="4754880" cy="274320"/>
          </a:xfrm>
          <a:prstGeom prst="rect">
            <a:avLst/>
          </a:prstGeom>
          <a:noFill/>
          <a:ln/>
        </p:spPr>
        <p:txBody>
          <a:bodyPr wrap="square" lIns="0" tIns="0" rIns="0" bIns="0" rtlCol="0" anchor="ctr"/>
          <a:lstStyle/>
          <a:p>
            <a:pPr marL="0" indent="0">
              <a:buNone/>
            </a:pPr>
            <a:r>
              <a:rPr lang="en-US" sz="1150" b="1" kern="0" spc="80" dirty="0">
                <a:solidFill>
                  <a:srgbClr val="0E7C86"/>
                </a:solidFill>
                <a:latin typeface="Calibri" pitchFamily="34" charset="0"/>
                <a:ea typeface="Calibri" pitchFamily="34" charset="-122"/>
                <a:cs typeface="Calibri" pitchFamily="34" charset="-120"/>
              </a:rPr>
              <a:t>어디서 확인했나</a:t>
            </a:r>
            <a:endParaRPr lang="en-US" sz="1150" dirty="0"/>
          </a:p>
        </p:txBody>
      </p:sp>
      <p:sp>
        <p:nvSpPr>
          <p:cNvPr id="21" name="Text 19"/>
          <p:cNvSpPr/>
          <p:nvPr/>
        </p:nvSpPr>
        <p:spPr>
          <a:xfrm>
            <a:off x="841248" y="4206240"/>
            <a:ext cx="4754880" cy="1280160"/>
          </a:xfrm>
          <a:prstGeom prst="rect">
            <a:avLst/>
          </a:prstGeom>
          <a:noFill/>
          <a:ln/>
        </p:spPr>
        <p:txBody>
          <a:bodyPr wrap="square" lIns="0" tIns="0" rIns="0" bIns="0" rtlCol="0" anchor="ctr"/>
          <a:lstStyle/>
          <a:p>
            <a:pPr marL="0" indent="0">
              <a:lnSpc>
                <a:spcPct val="130000"/>
              </a:lnSpc>
              <a:buNone/>
            </a:pPr>
            <a:r>
              <a:rPr lang="en-US" sz="1250" dirty="0">
                <a:solidFill>
                  <a:srgbClr val="52606D"/>
                </a:solidFill>
                <a:latin typeface="Calibri" pitchFamily="34" charset="0"/>
                <a:ea typeface="Calibri" pitchFamily="34" charset="-122"/>
                <a:cs typeface="Calibri" pitchFamily="34" charset="-120"/>
              </a:rPr>
              <a:t>공경철 교수팀의 워크온슈트 논문은 로봇의 구성, 인간-기계 인터페이스, 보행 패턴, 제어 알고리즘, 평가 결과를 다룹니다. 즉 위 다섯 가지가 논문에서 실제로 다루는 데이터입니다.</a:t>
            </a:r>
            <a:endParaRPr lang="en-US" sz="1250" dirty="0"/>
          </a:p>
        </p:txBody>
      </p:sp>
      <p:sp>
        <p:nvSpPr>
          <p:cNvPr id="22" name="Shape 20"/>
          <p:cNvSpPr/>
          <p:nvPr/>
        </p:nvSpPr>
        <p:spPr>
          <a:xfrm>
            <a:off x="6263640" y="3703320"/>
            <a:ext cx="5349240" cy="2011680"/>
          </a:xfrm>
          <a:prstGeom prst="roundRect">
            <a:avLst>
              <a:gd name="adj" fmla="val 2727"/>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23" name="Text 21"/>
          <p:cNvSpPr/>
          <p:nvPr/>
        </p:nvSpPr>
        <p:spPr>
          <a:xfrm>
            <a:off x="6556248" y="3886200"/>
            <a:ext cx="4754880" cy="274320"/>
          </a:xfrm>
          <a:prstGeom prst="rect">
            <a:avLst/>
          </a:prstGeom>
          <a:noFill/>
          <a:ln/>
        </p:spPr>
        <p:txBody>
          <a:bodyPr wrap="square" lIns="0" tIns="0" rIns="0" bIns="0" rtlCol="0" anchor="ctr"/>
          <a:lstStyle/>
          <a:p>
            <a:pPr marL="0" indent="0">
              <a:buNone/>
            </a:pPr>
            <a:r>
              <a:rPr lang="en-US" sz="1150" b="1" kern="0" spc="80" dirty="0">
                <a:solidFill>
                  <a:srgbClr val="8FC7CE"/>
                </a:solidFill>
                <a:latin typeface="Calibri" pitchFamily="34" charset="0"/>
                <a:ea typeface="Calibri" pitchFamily="34" charset="-122"/>
                <a:cs typeface="Calibri" pitchFamily="34" charset="-120"/>
              </a:rPr>
              <a:t>임상적 출구</a:t>
            </a:r>
            <a:endParaRPr lang="en-US" sz="1150" dirty="0"/>
          </a:p>
        </p:txBody>
      </p:sp>
      <p:sp>
        <p:nvSpPr>
          <p:cNvPr id="24" name="Text 22"/>
          <p:cNvSpPr/>
          <p:nvPr/>
        </p:nvSpPr>
        <p:spPr>
          <a:xfrm>
            <a:off x="6556248" y="4206240"/>
            <a:ext cx="4754880" cy="137160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엔젤렉스 M20의 훈련 데이터 기록·분석 리포트 기능이 바로 이 데이터의 임상적 출구입니다.</a:t>
            </a:r>
            <a:endParaRPr lang="en-US" sz="1250" dirty="0"/>
          </a:p>
          <a:p>
            <a:pPr marL="0" indent="0">
              <a:lnSpc>
                <a:spcPct val="130000"/>
              </a:lnSpc>
              <a:buNone/>
            </a:pPr>
            <a:endParaRPr lang="en-US" sz="1250" dirty="0"/>
          </a:p>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로봇이 남긴 숫자가 치료사와 환자가 읽을 수 있는 형태로 나가는 지점입니다.</a:t>
            </a:r>
            <a:endParaRPr lang="en-US" sz="1250" dirty="0"/>
          </a:p>
        </p:txBody>
      </p:sp>
      <p:sp>
        <p:nvSpPr>
          <p:cNvPr id="25" name="Text 23"/>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ANGEL LEGS M20 (엔젤로보틱스)">
                  <a:extLst>
                    <a:ext uri="{A12FA001-AC4F-418D-AE19-62706E023703}">
                      <ahyp:hlinkClr xmlns:ahyp="http://schemas.microsoft.com/office/drawing/2018/hyperlinkcolor" val="tx"/>
                    </a:ext>
                  </a:extLst>
                </a:hlinkClick>
              </a:rPr>
              <a:t>ANGEL LEGS M20 (엔젤로보틱스)</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6-2 · 왜 바로 못 쓰는가 ①</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지터와 노이즈 — 실험실에선 미미하지만</a:t>
            </a:r>
            <a:endParaRPr lang="en-US" sz="3000" dirty="0"/>
          </a:p>
        </p:txBody>
      </p:sp>
      <p:sp>
        <p:nvSpPr>
          <p:cNvPr id="4" name="Shape 2"/>
          <p:cNvSpPr/>
          <p:nvPr/>
        </p:nvSpPr>
        <p:spPr>
          <a:xfrm>
            <a:off x="548640" y="1737360"/>
            <a:ext cx="2491740" cy="868680"/>
          </a:xfrm>
          <a:prstGeom prst="roundRect">
            <a:avLst>
              <a:gd name="adj" fmla="val 631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731520" y="1737360"/>
            <a:ext cx="2125980" cy="868680"/>
          </a:xfrm>
          <a:prstGeom prst="rect">
            <a:avLst/>
          </a:prstGeom>
          <a:noFill/>
          <a:ln/>
        </p:spPr>
        <p:txBody>
          <a:bodyPr wrap="square" lIns="0" tIns="0" rIns="0" bIns="0" rtlCol="0" anchor="ctr"/>
          <a:lstStyle/>
          <a:p>
            <a:pPr marL="0" indent="0" algn="ctr">
              <a:buNone/>
            </a:pPr>
            <a:r>
              <a:rPr lang="en-US" sz="1500" b="1" dirty="0">
                <a:solidFill>
                  <a:srgbClr val="102A43"/>
                </a:solidFill>
                <a:latin typeface="Calibri" pitchFamily="34" charset="0"/>
                <a:ea typeface="Calibri" pitchFamily="34" charset="-122"/>
                <a:cs typeface="Calibri" pitchFamily="34" charset="-120"/>
              </a:rPr>
              <a:t>자기 간섭</a:t>
            </a:r>
            <a:endParaRPr lang="en-US" sz="1500" dirty="0"/>
          </a:p>
        </p:txBody>
      </p:sp>
      <p:sp>
        <p:nvSpPr>
          <p:cNvPr id="6" name="Shape 4"/>
          <p:cNvSpPr/>
          <p:nvPr/>
        </p:nvSpPr>
        <p:spPr>
          <a:xfrm>
            <a:off x="3406140" y="1737360"/>
            <a:ext cx="2491740" cy="868680"/>
          </a:xfrm>
          <a:prstGeom prst="roundRect">
            <a:avLst>
              <a:gd name="adj" fmla="val 631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7" name="Text 5"/>
          <p:cNvSpPr/>
          <p:nvPr/>
        </p:nvSpPr>
        <p:spPr>
          <a:xfrm>
            <a:off x="3589020" y="1737360"/>
            <a:ext cx="2125980" cy="868680"/>
          </a:xfrm>
          <a:prstGeom prst="rect">
            <a:avLst/>
          </a:prstGeom>
          <a:noFill/>
          <a:ln/>
        </p:spPr>
        <p:txBody>
          <a:bodyPr wrap="square" lIns="0" tIns="0" rIns="0" bIns="0" rtlCol="0" anchor="ctr"/>
          <a:lstStyle/>
          <a:p>
            <a:pPr marL="0" indent="0" algn="ctr">
              <a:buNone/>
            </a:pPr>
            <a:r>
              <a:rPr lang="en-US" sz="1500" b="1" dirty="0">
                <a:solidFill>
                  <a:srgbClr val="102A43"/>
                </a:solidFill>
                <a:latin typeface="Calibri" pitchFamily="34" charset="0"/>
                <a:ea typeface="Calibri" pitchFamily="34" charset="-122"/>
                <a:cs typeface="Calibri" pitchFamily="34" charset="-120"/>
              </a:rPr>
              <a:t>온도 드리프트</a:t>
            </a:r>
            <a:endParaRPr lang="en-US" sz="1500" dirty="0"/>
          </a:p>
        </p:txBody>
      </p:sp>
      <p:sp>
        <p:nvSpPr>
          <p:cNvPr id="8" name="Shape 6"/>
          <p:cNvSpPr/>
          <p:nvPr/>
        </p:nvSpPr>
        <p:spPr>
          <a:xfrm>
            <a:off x="6263640" y="1737360"/>
            <a:ext cx="2491740" cy="868680"/>
          </a:xfrm>
          <a:prstGeom prst="roundRect">
            <a:avLst>
              <a:gd name="adj" fmla="val 631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446520" y="1737360"/>
            <a:ext cx="2125980" cy="868680"/>
          </a:xfrm>
          <a:prstGeom prst="rect">
            <a:avLst/>
          </a:prstGeom>
          <a:noFill/>
          <a:ln/>
        </p:spPr>
        <p:txBody>
          <a:bodyPr wrap="square" lIns="0" tIns="0" rIns="0" bIns="0" rtlCol="0" anchor="ctr"/>
          <a:lstStyle/>
          <a:p>
            <a:pPr marL="0" indent="0" algn="ctr">
              <a:buNone/>
            </a:pPr>
            <a:r>
              <a:rPr lang="en-US" sz="1500" b="1" dirty="0">
                <a:solidFill>
                  <a:srgbClr val="102A43"/>
                </a:solidFill>
                <a:latin typeface="Calibri" pitchFamily="34" charset="0"/>
                <a:ea typeface="Calibri" pitchFamily="34" charset="-122"/>
                <a:cs typeface="Calibri" pitchFamily="34" charset="-120"/>
              </a:rPr>
              <a:t>스트랩 흔들림</a:t>
            </a:r>
            <a:endParaRPr lang="en-US" sz="1500" dirty="0"/>
          </a:p>
        </p:txBody>
      </p:sp>
      <p:sp>
        <p:nvSpPr>
          <p:cNvPr id="10" name="Shape 8"/>
          <p:cNvSpPr/>
          <p:nvPr/>
        </p:nvSpPr>
        <p:spPr>
          <a:xfrm>
            <a:off x="9121140" y="1737360"/>
            <a:ext cx="2491740" cy="868680"/>
          </a:xfrm>
          <a:prstGeom prst="roundRect">
            <a:avLst>
              <a:gd name="adj" fmla="val 6316"/>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9304020" y="1737360"/>
            <a:ext cx="2125980" cy="868680"/>
          </a:xfrm>
          <a:prstGeom prst="rect">
            <a:avLst/>
          </a:prstGeom>
          <a:noFill/>
          <a:ln/>
        </p:spPr>
        <p:txBody>
          <a:bodyPr wrap="square" lIns="0" tIns="0" rIns="0" bIns="0" rtlCol="0" anchor="ctr"/>
          <a:lstStyle/>
          <a:p>
            <a:pPr marL="0" indent="0" algn="ctr">
              <a:buNone/>
            </a:pPr>
            <a:r>
              <a:rPr lang="en-US" sz="1500" b="1" dirty="0">
                <a:solidFill>
                  <a:srgbClr val="102A43"/>
                </a:solidFill>
                <a:latin typeface="Calibri" pitchFamily="34" charset="0"/>
                <a:ea typeface="Calibri" pitchFamily="34" charset="-122"/>
                <a:cs typeface="Calibri" pitchFamily="34" charset="-120"/>
              </a:rPr>
              <a:t>배터리·샘플링 지터</a:t>
            </a:r>
            <a:endParaRPr lang="en-US" sz="1500" dirty="0"/>
          </a:p>
        </p:txBody>
      </p:sp>
      <p:sp>
        <p:nvSpPr>
          <p:cNvPr id="12" name="Text 10"/>
          <p:cNvSpPr/>
          <p:nvPr/>
        </p:nvSpPr>
        <p:spPr>
          <a:xfrm>
            <a:off x="548640" y="2743200"/>
            <a:ext cx="11064240" cy="365760"/>
          </a:xfrm>
          <a:prstGeom prst="rect">
            <a:avLst/>
          </a:prstGeom>
          <a:noFill/>
          <a:ln/>
        </p:spPr>
        <p:txBody>
          <a:bodyPr wrap="square" lIns="0" tIns="0" rIns="0" bIns="0" rtlCol="0" anchor="ctr"/>
          <a:lstStyle/>
          <a:p>
            <a:pPr marL="0" indent="0" algn="ctr">
              <a:buNone/>
            </a:pPr>
            <a:r>
              <a:rPr lang="en-US" sz="1400" b="1" dirty="0">
                <a:solidFill>
                  <a:srgbClr val="829AB1"/>
                </a:solidFill>
                <a:latin typeface="Calibri" pitchFamily="34" charset="0"/>
                <a:ea typeface="Calibri" pitchFamily="34" charset="-122"/>
                <a:cs typeface="Calibri" pitchFamily="34" charset="-120"/>
              </a:rPr>
              <a:t>↓  실험실에선 미미하지만, 일상 환경에서는 자주 발생합니다</a:t>
            </a:r>
            <a:endParaRPr lang="en-US" sz="1400" dirty="0"/>
          </a:p>
        </p:txBody>
      </p:sp>
      <p:sp>
        <p:nvSpPr>
          <p:cNvPr id="13" name="Shape 11"/>
          <p:cNvSpPr/>
          <p:nvPr/>
        </p:nvSpPr>
        <p:spPr>
          <a:xfrm>
            <a:off x="548640" y="3246120"/>
            <a:ext cx="11064240" cy="1371600"/>
          </a:xfrm>
          <a:prstGeom prst="roundRect">
            <a:avLst>
              <a:gd name="adj" fmla="val 4000"/>
            </a:avLst>
          </a:prstGeom>
          <a:solidFill>
            <a:srgbClr val="9B2226"/>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1005840" y="3456432"/>
            <a:ext cx="10149840" cy="41148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일관된 전처리 없이는, 모델이 엉뚱한 상관관계를 학습합니다.</a:t>
            </a:r>
            <a:endParaRPr lang="en-US" sz="2300" dirty="0"/>
          </a:p>
        </p:txBody>
      </p:sp>
      <p:sp>
        <p:nvSpPr>
          <p:cNvPr id="15" name="Text 13"/>
          <p:cNvSpPr/>
          <p:nvPr/>
        </p:nvSpPr>
        <p:spPr>
          <a:xfrm>
            <a:off x="1005840" y="3950208"/>
            <a:ext cx="10149840" cy="566928"/>
          </a:xfrm>
          <a:prstGeom prst="rect">
            <a:avLst/>
          </a:prstGeom>
          <a:noFill/>
          <a:ln/>
        </p:spPr>
        <p:txBody>
          <a:bodyPr wrap="square" lIns="0" tIns="0" rIns="0" bIns="0" rtlCol="0" anchor="ctr"/>
          <a:lstStyle/>
          <a:p>
            <a:pPr marL="0" indent="0">
              <a:lnSpc>
                <a:spcPct val="125000"/>
              </a:lnSpc>
              <a:buNone/>
            </a:pPr>
            <a:r>
              <a:rPr lang="en-US" sz="1400" dirty="0">
                <a:solidFill>
                  <a:srgbClr val="FFE8E8"/>
                </a:solidFill>
                <a:latin typeface="Calibri" pitchFamily="34" charset="0"/>
                <a:ea typeface="Calibri" pitchFamily="34" charset="-122"/>
                <a:cs typeface="Calibri" pitchFamily="34" charset="-120"/>
              </a:rPr>
              <a:t>예: 특정 방향의 센서 드리프트를 특정 동작으로 오인하고 학습합니다.</a:t>
            </a:r>
            <a:endParaRPr lang="en-US" sz="1400" dirty="0"/>
          </a:p>
          <a:p>
            <a:pPr marL="0" indent="0">
              <a:lnSpc>
                <a:spcPct val="125000"/>
              </a:lnSpc>
              <a:buNone/>
            </a:pPr>
            <a:r>
              <a:rPr lang="en-US" sz="1400" dirty="0">
                <a:solidFill>
                  <a:srgbClr val="FFE8E8"/>
                </a:solidFill>
                <a:latin typeface="Calibri" pitchFamily="34" charset="0"/>
                <a:ea typeface="Calibri" pitchFamily="34" charset="-122"/>
                <a:cs typeface="Calibri" pitchFamily="34" charset="-120"/>
              </a:rPr>
              <a:t>정확도는 높게 나오는데, 실제로는 아무것도 배우지 못한 모델이 됩니다.</a:t>
            </a:r>
            <a:endParaRPr lang="en-US" sz="1400" dirty="0"/>
          </a:p>
        </p:txBody>
      </p:sp>
      <p:sp>
        <p:nvSpPr>
          <p:cNvPr id="16" name="Shape 14"/>
          <p:cNvSpPr/>
          <p:nvPr/>
        </p:nvSpPr>
        <p:spPr>
          <a:xfrm>
            <a:off x="548640" y="4892040"/>
            <a:ext cx="11064240" cy="1371600"/>
          </a:xfrm>
          <a:prstGeom prst="roundRect">
            <a:avLst>
              <a:gd name="adj" fmla="val 400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960120" y="5074920"/>
            <a:ext cx="10241280" cy="274320"/>
          </a:xfrm>
          <a:prstGeom prst="rect">
            <a:avLst/>
          </a:prstGeom>
          <a:noFill/>
          <a:ln/>
        </p:spPr>
        <p:txBody>
          <a:bodyPr wrap="square" lIns="0" tIns="0" rIns="0" bIns="0" rtlCol="0" anchor="ctr"/>
          <a:lstStyle/>
          <a:p>
            <a:pPr marL="0" indent="0">
              <a:buNone/>
            </a:pPr>
            <a:r>
              <a:rPr lang="en-US" sz="1200" b="1" kern="0" spc="80" dirty="0">
                <a:solidFill>
                  <a:srgbClr val="0E7C86"/>
                </a:solidFill>
                <a:latin typeface="Calibri" pitchFamily="34" charset="0"/>
                <a:ea typeface="Calibri" pitchFamily="34" charset="-122"/>
                <a:cs typeface="Calibri" pitchFamily="34" charset="-120"/>
              </a:rPr>
              <a:t>이 대목을 우리 실습과 연결하면</a:t>
            </a:r>
            <a:endParaRPr lang="en-US" sz="1200" dirty="0"/>
          </a:p>
        </p:txBody>
      </p:sp>
      <p:sp>
        <p:nvSpPr>
          <p:cNvPr id="18" name="Text 16"/>
          <p:cNvSpPr/>
          <p:nvPr/>
        </p:nvSpPr>
        <p:spPr>
          <a:xfrm>
            <a:off x="960120" y="5394960"/>
            <a:ext cx="10241280" cy="640080"/>
          </a:xfrm>
          <a:prstGeom prst="rect">
            <a:avLst/>
          </a:prstGeom>
          <a:noFill/>
          <a:ln/>
        </p:spPr>
        <p:txBody>
          <a:bodyPr wrap="square" lIns="0" tIns="0" rIns="0" bIns="0" rtlCol="0" anchor="ctr"/>
          <a:lstStyle/>
          <a:p>
            <a:pPr marL="0" indent="0">
              <a:lnSpc>
                <a:spcPct val="125000"/>
              </a:lnSpc>
              <a:buNone/>
            </a:pPr>
            <a:r>
              <a:rPr lang="en-US" sz="1600" b="1" dirty="0">
                <a:solidFill>
                  <a:srgbClr val="102A43"/>
                </a:solidFill>
                <a:latin typeface="Calibri" pitchFamily="34" charset="0"/>
                <a:ea typeface="Calibri" pitchFamily="34" charset="-122"/>
                <a:cs typeface="Calibri" pitchFamily="34" charset="-120"/>
              </a:rPr>
              <a:t>정확도 숫자를 믿기 전에, 그 숫자가 어디서 왔는지 확인하는 습관 — 이게 6부에서 가장 실무적인 교훈입니다.</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6-2 · 왜 바로 못 쓰는가 ②</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이상치·결측치 — 실제 연구들이 쓰는 전처리</a:t>
            </a:r>
            <a:endParaRPr lang="en-US" sz="3000" dirty="0"/>
          </a:p>
        </p:txBody>
      </p:sp>
      <p:sp>
        <p:nvSpPr>
          <p:cNvPr id="4" name="Shape 2"/>
          <p:cNvSpPr/>
          <p:nvPr/>
        </p:nvSpPr>
        <p:spPr>
          <a:xfrm>
            <a:off x="548640" y="1691640"/>
            <a:ext cx="3352830" cy="1234440"/>
          </a:xfrm>
          <a:prstGeom prst="roundRect">
            <a:avLst>
              <a:gd name="adj" fmla="val 444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Shape 3"/>
          <p:cNvSpPr/>
          <p:nvPr/>
        </p:nvSpPr>
        <p:spPr>
          <a:xfrm>
            <a:off x="804672" y="1965960"/>
            <a:ext cx="402336" cy="402336"/>
          </a:xfrm>
          <a:prstGeom prst="ellipse">
            <a:avLst/>
          </a:prstGeom>
          <a:solidFill>
            <a:srgbClr val="0E7C86"/>
          </a:solidFill>
          <a:ln/>
        </p:spPr>
        <p:txBody>
          <a:bodyPr/>
          <a:lstStyle/>
          <a:p>
            <a:endParaRPr lang="ko-KR" altLang="en-US"/>
          </a:p>
        </p:txBody>
      </p:sp>
      <p:sp>
        <p:nvSpPr>
          <p:cNvPr id="6" name="Text 4"/>
          <p:cNvSpPr/>
          <p:nvPr/>
        </p:nvSpPr>
        <p:spPr>
          <a:xfrm>
            <a:off x="804672" y="19659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98448" y="1874520"/>
            <a:ext cx="234699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이상치 제거</a:t>
            </a:r>
            <a:endParaRPr lang="en-US" sz="1600" dirty="0"/>
          </a:p>
        </p:txBody>
      </p:sp>
      <p:sp>
        <p:nvSpPr>
          <p:cNvPr id="8" name="Text 6"/>
          <p:cNvSpPr/>
          <p:nvPr/>
        </p:nvSpPr>
        <p:spPr>
          <a:xfrm>
            <a:off x="1298448" y="2212848"/>
            <a:ext cx="2346990" cy="54864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표준편차의 3배를 임계값으로</a:t>
            </a:r>
            <a:endParaRPr lang="en-US" sz="1150" dirty="0"/>
          </a:p>
        </p:txBody>
      </p:sp>
      <p:sp>
        <p:nvSpPr>
          <p:cNvPr id="9" name="Shape 7"/>
          <p:cNvSpPr/>
          <p:nvPr/>
        </p:nvSpPr>
        <p:spPr>
          <a:xfrm>
            <a:off x="4404390" y="1691640"/>
            <a:ext cx="3352830" cy="1234440"/>
          </a:xfrm>
          <a:prstGeom prst="roundRect">
            <a:avLst>
              <a:gd name="adj" fmla="val 444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0" name="Shape 8"/>
          <p:cNvSpPr/>
          <p:nvPr/>
        </p:nvSpPr>
        <p:spPr>
          <a:xfrm>
            <a:off x="4660422" y="1965960"/>
            <a:ext cx="402336" cy="402336"/>
          </a:xfrm>
          <a:prstGeom prst="ellipse">
            <a:avLst/>
          </a:prstGeom>
          <a:solidFill>
            <a:srgbClr val="0E7C86"/>
          </a:solidFill>
          <a:ln/>
        </p:spPr>
        <p:txBody>
          <a:bodyPr/>
          <a:lstStyle/>
          <a:p>
            <a:endParaRPr lang="ko-KR" altLang="en-US"/>
          </a:p>
        </p:txBody>
      </p:sp>
      <p:sp>
        <p:nvSpPr>
          <p:cNvPr id="11" name="Text 9"/>
          <p:cNvSpPr/>
          <p:nvPr/>
        </p:nvSpPr>
        <p:spPr>
          <a:xfrm>
            <a:off x="4660422" y="19659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54198" y="1874520"/>
            <a:ext cx="234699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저역통과 필터</a:t>
            </a:r>
            <a:endParaRPr lang="en-US" sz="1600" dirty="0"/>
          </a:p>
        </p:txBody>
      </p:sp>
      <p:sp>
        <p:nvSpPr>
          <p:cNvPr id="13" name="Text 11"/>
          <p:cNvSpPr/>
          <p:nvPr/>
        </p:nvSpPr>
        <p:spPr>
          <a:xfrm>
            <a:off x="5154198" y="2212848"/>
            <a:ext cx="2346990" cy="54864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4차 버터워스, 차단주파수 10Hz</a:t>
            </a:r>
            <a:endParaRPr lang="en-US" sz="1150" dirty="0"/>
          </a:p>
        </p:txBody>
      </p:sp>
      <p:sp>
        <p:nvSpPr>
          <p:cNvPr id="14" name="Shape 12"/>
          <p:cNvSpPr/>
          <p:nvPr/>
        </p:nvSpPr>
        <p:spPr>
          <a:xfrm>
            <a:off x="8260141" y="1691640"/>
            <a:ext cx="3352830" cy="1234440"/>
          </a:xfrm>
          <a:prstGeom prst="roundRect">
            <a:avLst>
              <a:gd name="adj" fmla="val 444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Shape 13"/>
          <p:cNvSpPr/>
          <p:nvPr/>
        </p:nvSpPr>
        <p:spPr>
          <a:xfrm>
            <a:off x="8516173" y="1965960"/>
            <a:ext cx="402336" cy="402336"/>
          </a:xfrm>
          <a:prstGeom prst="ellipse">
            <a:avLst/>
          </a:prstGeom>
          <a:solidFill>
            <a:srgbClr val="0E7C86"/>
          </a:solidFill>
          <a:ln/>
        </p:spPr>
        <p:txBody>
          <a:bodyPr/>
          <a:lstStyle/>
          <a:p>
            <a:endParaRPr lang="ko-KR" altLang="en-US"/>
          </a:p>
        </p:txBody>
      </p:sp>
      <p:sp>
        <p:nvSpPr>
          <p:cNvPr id="16" name="Text 14"/>
          <p:cNvSpPr/>
          <p:nvPr/>
        </p:nvSpPr>
        <p:spPr>
          <a:xfrm>
            <a:off x="8516173" y="19659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009949" y="1874520"/>
            <a:ext cx="2346990" cy="310896"/>
          </a:xfrm>
          <a:prstGeom prst="rect">
            <a:avLst/>
          </a:prstGeom>
          <a:noFill/>
          <a:ln/>
        </p:spPr>
        <p:txBody>
          <a:bodyPr wrap="square" lIns="0" tIns="0" rIns="0" bIns="0" rtlCol="0" anchor="ctr"/>
          <a:lstStyle/>
          <a:p>
            <a:pPr marL="0" indent="0">
              <a:buNone/>
            </a:pPr>
            <a:r>
              <a:rPr lang="en-US" sz="1600" b="1" dirty="0">
                <a:solidFill>
                  <a:srgbClr val="102A43"/>
                </a:solidFill>
                <a:latin typeface="Cambria" pitchFamily="34" charset="0"/>
                <a:ea typeface="Cambria" pitchFamily="34" charset="-122"/>
                <a:cs typeface="Cambria" pitchFamily="34" charset="-120"/>
              </a:rPr>
              <a:t>보간</a:t>
            </a:r>
            <a:endParaRPr lang="en-US" sz="1600" dirty="0"/>
          </a:p>
        </p:txBody>
      </p:sp>
      <p:sp>
        <p:nvSpPr>
          <p:cNvPr id="18" name="Text 16"/>
          <p:cNvSpPr/>
          <p:nvPr/>
        </p:nvSpPr>
        <p:spPr>
          <a:xfrm>
            <a:off x="9009949" y="2212848"/>
            <a:ext cx="2346990" cy="548640"/>
          </a:xfrm>
          <a:prstGeom prst="rect">
            <a:avLst/>
          </a:prstGeom>
          <a:noFill/>
          <a:ln/>
        </p:spPr>
        <p:txBody>
          <a:bodyPr wrap="square" lIns="0" tIns="0" rIns="0" bIns="0" rtlCol="0" anchor="ctr"/>
          <a:lstStyle/>
          <a:p>
            <a:pPr marL="0" indent="0">
              <a:lnSpc>
                <a:spcPct val="120000"/>
              </a:lnSpc>
              <a:buNone/>
            </a:pPr>
            <a:r>
              <a:rPr lang="en-US" sz="1150" dirty="0">
                <a:solidFill>
                  <a:srgbClr val="52606D"/>
                </a:solidFill>
                <a:latin typeface="Calibri" pitchFamily="34" charset="0"/>
                <a:ea typeface="Calibri" pitchFamily="34" charset="-122"/>
                <a:cs typeface="Calibri" pitchFamily="34" charset="-120"/>
              </a:rPr>
              <a:t>interpolation으로 신호 간섭 오류 보정</a:t>
            </a:r>
            <a:endParaRPr lang="en-US" sz="1150" dirty="0"/>
          </a:p>
        </p:txBody>
      </p:sp>
      <p:sp>
        <p:nvSpPr>
          <p:cNvPr id="19" name="Shape 17"/>
          <p:cNvSpPr/>
          <p:nvPr/>
        </p:nvSpPr>
        <p:spPr>
          <a:xfrm>
            <a:off x="548640" y="3154680"/>
            <a:ext cx="11064240" cy="1097280"/>
          </a:xfrm>
          <a:prstGeom prst="roundRect">
            <a:avLst>
              <a:gd name="adj" fmla="val 500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868680" y="3291840"/>
            <a:ext cx="3200400" cy="274320"/>
          </a:xfrm>
          <a:prstGeom prst="rect">
            <a:avLst/>
          </a:prstGeom>
          <a:noFill/>
          <a:ln/>
        </p:spPr>
        <p:txBody>
          <a:bodyPr wrap="square" lIns="0" tIns="0" rIns="0" bIns="0" rtlCol="0" anchor="ctr"/>
          <a:lstStyle/>
          <a:p>
            <a:pPr marL="0" indent="0">
              <a:buNone/>
            </a:pPr>
            <a:r>
              <a:rPr lang="en-US" sz="1200" b="1" kern="0" spc="80" dirty="0">
                <a:solidFill>
                  <a:srgbClr val="0E7C86"/>
                </a:solidFill>
                <a:latin typeface="Calibri" pitchFamily="34" charset="0"/>
                <a:ea typeface="Calibri" pitchFamily="34" charset="-122"/>
                <a:cs typeface="Calibri" pitchFamily="34" charset="-120"/>
              </a:rPr>
              <a:t>또 다른 3단계 파이프라인</a:t>
            </a:r>
            <a:endParaRPr lang="en-US" sz="1200" dirty="0"/>
          </a:p>
        </p:txBody>
      </p:sp>
      <p:sp>
        <p:nvSpPr>
          <p:cNvPr id="21" name="Text 19"/>
          <p:cNvSpPr/>
          <p:nvPr/>
        </p:nvSpPr>
        <p:spPr>
          <a:xfrm>
            <a:off x="868680" y="3584448"/>
            <a:ext cx="6400800"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클리핑 필터  →  슬라이딩 중앙값 필터  →  슬라이딩 평균 필터</a:t>
            </a:r>
            <a:endParaRPr lang="en-US" sz="1700" dirty="0"/>
          </a:p>
        </p:txBody>
      </p:sp>
      <p:sp>
        <p:nvSpPr>
          <p:cNvPr id="22" name="Text 20"/>
          <p:cNvSpPr/>
          <p:nvPr/>
        </p:nvSpPr>
        <p:spPr>
          <a:xfrm>
            <a:off x="7498080" y="3310128"/>
            <a:ext cx="3886200" cy="777240"/>
          </a:xfrm>
          <a:prstGeom prst="rect">
            <a:avLst/>
          </a:prstGeom>
          <a:noFill/>
          <a:ln/>
        </p:spPr>
        <p:txBody>
          <a:bodyPr wrap="square" lIns="0" tIns="0" rIns="0" bIns="0" rtlCol="0" anchor="ctr"/>
          <a:lstStyle/>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이상치를 억제하고 발뒤꿈치 착지 충격 노이즈를 줄이면서도,</a:t>
            </a:r>
            <a:endParaRPr lang="en-US" sz="1200" dirty="0"/>
          </a:p>
          <a:p>
            <a:pPr marL="0" indent="0">
              <a:lnSpc>
                <a:spcPct val="125000"/>
              </a:lnSpc>
              <a:buNone/>
            </a:pPr>
            <a:r>
              <a:rPr lang="en-US" sz="1200" dirty="0">
                <a:solidFill>
                  <a:srgbClr val="52606D"/>
                </a:solidFill>
                <a:latin typeface="Calibri" pitchFamily="34" charset="0"/>
                <a:ea typeface="Calibri" pitchFamily="34" charset="-122"/>
                <a:cs typeface="Calibri" pitchFamily="34" charset="-120"/>
              </a:rPr>
              <a:t>보행 이벤트 특징은 보존하는 방법</a:t>
            </a:r>
            <a:endParaRPr lang="en-US" sz="1200" dirty="0"/>
          </a:p>
        </p:txBody>
      </p:sp>
      <p:sp>
        <p:nvSpPr>
          <p:cNvPr id="23" name="Shape 21"/>
          <p:cNvSpPr/>
          <p:nvPr/>
        </p:nvSpPr>
        <p:spPr>
          <a:xfrm>
            <a:off x="548640" y="4407408"/>
            <a:ext cx="11064240" cy="1737360"/>
          </a:xfrm>
          <a:prstGeom prst="roundRect">
            <a:avLst>
              <a:gd name="adj" fmla="val 3158"/>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24" name="Text 22"/>
          <p:cNvSpPr/>
          <p:nvPr/>
        </p:nvSpPr>
        <p:spPr>
          <a:xfrm>
            <a:off x="1005840" y="4572000"/>
            <a:ext cx="10149840" cy="274320"/>
          </a:xfrm>
          <a:prstGeom prst="rect">
            <a:avLst/>
          </a:prstGeom>
          <a:noFill/>
          <a:ln/>
        </p:spPr>
        <p:txBody>
          <a:bodyPr wrap="square" lIns="0" tIns="0" rIns="0" bIns="0" rtlCol="0" anchor="ctr"/>
          <a:lstStyle/>
          <a:p>
            <a:pPr marL="0" indent="0">
              <a:buNone/>
            </a:pPr>
            <a:r>
              <a:rPr lang="en-US" sz="1200" b="1" kern="0" spc="100" dirty="0">
                <a:solidFill>
                  <a:srgbClr val="FFF3E0"/>
                </a:solidFill>
                <a:latin typeface="Calibri" pitchFamily="34" charset="0"/>
                <a:ea typeface="Calibri" pitchFamily="34" charset="-122"/>
                <a:cs typeface="Calibri" pitchFamily="34" charset="-120"/>
              </a:rPr>
              <a:t>여기가 이 일의 난이도입니다</a:t>
            </a:r>
            <a:endParaRPr lang="en-US" sz="1200" dirty="0"/>
          </a:p>
        </p:txBody>
      </p:sp>
      <p:sp>
        <p:nvSpPr>
          <p:cNvPr id="25" name="Text 23"/>
          <p:cNvSpPr/>
          <p:nvPr/>
        </p:nvSpPr>
        <p:spPr>
          <a:xfrm>
            <a:off x="1005840" y="4864608"/>
            <a:ext cx="1014984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"노이즈를 없애는 것"과 "신호를 죽이는 것"의 경계</a:t>
            </a:r>
            <a:endParaRPr lang="en-US" sz="2400" dirty="0"/>
          </a:p>
        </p:txBody>
      </p:sp>
      <p:sp>
        <p:nvSpPr>
          <p:cNvPr id="26" name="Text 24"/>
          <p:cNvSpPr/>
          <p:nvPr/>
        </p:nvSpPr>
        <p:spPr>
          <a:xfrm>
            <a:off x="1005840" y="5376672"/>
            <a:ext cx="10149840" cy="713232"/>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heel strike의 충격 스파이크는 노이즈이기도 하고, 이벤트 신호이기도 합니다.</a:t>
            </a:r>
            <a:endParaRPr lang="en-US" sz="1350" dirty="0"/>
          </a:p>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어느 쪽으로 볼지는 알고리즘이 정해주지 않습니다 — 도메인 지식이 정합니다. 그래서 우리가 필요합니다.</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6-2 · 왜 바로 못 쓰는가 ③</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개인차 = 도메인 시프트 — 5부가 데이터 차원에서 재등장</a:t>
            </a:r>
            <a:endParaRPr lang="en-US" sz="3000" dirty="0"/>
          </a:p>
        </p:txBody>
      </p:sp>
      <p:sp>
        <p:nvSpPr>
          <p:cNvPr id="4" name="Shape 2"/>
          <p:cNvSpPr/>
          <p:nvPr/>
        </p:nvSpPr>
        <p:spPr>
          <a:xfrm>
            <a:off x="548640" y="1737360"/>
            <a:ext cx="3352830"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04672" y="1938528"/>
            <a:ext cx="2840766"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데이터가 제한적</a:t>
            </a:r>
            <a:endParaRPr lang="en-US" sz="1700" dirty="0"/>
          </a:p>
        </p:txBody>
      </p:sp>
      <p:sp>
        <p:nvSpPr>
          <p:cNvPr id="6" name="Text 4"/>
          <p:cNvSpPr/>
          <p:nvPr/>
        </p:nvSpPr>
        <p:spPr>
          <a:xfrm>
            <a:off x="804672" y="2377440"/>
            <a:ext cx="2840766" cy="594360"/>
          </a:xfrm>
          <a:prstGeom prst="rect">
            <a:avLst/>
          </a:prstGeom>
          <a:noFill/>
          <a:ln/>
        </p:spPr>
        <p:txBody>
          <a:bodyPr wrap="square" lIns="0" tIns="0" rIns="0" bIns="0" rtlCol="0" anchor="ctr"/>
          <a:lstStyle/>
          <a:p>
            <a:pPr marL="0" indent="0">
              <a:lnSpc>
                <a:spcPct val="120000"/>
              </a:lnSpc>
              <a:buNone/>
            </a:pPr>
            <a:r>
              <a:rPr lang="en-US" sz="1200" dirty="0">
                <a:solidFill>
                  <a:srgbClr val="52606D"/>
                </a:solidFill>
                <a:latin typeface="Calibri" pitchFamily="34" charset="0"/>
                <a:ea typeface="Calibri" pitchFamily="34" charset="-122"/>
                <a:cs typeface="Calibri" pitchFamily="34" charset="-120"/>
              </a:rPr>
              <a:t>웨어러블 데이터베이스의 규모 자체가 작다</a:t>
            </a:r>
            <a:endParaRPr lang="en-US" sz="1200" dirty="0"/>
          </a:p>
        </p:txBody>
      </p:sp>
      <p:sp>
        <p:nvSpPr>
          <p:cNvPr id="7" name="Shape 5"/>
          <p:cNvSpPr/>
          <p:nvPr/>
        </p:nvSpPr>
        <p:spPr>
          <a:xfrm>
            <a:off x="4404390" y="1737360"/>
            <a:ext cx="3352830"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8" name="Text 6"/>
          <p:cNvSpPr/>
          <p:nvPr/>
        </p:nvSpPr>
        <p:spPr>
          <a:xfrm>
            <a:off x="4660422" y="1938528"/>
            <a:ext cx="2840766"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라벨이 부실</a:t>
            </a:r>
            <a:endParaRPr lang="en-US" sz="1700" dirty="0"/>
          </a:p>
        </p:txBody>
      </p:sp>
      <p:sp>
        <p:nvSpPr>
          <p:cNvPr id="9" name="Text 7"/>
          <p:cNvSpPr/>
          <p:nvPr/>
        </p:nvSpPr>
        <p:spPr>
          <a:xfrm>
            <a:off x="4660422" y="2377440"/>
            <a:ext cx="2840766" cy="594360"/>
          </a:xfrm>
          <a:prstGeom prst="rect">
            <a:avLst/>
          </a:prstGeom>
          <a:noFill/>
          <a:ln/>
        </p:spPr>
        <p:txBody>
          <a:bodyPr wrap="square" lIns="0" tIns="0" rIns="0" bIns="0" rtlCol="0" anchor="ctr"/>
          <a:lstStyle/>
          <a:p>
            <a:pPr marL="0" indent="0">
              <a:lnSpc>
                <a:spcPct val="120000"/>
              </a:lnSpc>
              <a:buNone/>
            </a:pPr>
            <a:r>
              <a:rPr lang="en-US" sz="1200" dirty="0">
                <a:solidFill>
                  <a:srgbClr val="52606D"/>
                </a:solidFill>
                <a:latin typeface="Calibri" pitchFamily="34" charset="0"/>
                <a:ea typeface="Calibri" pitchFamily="34" charset="-122"/>
                <a:cs typeface="Calibri" pitchFamily="34" charset="-120"/>
              </a:rPr>
              <a:t>무엇이 정답인지 표시된 데이터가 적다</a:t>
            </a:r>
            <a:endParaRPr lang="en-US" sz="1200" dirty="0"/>
          </a:p>
        </p:txBody>
      </p:sp>
      <p:sp>
        <p:nvSpPr>
          <p:cNvPr id="10" name="Shape 8"/>
          <p:cNvSpPr/>
          <p:nvPr/>
        </p:nvSpPr>
        <p:spPr>
          <a:xfrm>
            <a:off x="8260141" y="1737360"/>
            <a:ext cx="3352830" cy="1371600"/>
          </a:xfrm>
          <a:prstGeom prst="roundRect">
            <a:avLst>
              <a:gd name="adj" fmla="val 4000"/>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1" name="Text 9"/>
          <p:cNvSpPr/>
          <p:nvPr/>
        </p:nvSpPr>
        <p:spPr>
          <a:xfrm>
            <a:off x="8516173" y="1938528"/>
            <a:ext cx="2840766" cy="365760"/>
          </a:xfrm>
          <a:prstGeom prst="rect">
            <a:avLst/>
          </a:prstGeom>
          <a:noFill/>
          <a:ln/>
        </p:spPr>
        <p:txBody>
          <a:bodyPr wrap="square" lIns="0" tIns="0" rIns="0" bIns="0" rtlCol="0" anchor="ctr"/>
          <a:lstStyle/>
          <a:p>
            <a:pPr marL="0" indent="0">
              <a:buNone/>
            </a:pPr>
            <a:r>
              <a:rPr lang="en-US" sz="1700" b="1" dirty="0">
                <a:solidFill>
                  <a:srgbClr val="102A43"/>
                </a:solidFill>
                <a:latin typeface="Cambria" pitchFamily="34" charset="0"/>
                <a:ea typeface="Cambria" pitchFamily="34" charset="-122"/>
                <a:cs typeface="Cambria" pitchFamily="34" charset="-120"/>
              </a:rPr>
              <a:t>분포가 사람마다 다르다</a:t>
            </a:r>
            <a:endParaRPr lang="en-US" sz="1700" dirty="0"/>
          </a:p>
        </p:txBody>
      </p:sp>
      <p:sp>
        <p:nvSpPr>
          <p:cNvPr id="12" name="Text 10"/>
          <p:cNvSpPr/>
          <p:nvPr/>
        </p:nvSpPr>
        <p:spPr>
          <a:xfrm>
            <a:off x="8516173" y="2377440"/>
            <a:ext cx="2840766" cy="594360"/>
          </a:xfrm>
          <a:prstGeom prst="rect">
            <a:avLst/>
          </a:prstGeom>
          <a:noFill/>
          <a:ln/>
        </p:spPr>
        <p:txBody>
          <a:bodyPr wrap="square" lIns="0" tIns="0" rIns="0" bIns="0" rtlCol="0" anchor="ctr"/>
          <a:lstStyle/>
          <a:p>
            <a:pPr marL="0" indent="0">
              <a:lnSpc>
                <a:spcPct val="120000"/>
              </a:lnSpc>
              <a:buNone/>
            </a:pPr>
            <a:r>
              <a:rPr lang="en-US" sz="1200" dirty="0">
                <a:solidFill>
                  <a:srgbClr val="52606D"/>
                </a:solidFill>
                <a:latin typeface="Calibri" pitchFamily="34" charset="0"/>
                <a:ea typeface="Calibri" pitchFamily="34" charset="-122"/>
                <a:cs typeface="Calibri" pitchFamily="34" charset="-120"/>
              </a:rPr>
              <a:t>참가자 개인 간 도메인 시프트</a:t>
            </a:r>
            <a:endParaRPr lang="en-US" sz="1200" dirty="0"/>
          </a:p>
        </p:txBody>
      </p:sp>
      <p:sp>
        <p:nvSpPr>
          <p:cNvPr id="13" name="Shape 11"/>
          <p:cNvSpPr/>
          <p:nvPr/>
        </p:nvSpPr>
        <p:spPr>
          <a:xfrm>
            <a:off x="548640" y="3337560"/>
            <a:ext cx="5486400" cy="1417320"/>
          </a:xfrm>
          <a:prstGeom prst="roundRect">
            <a:avLst>
              <a:gd name="adj" fmla="val 3871"/>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14" name="Text 12"/>
          <p:cNvSpPr/>
          <p:nvPr/>
        </p:nvSpPr>
        <p:spPr>
          <a:xfrm>
            <a:off x="868680" y="3520440"/>
            <a:ext cx="4846320" cy="274320"/>
          </a:xfrm>
          <a:prstGeom prst="rect">
            <a:avLst/>
          </a:prstGeom>
          <a:noFill/>
          <a:ln/>
        </p:spPr>
        <p:txBody>
          <a:bodyPr wrap="square" lIns="0" tIns="0" rIns="0" bIns="0" rtlCol="0" anchor="ctr"/>
          <a:lstStyle/>
          <a:p>
            <a:pPr marL="0" indent="0">
              <a:buNone/>
            </a:pPr>
            <a:r>
              <a:rPr lang="en-US" sz="1250" dirty="0">
                <a:solidFill>
                  <a:srgbClr val="8FC7CE"/>
                </a:solidFill>
                <a:latin typeface="Calibri" pitchFamily="34" charset="0"/>
                <a:ea typeface="Calibri" pitchFamily="34" charset="-122"/>
                <a:cs typeface="Calibri" pitchFamily="34" charset="-120"/>
              </a:rPr>
              <a:t>5부에서 봤던 개인차 이야기가</a:t>
            </a:r>
            <a:endParaRPr lang="en-US" sz="1250" dirty="0"/>
          </a:p>
        </p:txBody>
      </p:sp>
      <p:sp>
        <p:nvSpPr>
          <p:cNvPr id="15" name="Text 13"/>
          <p:cNvSpPr/>
          <p:nvPr/>
        </p:nvSpPr>
        <p:spPr>
          <a:xfrm>
            <a:off x="868680" y="3822192"/>
            <a:ext cx="4846320" cy="685800"/>
          </a:xfrm>
          <a:prstGeom prst="rect">
            <a:avLst/>
          </a:prstGeom>
          <a:noFill/>
          <a:ln/>
        </p:spPr>
        <p:txBody>
          <a:bodyPr wrap="square" lIns="0" tIns="0" rIns="0" bIns="0" rtlCol="0" anchor="ctr"/>
          <a:lstStyle/>
          <a:p>
            <a:pPr marL="0" indent="0">
              <a:lnSpc>
                <a:spcPct val="115000"/>
              </a:lnSpc>
              <a:buNone/>
            </a:pPr>
            <a:r>
              <a:rPr lang="en-US" sz="2000" b="1" dirty="0">
                <a:solidFill>
                  <a:srgbClr val="FFFFFF"/>
                </a:solidFill>
                <a:latin typeface="Cambria" pitchFamily="34" charset="0"/>
                <a:ea typeface="Cambria" pitchFamily="34" charset="-122"/>
                <a:cs typeface="Cambria" pitchFamily="34" charset="-120"/>
              </a:rPr>
              <a:t>데이터 차원에서 그대로 재등장합니다</a:t>
            </a:r>
            <a:endParaRPr lang="en-US" sz="2000" dirty="0"/>
          </a:p>
        </p:txBody>
      </p:sp>
      <p:sp>
        <p:nvSpPr>
          <p:cNvPr id="16" name="Shape 14"/>
          <p:cNvSpPr/>
          <p:nvPr/>
        </p:nvSpPr>
        <p:spPr>
          <a:xfrm>
            <a:off x="6400800" y="3337560"/>
            <a:ext cx="5212080" cy="1417320"/>
          </a:xfrm>
          <a:prstGeom prst="roundRect">
            <a:avLst>
              <a:gd name="adj" fmla="val 3871"/>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17" name="Text 15"/>
          <p:cNvSpPr/>
          <p:nvPr/>
        </p:nvSpPr>
        <p:spPr>
          <a:xfrm>
            <a:off x="6693408" y="3520440"/>
            <a:ext cx="466344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그래서 이런 연구가 나옵니다</a:t>
            </a:r>
            <a:endParaRPr lang="en-US" sz="1200" dirty="0"/>
          </a:p>
        </p:txBody>
      </p:sp>
      <p:sp>
        <p:nvSpPr>
          <p:cNvPr id="18" name="Text 16"/>
          <p:cNvSpPr/>
          <p:nvPr/>
        </p:nvSpPr>
        <p:spPr>
          <a:xfrm>
            <a:off x="6693408" y="3822192"/>
            <a:ext cx="4663440" cy="777240"/>
          </a:xfrm>
          <a:prstGeom prst="rect">
            <a:avLst/>
          </a:prstGeom>
          <a:noFill/>
          <a:ln/>
        </p:spPr>
        <p:txBody>
          <a:bodyPr wrap="square" lIns="0" tIns="0" rIns="0" bIns="0" rtlCol="0" anchor="ctr"/>
          <a:lstStyle/>
          <a:p>
            <a:pPr marL="0" indent="0">
              <a:lnSpc>
                <a:spcPct val="125000"/>
              </a:lnSpc>
              <a:buNone/>
            </a:pPr>
            <a:r>
              <a:rPr lang="en-US" sz="1200" dirty="0">
                <a:solidFill>
                  <a:srgbClr val="102A43"/>
                </a:solidFill>
                <a:latin typeface="Calibri" pitchFamily="34" charset="0"/>
                <a:ea typeface="Calibri" pitchFamily="34" charset="-122"/>
                <a:cs typeface="Calibri" pitchFamily="34" charset="-120"/>
              </a:rPr>
              <a:t>남방과기대 付成龙 팀 — 비지도 크로스-서브젝트 적응으로</a:t>
            </a:r>
            <a:endParaRPr lang="en-US" sz="1200" dirty="0"/>
          </a:p>
          <a:p>
            <a:pPr marL="0" indent="0">
              <a:lnSpc>
                <a:spcPct val="125000"/>
              </a:lnSpc>
              <a:buNone/>
            </a:pPr>
            <a:r>
              <a:rPr lang="en-US" sz="1200" dirty="0">
                <a:solidFill>
                  <a:srgbClr val="102A43"/>
                </a:solidFill>
                <a:latin typeface="Calibri" pitchFamily="34" charset="0"/>
                <a:ea typeface="Calibri" pitchFamily="34" charset="-122"/>
                <a:cs typeface="Calibri" pitchFamily="34" charset="-120"/>
              </a:rPr>
              <a:t>운동 의도 예측 정확도 93.6~94.6%. 라벨링 부담을 줄이면서</a:t>
            </a:r>
            <a:endParaRPr lang="en-US" sz="1200" dirty="0"/>
          </a:p>
          <a:p>
            <a:pPr marL="0" indent="0">
              <a:lnSpc>
                <a:spcPct val="125000"/>
              </a:lnSpc>
              <a:buNone/>
            </a:pPr>
            <a:r>
              <a:rPr lang="en-US" sz="1200" dirty="0">
                <a:solidFill>
                  <a:srgbClr val="102A43"/>
                </a:solidFill>
                <a:latin typeface="Calibri" pitchFamily="34" charset="0"/>
                <a:ea typeface="Calibri" pitchFamily="34" charset="-122"/>
                <a:cs typeface="Calibri" pitchFamily="34" charset="-120"/>
              </a:rPr>
              <a:t>사람이 바뀌어도 통하게 만드는 접근입니다.</a:t>
            </a:r>
            <a:endParaRPr lang="en-US" sz="1200" dirty="0"/>
          </a:p>
        </p:txBody>
      </p:sp>
      <p:sp>
        <p:nvSpPr>
          <p:cNvPr id="19" name="Shape 17"/>
          <p:cNvSpPr/>
          <p:nvPr/>
        </p:nvSpPr>
        <p:spPr>
          <a:xfrm>
            <a:off x="548640" y="4892040"/>
            <a:ext cx="11064240" cy="1234440"/>
          </a:xfrm>
          <a:prstGeom prst="roundRect">
            <a:avLst>
              <a:gd name="adj" fmla="val 4444"/>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20" name="Text 18"/>
          <p:cNvSpPr/>
          <p:nvPr/>
        </p:nvSpPr>
        <p:spPr>
          <a:xfrm>
            <a:off x="960120" y="4892040"/>
            <a:ext cx="10241280" cy="1234440"/>
          </a:xfrm>
          <a:prstGeom prst="rect">
            <a:avLst/>
          </a:prstGeom>
          <a:noFill/>
          <a:ln/>
        </p:spPr>
        <p:txBody>
          <a:bodyPr wrap="square" lIns="0" tIns="0" rIns="0" bIns="0" rtlCol="0" anchor="ctr"/>
          <a:lstStyle/>
          <a:p>
            <a:pPr marL="0" indent="0">
              <a:lnSpc>
                <a:spcPct val="135000"/>
              </a:lnSpc>
              <a:buNone/>
            </a:pPr>
            <a:r>
              <a:rPr lang="en-US" sz="1450" b="1" dirty="0">
                <a:solidFill>
                  <a:srgbClr val="102A43"/>
                </a:solidFill>
                <a:latin typeface="Calibri" pitchFamily="34" charset="0"/>
                <a:ea typeface="Calibri" pitchFamily="34" charset="-122"/>
                <a:cs typeface="Calibri" pitchFamily="34" charset="-120"/>
              </a:rPr>
              <a:t>정리하면 세 겹의 문제입니다 — 신호가 흔들리고(①), 이상치가 섞이고(②), 사람마다 분포가 다릅니다(③).</a:t>
            </a:r>
            <a:endParaRPr lang="en-US" sz="1450" dirty="0"/>
          </a:p>
          <a:p>
            <a:pPr marL="0" indent="0">
              <a:lnSpc>
                <a:spcPct val="135000"/>
              </a:lnSpc>
              <a:buNone/>
            </a:pPr>
            <a:r>
              <a:rPr lang="en-US" sz="1450" b="1" dirty="0">
                <a:solidFill>
                  <a:srgbClr val="102A43"/>
                </a:solidFill>
                <a:latin typeface="Calibri" pitchFamily="34" charset="0"/>
                <a:ea typeface="Calibri" pitchFamily="34" charset="-122"/>
                <a:cs typeface="Calibri" pitchFamily="34" charset="-120"/>
              </a:rPr>
              <a:t>이 셋을 넘기 전에는, 아무리 많은 데이터도 근거가 되지 않습니다.</a:t>
            </a:r>
            <a:endParaRPr lang="en-US" sz="1450" dirty="0"/>
          </a:p>
        </p:txBody>
      </p:sp>
      <p:sp>
        <p:nvSpPr>
          <p:cNvPr id="21" name="Text 19"/>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SUSTech 付成龙 팀 — 비지도 크로스서브젝트 의도 예측">
                  <a:extLst>
                    <a:ext uri="{A12FA001-AC4F-418D-AE19-62706E023703}">
                      <ahyp:hlinkClr xmlns:ahyp="http://schemas.microsoft.com/office/drawing/2018/hyperlinkcolor" val="tx"/>
                    </a:ext>
                  </a:extLst>
                </a:hlinkClick>
              </a:rPr>
              <a:t>SUSTech 付成龙 팀 — 비지도 크로스서브젝트 의도 예측</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256032"/>
          </a:xfrm>
          <a:prstGeom prst="rect">
            <a:avLst/>
          </a:prstGeom>
          <a:noFill/>
          <a:ln/>
        </p:spPr>
        <p:txBody>
          <a:bodyPr wrap="square" lIns="0" tIns="0" rIns="0" bIns="0" rtlCol="0" anchor="ctr"/>
          <a:lstStyle/>
          <a:p>
            <a:pPr marL="0" indent="0">
              <a:buNone/>
            </a:pPr>
            <a:r>
              <a:rPr lang="en-US" sz="1150" b="1" kern="0" spc="160" dirty="0">
                <a:solidFill>
                  <a:srgbClr val="0E7C86"/>
                </a:solidFill>
                <a:latin typeface="Calibri" pitchFamily="34" charset="0"/>
                <a:ea typeface="Calibri" pitchFamily="34" charset="-122"/>
                <a:cs typeface="Calibri" pitchFamily="34" charset="-120"/>
              </a:rPr>
              <a:t>6-3 · 3부를 회수합니다</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000" b="1" dirty="0">
                <a:solidFill>
                  <a:srgbClr val="102A43"/>
                </a:solidFill>
                <a:latin typeface="Cambria" pitchFamily="34" charset="0"/>
                <a:ea typeface="Cambria" pitchFamily="34" charset="-122"/>
                <a:cs typeface="Cambria" pitchFamily="34" charset="-120"/>
              </a:rPr>
              <a:t>전처리는 코드 정리 문제가 아닙니다</a:t>
            </a:r>
            <a:endParaRPr lang="en-US" sz="3000" dirty="0"/>
          </a:p>
        </p:txBody>
      </p:sp>
      <p:sp>
        <p:nvSpPr>
          <p:cNvPr id="4" name="Shape 2"/>
          <p:cNvSpPr/>
          <p:nvPr/>
        </p:nvSpPr>
        <p:spPr>
          <a:xfrm>
            <a:off x="548640" y="1645920"/>
            <a:ext cx="5349240" cy="2194560"/>
          </a:xfrm>
          <a:prstGeom prst="roundRect">
            <a:avLst>
              <a:gd name="adj" fmla="val 2500"/>
            </a:avLst>
          </a:prstGeom>
          <a:solidFill>
            <a:srgbClr val="E4EBF2"/>
          </a:solidFill>
          <a:ln/>
          <a:effectLst>
            <a:outerShdw blurRad="101600" dist="635" dir="5400000" algn="bl" rotWithShape="0">
              <a:srgbClr val="0A1F33">
                <a:alpha val="12000"/>
              </a:srgbClr>
            </a:outerShdw>
          </a:effectLst>
        </p:spPr>
        <p:txBody>
          <a:bodyPr/>
          <a:lstStyle/>
          <a:p>
            <a:endParaRPr lang="ko-KR" altLang="en-US"/>
          </a:p>
        </p:txBody>
      </p:sp>
      <p:sp>
        <p:nvSpPr>
          <p:cNvPr id="5" name="Text 3"/>
          <p:cNvSpPr/>
          <p:nvPr/>
        </p:nvSpPr>
        <p:spPr>
          <a:xfrm>
            <a:off x="868680" y="1828800"/>
            <a:ext cx="4709160" cy="274320"/>
          </a:xfrm>
          <a:prstGeom prst="rect">
            <a:avLst/>
          </a:prstGeom>
          <a:noFill/>
          <a:ln/>
        </p:spPr>
        <p:txBody>
          <a:bodyPr wrap="square" lIns="0" tIns="0" rIns="0" bIns="0" rtlCol="0" anchor="ctr"/>
          <a:lstStyle/>
          <a:p>
            <a:pPr marL="0" indent="0">
              <a:buNone/>
            </a:pPr>
            <a:r>
              <a:rPr lang="en-US" sz="1200" b="1" kern="0" spc="80" dirty="0">
                <a:solidFill>
                  <a:srgbClr val="0E7C86"/>
                </a:solidFill>
                <a:latin typeface="Calibri" pitchFamily="34" charset="0"/>
                <a:ea typeface="Calibri" pitchFamily="34" charset="-122"/>
                <a:cs typeface="Calibri" pitchFamily="34" charset="-120"/>
              </a:rPr>
              <a:t>3부에서 본 것</a:t>
            </a:r>
            <a:endParaRPr lang="en-US" sz="1200" dirty="0"/>
          </a:p>
        </p:txBody>
      </p:sp>
      <p:sp>
        <p:nvSpPr>
          <p:cNvPr id="6" name="Text 4"/>
          <p:cNvSpPr/>
          <p:nvPr/>
        </p:nvSpPr>
        <p:spPr>
          <a:xfrm>
            <a:off x="868680" y="2121408"/>
            <a:ext cx="4709160" cy="411480"/>
          </a:xfrm>
          <a:prstGeom prst="rect">
            <a:avLst/>
          </a:prstGeom>
          <a:noFill/>
          <a:ln/>
        </p:spPr>
        <p:txBody>
          <a:bodyPr wrap="square" lIns="0" tIns="0" rIns="0" bIns="0" rtlCol="0" anchor="ctr"/>
          <a:lstStyle/>
          <a:p>
            <a:pPr marL="0" indent="0">
              <a:buNone/>
            </a:pPr>
            <a:r>
              <a:rPr lang="en-US" sz="2200" b="1" dirty="0">
                <a:solidFill>
                  <a:srgbClr val="102A43"/>
                </a:solidFill>
                <a:latin typeface="Cambria" pitchFamily="34" charset="0"/>
                <a:ea typeface="Cambria" pitchFamily="34" charset="-122"/>
                <a:cs typeface="Cambria" pitchFamily="34" charset="-120"/>
              </a:rPr>
              <a:t>RCT 101편 · 4,224명</a:t>
            </a:r>
            <a:endParaRPr lang="en-US" sz="2200" dirty="0"/>
          </a:p>
        </p:txBody>
      </p:sp>
      <p:sp>
        <p:nvSpPr>
          <p:cNvPr id="7" name="Text 5"/>
          <p:cNvSpPr/>
          <p:nvPr/>
        </p:nvSpPr>
        <p:spPr>
          <a:xfrm>
            <a:off x="868680" y="2633472"/>
            <a:ext cx="4709160" cy="1051560"/>
          </a:xfrm>
          <a:prstGeom prst="rect">
            <a:avLst/>
          </a:prstGeom>
          <a:noFill/>
          <a:ln/>
        </p:spPr>
        <p:txBody>
          <a:bodyPr wrap="square" lIns="0" tIns="0" rIns="0" bIns="0" rtlCol="0" anchor="ctr"/>
          <a:lstStyle/>
          <a:p>
            <a:pPr marL="0" indent="0">
              <a:lnSpc>
                <a:spcPct val="130000"/>
              </a:lnSpc>
              <a:buNone/>
            </a:pPr>
            <a:r>
              <a:rPr lang="en-US" sz="1300" dirty="0">
                <a:solidFill>
                  <a:srgbClr val="52606D"/>
                </a:solidFill>
                <a:latin typeface="Calibri" pitchFamily="34" charset="0"/>
                <a:ea typeface="Calibri" pitchFamily="34" charset="-122"/>
                <a:cs typeface="Calibri" pitchFamily="34" charset="-120"/>
              </a:rPr>
              <a:t>그만큼 쌓였어도 보행 속도·지구력 개선은 근거로 인정받지 못했고, 미국 민간보험 다수는 여전히 '연구단계'로 비급여 처리합니다.</a:t>
            </a:r>
            <a:endParaRPr lang="en-US" sz="1300" dirty="0"/>
          </a:p>
        </p:txBody>
      </p:sp>
      <p:sp>
        <p:nvSpPr>
          <p:cNvPr id="8" name="Shape 6"/>
          <p:cNvSpPr/>
          <p:nvPr/>
        </p:nvSpPr>
        <p:spPr>
          <a:xfrm>
            <a:off x="6263640" y="1645920"/>
            <a:ext cx="5349240" cy="2194560"/>
          </a:xfrm>
          <a:prstGeom prst="roundRect">
            <a:avLst>
              <a:gd name="adj" fmla="val 2500"/>
            </a:avLst>
          </a:prstGeom>
          <a:solidFill>
            <a:srgbClr val="102A43"/>
          </a:solidFill>
          <a:ln/>
          <a:effectLst>
            <a:outerShdw blurRad="101600" dist="635" dir="5400000" algn="bl" rotWithShape="0">
              <a:srgbClr val="0A1F33">
                <a:alpha val="12000"/>
              </a:srgbClr>
            </a:outerShdw>
          </a:effectLst>
        </p:spPr>
        <p:txBody>
          <a:bodyPr/>
          <a:lstStyle/>
          <a:p>
            <a:endParaRPr lang="ko-KR" altLang="en-US"/>
          </a:p>
        </p:txBody>
      </p:sp>
      <p:sp>
        <p:nvSpPr>
          <p:cNvPr id="9" name="Text 7"/>
          <p:cNvSpPr/>
          <p:nvPr/>
        </p:nvSpPr>
        <p:spPr>
          <a:xfrm>
            <a:off x="6583680" y="1828800"/>
            <a:ext cx="4709160" cy="274320"/>
          </a:xfrm>
          <a:prstGeom prst="rect">
            <a:avLst/>
          </a:prstGeom>
          <a:noFill/>
          <a:ln/>
        </p:spPr>
        <p:txBody>
          <a:bodyPr wrap="square" lIns="0" tIns="0" rIns="0" bIns="0" rtlCol="0" anchor="ctr"/>
          <a:lstStyle/>
          <a:p>
            <a:pPr marL="0" indent="0">
              <a:buNone/>
            </a:pPr>
            <a:r>
              <a:rPr lang="en-US" sz="1200" b="1" kern="0" spc="80" dirty="0">
                <a:solidFill>
                  <a:srgbClr val="8FC7CE"/>
                </a:solidFill>
                <a:latin typeface="Calibri" pitchFamily="34" charset="0"/>
                <a:ea typeface="Calibri" pitchFamily="34" charset="-122"/>
                <a:cs typeface="Calibri" pitchFamily="34" charset="-120"/>
              </a:rPr>
              <a:t>판정 이유에 명시된 문장</a:t>
            </a:r>
            <a:endParaRPr lang="en-US" sz="1200" dirty="0"/>
          </a:p>
        </p:txBody>
      </p:sp>
      <p:sp>
        <p:nvSpPr>
          <p:cNvPr id="10" name="Text 8"/>
          <p:cNvSpPr/>
          <p:nvPr/>
        </p:nvSpPr>
        <p:spPr>
          <a:xfrm>
            <a:off x="6583680" y="2121408"/>
            <a:ext cx="4709160" cy="777240"/>
          </a:xfrm>
          <a:prstGeom prst="rect">
            <a:avLst/>
          </a:prstGeom>
          <a:noFill/>
          <a:ln/>
        </p:spPr>
        <p:txBody>
          <a:bodyPr wrap="square" lIns="0" tIns="0" rIns="0" bIns="0" rtlCol="0" anchor="ctr"/>
          <a:lstStyle/>
          <a:p>
            <a:pPr marL="0" indent="0">
              <a:lnSpc>
                <a:spcPct val="115000"/>
              </a:lnSpc>
              <a:buNone/>
            </a:pPr>
            <a:r>
              <a:rPr lang="en-US" sz="2000" b="1" dirty="0">
                <a:solidFill>
                  <a:srgbClr val="E8871E"/>
                </a:solidFill>
                <a:latin typeface="Cambria" pitchFamily="34" charset="0"/>
                <a:ea typeface="Cambria" pitchFamily="34" charset="-122"/>
                <a:cs typeface="Cambria" pitchFamily="34" charset="-120"/>
              </a:rPr>
              <a:t>"결과지표의 이질성으로</a:t>
            </a:r>
            <a:endParaRPr lang="en-US" sz="2000" dirty="0"/>
          </a:p>
          <a:p>
            <a:pPr marL="0" indent="0">
              <a:lnSpc>
                <a:spcPct val="115000"/>
              </a:lnSpc>
              <a:buNone/>
            </a:pPr>
            <a:r>
              <a:rPr lang="en-US" sz="2000" b="1" dirty="0">
                <a:solidFill>
                  <a:srgbClr val="E8871E"/>
                </a:solidFill>
                <a:latin typeface="Cambria" pitchFamily="34" charset="0"/>
                <a:ea typeface="Cambria" pitchFamily="34" charset="-122"/>
                <a:cs typeface="Cambria" pitchFamily="34" charset="-120"/>
              </a:rPr>
              <a:t>일반적 결론 도출 불가"</a:t>
            </a:r>
            <a:endParaRPr lang="en-US" sz="2000" dirty="0"/>
          </a:p>
        </p:txBody>
      </p:sp>
      <p:sp>
        <p:nvSpPr>
          <p:cNvPr id="11" name="Text 9"/>
          <p:cNvSpPr/>
          <p:nvPr/>
        </p:nvSpPr>
        <p:spPr>
          <a:xfrm>
            <a:off x="6583680" y="2999232"/>
            <a:ext cx="4709160" cy="73152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측정과 전처리가 제각각이면, 아무리 많은 연구가 쌓여도 하나의 근거로 합쳐지지 않습니다.</a:t>
            </a:r>
            <a:endParaRPr lang="en-US" sz="1300" dirty="0"/>
          </a:p>
        </p:txBody>
      </p:sp>
      <p:sp>
        <p:nvSpPr>
          <p:cNvPr id="12" name="Shape 10"/>
          <p:cNvSpPr/>
          <p:nvPr/>
        </p:nvSpPr>
        <p:spPr>
          <a:xfrm>
            <a:off x="548640" y="4069080"/>
            <a:ext cx="11064240" cy="960120"/>
          </a:xfrm>
          <a:prstGeom prst="roundRect">
            <a:avLst>
              <a:gd name="adj" fmla="val 5714"/>
            </a:avLst>
          </a:prstGeom>
          <a:solidFill>
            <a:srgbClr val="E8871E"/>
          </a:solidFill>
          <a:ln/>
          <a:effectLst>
            <a:outerShdw blurRad="101600" dist="635" dir="5400000" algn="bl" rotWithShape="0">
              <a:srgbClr val="0A1F33">
                <a:alpha val="12000"/>
              </a:srgbClr>
            </a:outerShdw>
          </a:effectLst>
        </p:spPr>
        <p:txBody>
          <a:bodyPr/>
          <a:lstStyle/>
          <a:p>
            <a:endParaRPr lang="ko-KR" altLang="en-US"/>
          </a:p>
        </p:txBody>
      </p:sp>
      <p:sp>
        <p:nvSpPr>
          <p:cNvPr id="13" name="Text 11"/>
          <p:cNvSpPr/>
          <p:nvPr/>
        </p:nvSpPr>
        <p:spPr>
          <a:xfrm>
            <a:off x="1005840" y="4069080"/>
            <a:ext cx="10149840" cy="9601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전처리 표준화는 이 산업이 인정받는 문제입니다.</a:t>
            </a:r>
            <a:endParaRPr lang="en-US" sz="2600" dirty="0"/>
          </a:p>
        </p:txBody>
      </p:sp>
      <p:sp>
        <p:nvSpPr>
          <p:cNvPr id="14" name="Shape 12"/>
          <p:cNvSpPr/>
          <p:nvPr/>
        </p:nvSpPr>
        <p:spPr>
          <a:xfrm>
            <a:off x="548640" y="5257800"/>
            <a:ext cx="11064240" cy="1005840"/>
          </a:xfrm>
          <a:prstGeom prst="roundRect">
            <a:avLst>
              <a:gd name="adj" fmla="val 5455"/>
            </a:avLst>
          </a:prstGeom>
          <a:solidFill>
            <a:srgbClr val="F0F4F8"/>
          </a:solidFill>
          <a:ln/>
          <a:effectLst>
            <a:outerShdw blurRad="101600" dist="635" dir="5400000" algn="bl" rotWithShape="0">
              <a:srgbClr val="0A1F33">
                <a:alpha val="12000"/>
              </a:srgbClr>
            </a:outerShdw>
          </a:effectLst>
        </p:spPr>
        <p:txBody>
          <a:bodyPr/>
          <a:lstStyle/>
          <a:p>
            <a:endParaRPr lang="ko-KR" altLang="en-US"/>
          </a:p>
        </p:txBody>
      </p:sp>
      <p:sp>
        <p:nvSpPr>
          <p:cNvPr id="15" name="Text 13"/>
          <p:cNvSpPr/>
          <p:nvPr/>
        </p:nvSpPr>
        <p:spPr>
          <a:xfrm>
            <a:off x="960120" y="5257800"/>
            <a:ext cx="10241280" cy="1005840"/>
          </a:xfrm>
          <a:prstGeom prst="rect">
            <a:avLst/>
          </a:prstGeom>
          <a:noFill/>
          <a:ln/>
        </p:spPr>
        <p:txBody>
          <a:bodyPr wrap="square" lIns="0" tIns="0" rIns="0" bIns="0" rtlCol="0" anchor="ctr"/>
          <a:lstStyle/>
          <a:p>
            <a:pPr marL="0" indent="0">
              <a:lnSpc>
                <a:spcPct val="125000"/>
              </a:lnSpc>
              <a:buNone/>
            </a:pPr>
            <a:r>
              <a:rPr lang="en-US" sz="1400" dirty="0">
                <a:solidFill>
                  <a:srgbClr val="102A43"/>
                </a:solidFill>
                <a:latin typeface="Calibri" pitchFamily="34" charset="0"/>
                <a:ea typeface="Calibri" pitchFamily="34" charset="-122"/>
                <a:cs typeface="Calibri" pitchFamily="34" charset="-120"/>
              </a:rPr>
              <a:t>같은 이야기의 다른 얼굴 — 중국의 표준화 현황도 국가표준 5건 수준이고, 용어·인간공학·리스크평가 체계에 공백이 있습니다. 세계 어디도 아직 이 문제를 풀지 못했습니다.</a:t>
            </a:r>
            <a:endParaRPr lang="en-US" sz="1400" dirty="0"/>
          </a:p>
        </p:txBody>
      </p:sp>
      <p:sp>
        <p:nvSpPr>
          <p:cNvPr id="16" name="Text 14"/>
          <p:cNvSpPr/>
          <p:nvPr/>
        </p:nvSpPr>
        <p:spPr>
          <a:xfrm>
            <a:off x="548640" y="6382512"/>
            <a:ext cx="11064240" cy="292608"/>
          </a:xfrm>
          <a:prstGeom prst="rect">
            <a:avLst/>
          </a:prstGeom>
          <a:noFill/>
          <a:ln/>
        </p:spPr>
        <p:txBody>
          <a:bodyPr wrap="square" lIns="0" tIns="0" rIns="0" bIns="0" rtlCol="0" anchor="t"/>
          <a:lstStyle/>
          <a:p>
            <a:pPr marL="0" indent="0">
              <a:buNone/>
            </a:pPr>
            <a:r>
              <a:rPr lang="en-US" sz="900" b="1" dirty="0">
                <a:solidFill>
                  <a:srgbClr val="829AB1"/>
                </a:solidFill>
              </a:rPr>
              <a:t>출처  </a:t>
            </a:r>
            <a:r>
              <a:rPr lang="en-US" sz="900" u="sng" dirty="0">
                <a:solidFill>
                  <a:srgbClr val="0E7C86"/>
                </a:solidFill>
                <a:hlinkClick r:id="rId3" tooltip="Cochrane 2025 (CD006185.pub6)">
                  <a:extLst>
                    <a:ext uri="{A12FA001-AC4F-418D-AE19-62706E023703}">
                      <ahyp:hlinkClr xmlns:ahyp="http://schemas.microsoft.com/office/drawing/2018/hyperlinkcolor" val="tx"/>
                    </a:ext>
                  </a:extLst>
                </a:hlinkClick>
              </a:rPr>
              <a:t>Cochrane 2025 (CD006185.pub6)</a:t>
            </a:r>
            <a:r>
              <a:rPr lang="en-US" sz="900" dirty="0">
                <a:solidFill>
                  <a:srgbClr val="829AB1"/>
                </a:solidFill>
              </a:rPr>
              <a:t>   ·   </a:t>
            </a:r>
            <a:r>
              <a:rPr lang="en-US" sz="900" u="sng" dirty="0">
                <a:solidFill>
                  <a:srgbClr val="0E7C86"/>
                </a:solidFill>
                <a:hlinkClick r:id="rId4" tooltip="미국 민간보험 급여정책">
                  <a:extLst>
                    <a:ext uri="{A12FA001-AC4F-418D-AE19-62706E023703}">
                      <ahyp:hlinkClr xmlns:ahyp="http://schemas.microsoft.com/office/drawing/2018/hyperlinkcolor" val="tx"/>
                    </a:ext>
                  </a:extLst>
                </a:hlinkClick>
              </a:rPr>
              <a:t>미국 민간보험 급여정책</a:t>
            </a:r>
            <a:r>
              <a:rPr lang="en-US" sz="900" dirty="0">
                <a:solidFill>
                  <a:srgbClr val="829AB1"/>
                </a:solidFill>
              </a:rPr>
              <a:t>   ·   </a:t>
            </a:r>
            <a:r>
              <a:rPr lang="en-US" sz="900" u="sng" dirty="0">
                <a:solidFill>
                  <a:srgbClr val="0E7C86"/>
                </a:solidFill>
                <a:hlinkClick r:id="rId5" tooltip="중국 표준화 현황 (《标准科学》 2026)">
                  <a:extLst>
                    <a:ext uri="{A12FA001-AC4F-418D-AE19-62706E023703}">
                      <ahyp:hlinkClr xmlns:ahyp="http://schemas.microsoft.com/office/drawing/2018/hyperlinkcolor" val="tx"/>
                    </a:ext>
                  </a:extLst>
                </a:hlinkClick>
              </a:rPr>
              <a:t>중국 표준화 현황 (《标准科学》 2026)</a:t>
            </a:r>
            <a:endParaRPr lang="en-US" sz="9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7315200" cy="365760"/>
          </a:xfrm>
          <a:prstGeom prst="rect">
            <a:avLst/>
          </a:prstGeom>
          <a:noFill/>
        </p:spPr>
        <p:txBody>
          <a:bodyPr wrap="square" anchor="t">
            <a:spAutoFit/>
          </a:bodyPr>
          <a:lstStyle/>
          <a:p>
            <a:pPr algn="l">
              <a:spcAft>
                <a:spcPts val="400"/>
              </a:spcAft>
            </a:pPr>
            <a:r>
              <a:rPr sz="1600" b="1">
                <a:solidFill>
                  <a:srgbClr val="0E7C86"/>
                </a:solidFill>
                <a:latin typeface="Calibri"/>
              </a:rPr>
              <a:t>다음 회차 예고 · 발제 요청</a:t>
            </a:r>
          </a:p>
        </p:txBody>
      </p:sp>
      <p:sp>
        <p:nvSpPr>
          <p:cNvPr id="3" name="TextBox 2"/>
          <p:cNvSpPr txBox="1"/>
          <p:nvPr/>
        </p:nvSpPr>
        <p:spPr>
          <a:xfrm>
            <a:off x="640080" y="841248"/>
            <a:ext cx="10972800" cy="640080"/>
          </a:xfrm>
          <a:prstGeom prst="rect">
            <a:avLst/>
          </a:prstGeom>
          <a:noFill/>
        </p:spPr>
        <p:txBody>
          <a:bodyPr wrap="square" anchor="t">
            <a:spAutoFit/>
          </a:bodyPr>
          <a:lstStyle/>
          <a:p>
            <a:pPr algn="l">
              <a:spcAft>
                <a:spcPts val="400"/>
              </a:spcAft>
            </a:pPr>
            <a:r>
              <a:rPr sz="3000" b="1">
                <a:solidFill>
                  <a:srgbClr val="102A43"/>
                </a:solidFill>
                <a:latin typeface="Cambria"/>
              </a:rPr>
              <a:t>우리가 하려는 걸, 이미 해낸 논문</a:t>
            </a:r>
          </a:p>
        </p:txBody>
      </p:sp>
      <p:sp>
        <p:nvSpPr>
          <p:cNvPr id="4" name="TextBox 3"/>
          <p:cNvSpPr txBox="1"/>
          <p:nvPr/>
        </p:nvSpPr>
        <p:spPr>
          <a:xfrm>
            <a:off x="640080" y="1481328"/>
            <a:ext cx="10972800" cy="457200"/>
          </a:xfrm>
          <a:prstGeom prst="rect">
            <a:avLst/>
          </a:prstGeom>
          <a:noFill/>
        </p:spPr>
        <p:txBody>
          <a:bodyPr wrap="square" anchor="t">
            <a:spAutoFit/>
          </a:bodyPr>
          <a:lstStyle/>
          <a:p>
            <a:pPr algn="l">
              <a:spcAft>
                <a:spcPts val="400"/>
              </a:spcAft>
            </a:pPr>
            <a:r>
              <a:rPr sz="1500" b="0">
                <a:solidFill>
                  <a:srgbClr val="52606D"/>
                </a:solidFill>
                <a:latin typeface="Calibri"/>
              </a:rPr>
              <a:t>다음 시간에는 이 논문을 함께 읽습니다 — 공개 IMU 데이터만으로 보행 단계를 자동 분류한 연구</a:t>
            </a:r>
          </a:p>
        </p:txBody>
      </p:sp>
      <p:sp>
        <p:nvSpPr>
          <p:cNvPr id="5" name="Rectangle 4"/>
          <p:cNvSpPr/>
          <p:nvPr/>
        </p:nvSpPr>
        <p:spPr>
          <a:xfrm>
            <a:off x="640080" y="2084832"/>
            <a:ext cx="10908792" cy="1874519"/>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322576"/>
            <a:ext cx="10241280" cy="822960"/>
          </a:xfrm>
          <a:prstGeom prst="rect">
            <a:avLst/>
          </a:prstGeom>
          <a:noFill/>
        </p:spPr>
        <p:txBody>
          <a:bodyPr wrap="square" anchor="t">
            <a:spAutoFit/>
          </a:bodyPr>
          <a:lstStyle/>
          <a:p>
            <a:pPr algn="l">
              <a:spcAft>
                <a:spcPts val="400"/>
              </a:spcAft>
            </a:pPr>
            <a:r>
              <a:rPr sz="2000" b="1">
                <a:solidFill>
                  <a:srgbClr val="FFFFFF"/>
                </a:solidFill>
                <a:latin typeface="Cambria"/>
              </a:rPr>
              <a:t>Machine Learning Models for Reliable Gait Phase</a:t>
            </a:r>
          </a:p>
          <a:p>
            <a:pPr algn="l">
              <a:spcAft>
                <a:spcPts val="400"/>
              </a:spcAft>
            </a:pPr>
            <a:r>
              <a:rPr sz="2000" b="1">
                <a:solidFill>
                  <a:srgbClr val="FFFFFF"/>
                </a:solidFill>
                <a:latin typeface="Cambria"/>
              </a:rPr>
              <a:t>Detection Using Lower-Limb Wearable Sensor Data</a:t>
            </a:r>
          </a:p>
        </p:txBody>
      </p:sp>
      <p:sp>
        <p:nvSpPr>
          <p:cNvPr id="7" name="TextBox 6"/>
          <p:cNvSpPr txBox="1"/>
          <p:nvPr/>
        </p:nvSpPr>
        <p:spPr>
          <a:xfrm>
            <a:off x="960120" y="3200400"/>
            <a:ext cx="10241280" cy="365760"/>
          </a:xfrm>
          <a:prstGeom prst="rect">
            <a:avLst/>
          </a:prstGeom>
          <a:noFill/>
        </p:spPr>
        <p:txBody>
          <a:bodyPr wrap="square" anchor="t">
            <a:spAutoFit/>
          </a:bodyPr>
          <a:lstStyle/>
          <a:p>
            <a:pPr algn="l">
              <a:spcAft>
                <a:spcPts val="400"/>
              </a:spcAft>
            </a:pPr>
            <a:r>
              <a:rPr sz="1400" b="0">
                <a:solidFill>
                  <a:srgbClr val="8FC7CE"/>
                </a:solidFill>
                <a:latin typeface="Calibri"/>
              </a:rPr>
              <a:t>Applied Sciences (MDPI), 2026, 16(3):1397  ·  Open Access (CC BY)  ·  2026년 1월</a:t>
            </a:r>
          </a:p>
        </p:txBody>
      </p:sp>
      <p:sp>
        <p:nvSpPr>
          <p:cNvPr id="8" name="TextBox 7"/>
          <p:cNvSpPr txBox="1"/>
          <p:nvPr/>
        </p:nvSpPr>
        <p:spPr>
          <a:xfrm>
            <a:off x="960120" y="3547872"/>
            <a:ext cx="10241280" cy="365760"/>
          </a:xfrm>
          <a:prstGeom prst="rect">
            <a:avLst/>
          </a:prstGeom>
          <a:noFill/>
        </p:spPr>
        <p:txBody>
          <a:bodyPr wrap="square" anchor="t">
            <a:spAutoFit/>
          </a:bodyPr>
          <a:lstStyle/>
          <a:p>
            <a:pPr algn="l">
              <a:spcAft>
                <a:spcPts val="400"/>
              </a:spcAft>
            </a:pPr>
            <a:r>
              <a:rPr sz="1300" b="0">
                <a:solidFill>
                  <a:srgbClr val="FFFFFF"/>
                </a:solidFill>
                <a:latin typeface="Calibri"/>
              </a:rPr>
              <a:t>핵심: 다중 피험자 IMU → HS·TO 자동 라벨링 → 트리 앙상블(RF·Extra Trees·XGBoost·LightGBM) → 정확도 97%↑</a:t>
            </a:r>
          </a:p>
        </p:txBody>
      </p:sp>
      <p:sp>
        <p:nvSpPr>
          <p:cNvPr id="9" name="Rectangle 8"/>
          <p:cNvSpPr/>
          <p:nvPr/>
        </p:nvSpPr>
        <p:spPr>
          <a:xfrm>
            <a:off x="640080" y="4215383"/>
            <a:ext cx="3514344" cy="13716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215383"/>
            <a:ext cx="3514344"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434839"/>
            <a:ext cx="3057144" cy="457200"/>
          </a:xfrm>
          <a:prstGeom prst="rect">
            <a:avLst/>
          </a:prstGeom>
          <a:noFill/>
        </p:spPr>
        <p:txBody>
          <a:bodyPr wrap="square" anchor="t">
            <a:spAutoFit/>
          </a:bodyPr>
          <a:lstStyle/>
          <a:p>
            <a:pPr algn="l">
              <a:spcAft>
                <a:spcPts val="400"/>
              </a:spcAft>
            </a:pPr>
            <a:r>
              <a:rPr sz="1600" b="1">
                <a:solidFill>
                  <a:srgbClr val="102A43"/>
                </a:solidFill>
                <a:latin typeface="Cambria"/>
              </a:rPr>
              <a:t>우리 목표 그대로</a:t>
            </a:r>
          </a:p>
        </p:txBody>
      </p:sp>
      <p:sp>
        <p:nvSpPr>
          <p:cNvPr id="12" name="TextBox 11"/>
          <p:cNvSpPr txBox="1"/>
          <p:nvPr/>
        </p:nvSpPr>
        <p:spPr>
          <a:xfrm>
            <a:off x="868680" y="4873751"/>
            <a:ext cx="3057144" cy="640080"/>
          </a:xfrm>
          <a:prstGeom prst="rect">
            <a:avLst/>
          </a:prstGeom>
          <a:noFill/>
        </p:spPr>
        <p:txBody>
          <a:bodyPr wrap="square" anchor="t">
            <a:spAutoFit/>
          </a:bodyPr>
          <a:lstStyle/>
          <a:p>
            <a:pPr algn="l">
              <a:spcAft>
                <a:spcPts val="400"/>
              </a:spcAft>
            </a:pPr>
            <a:r>
              <a:rPr sz="1250" b="0">
                <a:solidFill>
                  <a:srgbClr val="52606D"/>
                </a:solidFill>
                <a:latin typeface="Calibri"/>
              </a:rPr>
              <a:t>공개 데이터만으로 보행 단계를 분류한다. 7~18주 우리 흐름과 같다.</a:t>
            </a:r>
          </a:p>
        </p:txBody>
      </p:sp>
      <p:sp>
        <p:nvSpPr>
          <p:cNvPr id="13" name="Rectangle 12"/>
          <p:cNvSpPr/>
          <p:nvPr/>
        </p:nvSpPr>
        <p:spPr>
          <a:xfrm>
            <a:off x="4337304" y="4215383"/>
            <a:ext cx="3514344" cy="13716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7304" y="4215383"/>
            <a:ext cx="3514344"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5904" y="4434839"/>
            <a:ext cx="3057144" cy="457200"/>
          </a:xfrm>
          <a:prstGeom prst="rect">
            <a:avLst/>
          </a:prstGeom>
          <a:noFill/>
        </p:spPr>
        <p:txBody>
          <a:bodyPr wrap="square" anchor="t">
            <a:spAutoFit/>
          </a:bodyPr>
          <a:lstStyle/>
          <a:p>
            <a:pPr algn="l">
              <a:spcAft>
                <a:spcPts val="400"/>
              </a:spcAft>
            </a:pPr>
            <a:r>
              <a:rPr sz="1600" b="1">
                <a:solidFill>
                  <a:srgbClr val="102A43"/>
                </a:solidFill>
                <a:latin typeface="Cambria"/>
              </a:rPr>
              <a:t>오늘 배운 게 나온다</a:t>
            </a:r>
          </a:p>
        </p:txBody>
      </p:sp>
      <p:sp>
        <p:nvSpPr>
          <p:cNvPr id="16" name="TextBox 15"/>
          <p:cNvSpPr txBox="1"/>
          <p:nvPr/>
        </p:nvSpPr>
        <p:spPr>
          <a:xfrm>
            <a:off x="4565904" y="4873751"/>
            <a:ext cx="3057144" cy="640080"/>
          </a:xfrm>
          <a:prstGeom prst="rect">
            <a:avLst/>
          </a:prstGeom>
          <a:noFill/>
        </p:spPr>
        <p:txBody>
          <a:bodyPr wrap="square" anchor="t">
            <a:spAutoFit/>
          </a:bodyPr>
          <a:lstStyle/>
          <a:p>
            <a:pPr algn="l">
              <a:spcAft>
                <a:spcPts val="400"/>
              </a:spcAft>
            </a:pPr>
            <a:r>
              <a:rPr sz="1250" b="0">
                <a:solidFill>
                  <a:srgbClr val="52606D"/>
                </a:solidFill>
                <a:latin typeface="Calibri"/>
              </a:rPr>
              <a:t>HS·TO(발 닿음·발 뜸), 전처리, 특징 추출 — 오늘 6부 내용 그대로.</a:t>
            </a:r>
          </a:p>
        </p:txBody>
      </p:sp>
      <p:sp>
        <p:nvSpPr>
          <p:cNvPr id="17" name="Rectangle 16"/>
          <p:cNvSpPr/>
          <p:nvPr/>
        </p:nvSpPr>
        <p:spPr>
          <a:xfrm>
            <a:off x="8034528" y="4215383"/>
            <a:ext cx="3514344" cy="13716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4528" y="4215383"/>
            <a:ext cx="3514344"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3128" y="4434839"/>
            <a:ext cx="3057144" cy="457200"/>
          </a:xfrm>
          <a:prstGeom prst="rect">
            <a:avLst/>
          </a:prstGeom>
          <a:noFill/>
        </p:spPr>
        <p:txBody>
          <a:bodyPr wrap="square" anchor="t">
            <a:spAutoFit/>
          </a:bodyPr>
          <a:lstStyle/>
          <a:p>
            <a:pPr algn="l">
              <a:spcAft>
                <a:spcPts val="400"/>
              </a:spcAft>
            </a:pPr>
            <a:r>
              <a:rPr sz="1600" b="1">
                <a:solidFill>
                  <a:srgbClr val="102A43"/>
                </a:solidFill>
                <a:latin typeface="Cambria"/>
              </a:rPr>
              <a:t>현실적 난이도</a:t>
            </a:r>
          </a:p>
        </p:txBody>
      </p:sp>
      <p:sp>
        <p:nvSpPr>
          <p:cNvPr id="20" name="TextBox 19"/>
          <p:cNvSpPr txBox="1"/>
          <p:nvPr/>
        </p:nvSpPr>
        <p:spPr>
          <a:xfrm>
            <a:off x="8263128" y="4873751"/>
            <a:ext cx="3057144" cy="640080"/>
          </a:xfrm>
          <a:prstGeom prst="rect">
            <a:avLst/>
          </a:prstGeom>
          <a:noFill/>
        </p:spPr>
        <p:txBody>
          <a:bodyPr wrap="square" anchor="t">
            <a:spAutoFit/>
          </a:bodyPr>
          <a:lstStyle/>
          <a:p>
            <a:pPr algn="l">
              <a:spcAft>
                <a:spcPts val="400"/>
              </a:spcAft>
            </a:pPr>
            <a:r>
              <a:rPr sz="1250" b="0">
                <a:solidFill>
                  <a:srgbClr val="52606D"/>
                </a:solidFill>
                <a:latin typeface="Calibri"/>
              </a:rPr>
              <a:t>무거운 딥러닝이 아니라 트리 계열 모델. 우리도 재현할 수 있다.</a:t>
            </a:r>
          </a:p>
        </p:txBody>
      </p:sp>
      <p:sp>
        <p:nvSpPr>
          <p:cNvPr id="21" name="Rectangle 20"/>
          <p:cNvSpPr/>
          <p:nvPr/>
        </p:nvSpPr>
        <p:spPr>
          <a:xfrm>
            <a:off x="640080" y="5824727"/>
            <a:ext cx="10908792" cy="621792"/>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24727"/>
            <a:ext cx="10241280" cy="621792"/>
          </a:xfrm>
          <a:prstGeom prst="rect">
            <a:avLst/>
          </a:prstGeom>
          <a:noFill/>
        </p:spPr>
        <p:txBody>
          <a:bodyPr wrap="square" anchor="ctr">
            <a:spAutoFit/>
          </a:bodyPr>
          <a:lstStyle/>
          <a:p>
            <a:pPr algn="l">
              <a:spcAft>
                <a:spcPts val="400"/>
              </a:spcAft>
            </a:pPr>
            <a:r>
              <a:rPr sz="1500" b="1">
                <a:solidFill>
                  <a:srgbClr val="FFFFFF"/>
                </a:solidFill>
                <a:latin typeface="Calibri"/>
              </a:rPr>
              <a:t>다음 발표자께 — 이 논문을 5단계 틀(문제·데이터·방법·결과·시사점)로 리뷰해 주세요</a:t>
            </a:r>
          </a:p>
        </p:txBody>
      </p:sp>
      <p:sp>
        <p:nvSpPr>
          <p:cNvPr id="23" name="TextBox 22"/>
          <p:cNvSpPr txBox="1"/>
          <p:nvPr/>
        </p:nvSpPr>
        <p:spPr>
          <a:xfrm>
            <a:off x="640080" y="6537959"/>
            <a:ext cx="10515600" cy="274320"/>
          </a:xfrm>
          <a:prstGeom prst="rect">
            <a:avLst/>
          </a:prstGeom>
          <a:noFill/>
        </p:spPr>
        <p:txBody>
          <a:bodyPr wrap="square" anchor="t">
            <a:spAutoFit/>
          </a:bodyPr>
          <a:lstStyle/>
          <a:p>
            <a:pPr algn="l">
              <a:spcAft>
                <a:spcPts val="400"/>
              </a:spcAft>
            </a:pPr>
            <a:r>
              <a:rPr sz="900" b="0">
                <a:solidFill>
                  <a:srgbClr val="829AB1"/>
                </a:solidFill>
                <a:latin typeface="Calibri"/>
              </a:rPr>
              <a:t>출처  Applied Sciences 2026, 16(3):1397 (MDPI, Open Access) — mdpi.com/2076-3417/16/3/1397</a:t>
            </a:r>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7356</ep:Words>
  <ep:PresentationFormat>와이드스크린</ep:PresentationFormat>
  <ep:Paragraphs>782</ep:Paragraphs>
  <ep:Slides>40</ep:Slides>
  <ep:Notes>40</ep:Notes>
  <ep:TotalTime>0</ep:TotalTime>
  <ep:HiddenSlides>0</ep:HiddenSlides>
  <ep:MMClips>0</ep:MMClips>
  <ep:HeadingPairs>
    <vt:vector size="4" baseType="variant">
      <vt:variant>
        <vt:lpstr>테마</vt:lpstr>
      </vt:variant>
      <vt:variant>
        <vt:i4>1</vt:i4>
      </vt:variant>
      <vt:variant>
        <vt:lpstr>슬라이드 제목</vt:lpstr>
      </vt:variant>
      <vt:variant>
        <vt:i4>40</vt:i4>
      </vt:variant>
    </vt:vector>
  </ep:HeadingPairs>
  <ep:TitlesOfParts>
    <vt:vector size="41"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lpstr>슬라이드 23</vt:lpstr>
      <vt:lpstr>슬라이드 24</vt:lpstr>
      <vt:lpstr>슬라이드 25</vt:lpstr>
      <vt:lpstr>슬라이드 26</vt:lpstr>
      <vt:lpstr>슬라이드 27</vt:lpstr>
      <vt:lpstr>슬라이드 28</vt:lpstr>
      <vt:lpstr>슬라이드 29</vt:lpstr>
      <vt:lpstr>슬라이드 30</vt:lpstr>
      <vt:lpstr>슬라이드 31</vt:lpstr>
      <vt:lpstr>슬라이드 32</vt:lpstr>
      <vt:lpstr>슬라이드 33</vt:lpstr>
      <vt:lpstr>슬라이드 34</vt:lpstr>
      <vt:lpstr>슬라이드 35</vt:lpstr>
      <vt:lpstr>슬라이드 36</vt:lpstr>
      <vt:lpstr>슬라이드 37</vt:lpstr>
      <vt:lpstr>슬라이드 38</vt:lpstr>
      <vt:lpstr>슬라이드 39</vt:lpstr>
      <vt:lpstr>슬라이드 40</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2026-08-23T13:58:24.000</dcterms:created>
  <dc:creator>조효성</dc:creator>
  <cp:lastModifiedBy>ethyo</cp:lastModifiedBy>
  <dcterms:modified xsi:type="dcterms:W3CDTF">2026-08-30T12:39:41.983</dcterms:modified>
  <cp:revision>27</cp:revision>
  <dc:subject>PptxGenJS Presentation</dc:subject>
  <dc:title>재활 로봇은 사람을 어떻게 돕는가</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