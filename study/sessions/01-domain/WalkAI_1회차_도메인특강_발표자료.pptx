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12192000"/>
  <p:embeddedFontLst>
    <p:embeddedFont>
      <p:font typeface="Roboto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je22ja4swQRlUCXCRXtCELTF+c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519C6A-3043-467B-8096-0DB6AF6AD831}">
  <a:tblStyle styleId="{C1519C6A-3043-467B-8096-0DB6AF6AD83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regular.fntdata"/><Relationship Id="rId25" Type="http://schemas.openxmlformats.org/officeDocument/2006/relationships/slide" Target="slides/slide20.xml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KQNNLOsqX44&amp;t=2537s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ab26915d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fab26915d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가장 중요한 다섯 개를 난이도·접근성 순으로 정리하면 이렇습니다.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GaitMotion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— 시작용으로 가장 좋은 데이터입니다. 정상·파킨슨·뇌졸중 보행을 담았고, GitHub에서 가입 없이 바로 받을 수 있으며, 스텝 분할·보행 파라미터가 이미 계산돼 있어 입문에 이상적입니다.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https://github.com/Zhang-Wenwen/GaitMotion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GAITEX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— 우리 주제에 가장 잘 맞는 주력 데이터입니다. 정상/손상 보행과 재활운동을 9개 IMU + 모션캡처로 기록했고, Zenodo에서 바로 받을 수 있습니다.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https://zenodo.org/records/15729055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(논문은 Nature Scientific Data)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WearGait-PD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— 대규모 임상 데이터입니다. 파킨슨 환자 100명 + 대조군 85명을 13개 IMU와 압력 깔창으로 측정했고, Synapse에서 가입 후 받습니다. (다소 무거워 후반부용)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PhysioNet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— 의료 시계열 데이터의 대표 저장소입니다. 신경퇴행성 질환 보행 등 여러 데이터가 있는데,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데이터마다 접근 등급이 다르니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(오픈/제한/인증) 받기 전 확인이 필요합니다.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https://physionet.org/about/database/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NONAN GaitPrint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— 건강한 성인 35명의 전신 IMU 데이터로, 정상 보행 기준선 학습용 예비 데이터입니다.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13~18주 AI 모델링: colab 무료 버전으로도 충분하다고 하는데,,, 아니면 colab 월 만원 정도…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fab26915d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오늘은 우리 랩이 6개월간 다룰 '재활'과 '보행'이라는 도메인의 기초를 함께 잡는 시간입니다.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여러분 대부분 파이썬·AI는 익숙하지만 의료 도메인은 </a:t>
            </a:r>
            <a:r>
              <a:rPr lang="en-US"/>
              <a:t>일부 멤버를 제외하고</a:t>
            </a:r>
            <a:r>
              <a:rPr lang="en-US"/>
              <a:t> </a:t>
            </a:r>
            <a:r>
              <a:rPr lang="en-US"/>
              <a:t>낯설 듯 합니다.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물론 여기에서 병원 재직하시는 분들도 있을 듯 합니다</a:t>
            </a:r>
            <a:r>
              <a:rPr lang="en-US"/>
              <a:t>, </a:t>
            </a:r>
            <a:r>
              <a:rPr lang="en-US"/>
              <a:t>우리가 앞으로</a:t>
            </a:r>
            <a:r>
              <a:rPr lang="en-US"/>
              <a:t> 만질 데이터가 '무엇을 재는 숫자인지' 감이 </a:t>
            </a:r>
            <a:r>
              <a:rPr lang="en-US"/>
              <a:t>잡을 수 있도록 설명 드리겠습니다</a:t>
            </a:r>
            <a:r>
              <a:rPr lang="en-US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제가 이쪽 분야를 많이 알아서 이렇게 설명하는 건 아니고요, </a:t>
            </a:r>
            <a:r>
              <a:rPr lang="en-US"/>
              <a:t>함께 생각하</a:t>
            </a:r>
            <a:r>
              <a:rPr lang="en-US"/>
              <a:t>고 공유하는 자리라고 생각해 주시면 감사할 듯 합니다.</a:t>
            </a:r>
            <a:endParaRPr/>
          </a:p>
        </p:txBody>
      </p:sp>
      <p:sp>
        <p:nvSpPr>
          <p:cNvPr id="23" name="Google Shape;2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833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“재활로봇은 환자가 착용하고 훈련하는 동안 관절 각도, 토크, 발이 닿는 순간 같은 데이터를 끊임없이 만들어냅니다. </a:t>
            </a:r>
            <a:endParaRPr sz="1000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20833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</a:pPr>
            <a:r>
              <a:rPr lang="en-US" sz="1000" u="sng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2"/>
              </a:rPr>
              <a:t>https://www.youtube.com/watch?v=KQNNLOsqX44&amp;t=2537s</a:t>
            </a:r>
            <a:r>
              <a:rPr lang="en-US" sz="10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 : 38분 05초 위치</a:t>
            </a:r>
            <a:endParaRPr sz="1000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20833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20833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그런데 이 데이터가 '이 환자가 얼마나 회복됐는가'를 증명하는 데는 잘 쓰이지 못하고 있습니다.” “로봇을 만드는 공학과, 그 효과를 입증하는 임상연구 사이에 간극이 있기 때문입니다. 저는 현업에서 이 간극을 매일 보고 있고, 그걸 여러분과 함께 메워보고 싶어 이 랩을 열었습니다.” “그 간극을 메우려면 먼저 '걷는다'는 걸 과학이 어떻게 쪼개 측정하는지 알아야 합니다. 그게 보행분석입니다.”</a:t>
            </a:r>
            <a:endParaRPr sz="1000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20833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lnSpc>
                <a:spcPct val="120833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생체 역학적 지표(biomechanical metrics) - 힘, 관절의 움직임 근육의 작용 등을 수치로 측정하고 평가하는 지표, 이게 자세히 분석해 보면, 눈으로 보기 힘든 보행의 세부적인 역학적 특징을 분석해서 신체 불균형이나 질병을 파악하는 데 사용한다고 합니다. </a:t>
            </a:r>
            <a:endParaRPr sz="1000">
              <a:solidFill>
                <a:srgbClr val="222222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" name="Google Shape;6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 그림이 오늘 </a:t>
            </a:r>
            <a:r>
              <a:rPr lang="en-US"/>
              <a:t>공유 자리</a:t>
            </a:r>
            <a:r>
              <a:rPr lang="en-US"/>
              <a:t>의 뼈대입니다.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왼쪽에서 오른쪽으로, 한 걸음이 어떻게 8단계로 나뉘는지 보여줍니다. Stance Phase</a:t>
            </a:r>
            <a:r>
              <a:rPr lang="en-US"/>
              <a:t>가</a:t>
            </a:r>
            <a:r>
              <a:rPr lang="en-US"/>
              <a:t> 입각기(땅을 딛고 버티는 5단계), Swing Phase이 유각기(발을 들어 나아가는 3단계)입니다.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[여기서 멤버들에게 살짝 언질] '8단계를 지금 다 외우실 필요는 없습니다.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처음이라 전부 암기하려 하면 오히려 머리에 안 남아요. 오늘은 두 가지 큰 그림만 가져가시면 됩니다 — (1) 입각기 60% / 유각기 40%로 나뉜다는 것, (2) 데이터에서 가장 중요한 두 경계는 발이 닿는 순간(초기 접지)과 발이 뜨는 순간(발끝 떼기)이라는 것. 나머지 세부 단계는 이렇게 세분된다는 존재만 알아두시고, 실제 데이터를 만지면서 자연스럽게 익히면 됩니다.'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[함께 고민] 만약 로봇이 '발끝 떼기' 순간을 0.1초 늦게 인식하면 환자에게 어떤 일이 생길</a:t>
            </a:r>
            <a:r>
              <a:rPr lang="en-US"/>
              <a:t>지 한 번 고민해 보는 것도 좋을 듯 합니다</a:t>
            </a:r>
            <a:r>
              <a:rPr lang="en-US"/>
              <a:t> — 발이 아직 안 떴는데 로봇이 들어올리거나, 이미 떴는데 지지를 안 해줘서 넘어질 수 있죠. 그래서 이 타이밍 인식이 안전과 직결됩니다.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생체역학적으로 인간의 보행 주기는 약 1초~1.2초 내외, 발이 땅에 닿는 순간(접지)이나 떨어지는 순간(이륙)은 불과 수십 ms(밀리초) 사이에 급격한 역학적 변화 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1) </a:t>
            </a:r>
            <a:r>
              <a:rPr b="1" lang="en-US"/>
              <a:t>보조가 아닌 '저항'으로 작용 (역효과):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오히려 방해하는 브레이크 역할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을 하여 피로도가 급격히 상승합니다.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2) 보행 불균형 및 넘어짐 위험 (안전성 문제):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로봇의 무게와 힘이 합쳐져 사용자가 크게 넘어질 수 있습니다.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3) 피부擦상 및 통증 (착용감 저하): 로봇 고정부(스트랩)가 피부를 강하게 긁거나 압박하여 통증 및 상처를 유발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적절한 인식 시간의 기준: 웨어러블 로봇이 사람과 ‘한 몸’처럼 자연스럽게 움직이려면 제어 시스템의 전체 지연 시간(센서 인식-&gt;판단-&gt;모터 구동)이 인간의 신경근 반응 속도보다 빨라야 합니다.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테슬라(옵티머스), 현대차 보스턴 다이나믹스의 아틀라스, 외골곡 로봇의 관절은 BLDC 모터 기반의 액추에이터가 들어 갑니다.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이미지의 위치: https://m.blog.naver.com/lim123400/221188563215</a:t>
            </a:r>
            <a:endParaRPr/>
          </a:p>
        </p:txBody>
      </p:sp>
      <p:sp>
        <p:nvSpPr>
          <p:cNvPr id="102" name="Google Shape;1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앞 그림을 표로 정리한 것입니다. '아, 걷기 한 번이 이렇게 잘게 나뉘는구나' 정도의 감만 주면 충분합니다.</a:t>
            </a:r>
            <a:br>
              <a:rPr lang="en-US"/>
            </a:br>
            <a:br>
              <a:rPr lang="en-US"/>
            </a:br>
            <a:r>
              <a:rPr lang="en-US"/>
              <a:t>각 단계를 한 줄씩 짚어주되, 특히 ①초기 접지와 ⑤~⑥ 발끝 떼기 구간을 강조하세요. 이 두 경계가 다음 회차에 데이터에서 라벨을 붙일 때 기준이 됩니다.</a:t>
            </a:r>
            <a:br>
              <a:rPr lang="en-US"/>
            </a:br>
            <a:br>
              <a:rPr lang="en-US"/>
            </a:br>
            <a:r>
              <a:rPr lang="en-US"/>
              <a:t>[함께 고민] 8단계 중 센서로 경계를 잡아내기 가장 쉬운 단계와 가장 애매한 단계는? — 발이 땅에 닿거나 떨어지는 순간(초기 접지·발끝 떼기)은 압력·가속도가 확 바뀌어 잡기 쉽고, 중간 유각처럼 공중에서 부드럽게 넘어가는 구간은 경계가 흐릿합니다. 실제로 </a:t>
            </a:r>
            <a:r>
              <a:rPr lang="en-US"/>
              <a:t>우리가 앞으로 보게될 </a:t>
            </a:r>
            <a:r>
              <a:rPr lang="en-US"/>
              <a:t>논문에서도 swing과 mid-swing 사이 구분이 가장 어려웠다고 나옵니다.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영상(비전)과 센서(IMU 등)를 막론하고 구분하기 가장 까다로운 구간은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'입각기(Stance Phase)' 내부의 연속적인 전환 단계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인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부하반응기(Loading Response), 중간입각기(Mid-Stance), 말기입각기(Terminal Stance)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구간, 어려운 이유는 지면 접촉 상태의 변화 부족(센서 한계), 환경 및 보행 변동성(변수)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과거에는 특정 임계값을 기준으로 삼는 '룰 기반(Rule-based)'이나 'SVM/KNN' 같은 전통적 머신러닝이 주로 쓰였으나, 최근 발표되는 논문들은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시계열 데이터의 장기적 의존성(Context)과 복잡한 패턴을 스스로 학습하는 딥러닝 모델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을 완전히 주류로 채택 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초기 접지(발 닿음)이 중요한 이유: 보행 주기(Gait Cycle) 계산의 '시작점(기준 시계)'이자 오차 누적을 막는 리셋 버튼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역할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발끝 떼기(Toe-off)가 중요한 핵심 이유 : 로봇의 힘 보조 모드가 완전히 뒤바뀌는 ‘대전환점’이자 환자가 넘어지지 않도록 유각기를 제어하는 절대적 타이밍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 장표에서 보시는 시공간 파라미터는 현재 대략 175~178cm 전후의 성인 남성의 평지 보행을 기준으로 삼은 전형적인 임상학적 참고 데이터 입니다.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참고로 AI 및 제어 알고리즘 설계할 때 주의점으로는 =&gt; 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재활 웨어러블 로봇의 AI 모델을 만들 때 이 수치들을 고정값(Hard-coded)으로 쓰시면 안 됩니다. 환자의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성별, 키(다리 길이), 연령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을 입력받아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'개인별 맞춤형 정상 목표치'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를 먼저 계산(Scaling)한 뒤, 환자의 현재 데이터와 비교하는 방식으로 알고리즘을 설계해야 정확한 회복도 평가가 가능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스텝 너비(Step width)의 특징 : 양발 사이 간격(5~10 cm)은 성인의 골반 너비와 신체 안정성을 반영한 표준 수치입니다. 환자들의 경우 좌우 균형 감각이 무너지면 이 너비를 15~20cm 이상으로 넓혀서 걷는(Waddling/Broad-based gait) 경향 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족하수, 원회전 보행, 골반들기, 뻣뻣한 무릎: 편마비 환자나 신경계 손상 환자들에게서 가장 흔하게 나타나는 형태학적 이상 보행 들입니다.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족하수: 발목 드는 힘이 약해서 유각기에 발끝이 처지는 보행 패턴, 발가락이 바닥에 걸려 넘어지거나, 족하수를 피하려고 환자가 무릎을 과도하게 높이 들어 올리며 걷는 ‘계상 보행’의 원인이 되는 동작입니다. 이걸 데이터 관점에서 보면 ⇒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IMU (각속도/가속도)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: 유각기(다리가 뜰 때) 동안 발목 관절의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배굴(Dorsiflexion, 위로 꺾임) 각도가 전혀 나오지 않거나 마이너스 값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을 기록합니다.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족압 센서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: 정상 보행은 '뒤꿈치 ➡️ 발바닥 ➡️ 앞꿈치' 순으로 닿아야 하는데, 족하수가 있으면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앞꿈치가 먼저 닿거나(Toe-strike)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발바닥 전체가 한 번에 쿵 하고 떨어집니다.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/>
              <a:t>일단 족하수 1개만 설명합니다…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핵심 메시지는 '이 패턴들이 마비 자체가 아니라 보상 동작'이라는 점, 그리고 '보상(or 즉, 로봇 보조력)이 줄어드는 정도가 회복의 지표가 될 수 있다'는 점입니다. 이게 우리 랩이 파고들 수 있는 연구 질문의 씨앗이라고 강조하세요.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[함께 고민] '원회전이 줄면 회복된 것'을 데이터로 증명하려면 무엇을 시간에 따라 측정해야 할까요? — 넙다리 벌림 각도, 골반 들기 높이 등을 훈련 회차마다 재서 감소 추세를 보면 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Weak Dorsiflexor Gait, Foot Slap Gait &amp;Steppage Gait: https://www.youtube.com/watch?v=R8LRCiTvUz8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Gait Deviations: Foot &amp;Ankle | Initial Contact of the Gait Cycle: https://www.youtube.com/watch?v=JvZlh-0Dapw</a:t>
            </a:r>
            <a:endParaRPr/>
          </a:p>
        </p:txBody>
      </p:sp>
      <p:sp>
        <p:nvSpPr>
          <p:cNvPr id="185" name="Google Shape;18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TUG(Timed Up and Go, 일어나 걸어가기 검사)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는 환자가 의자에서 일어나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3미터를 걸어간 뒤, 반환점을 돌아와 다시 의자에 앉기까지 걸리는 시간(초)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을 측정하는 임상 보행 평가 지표입니다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BBS(Berg Balance Scale, 버그 균형 척도 ) :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환자의 정적 및 동적 균형 능력을 측정하는 14개 항목, 총 56점 만점의 표준화된 검사 도구입니다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 앉기, 서기, 자세 변화 등 일상생활의 기능적 동작을 0~4점으로 평가하여 낙상 위험과 보행 능력을 예측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BBS가 정적·동적 균형을 종합적으로 본다면, TUG는 실제 일상생활에서 필요한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복합적인 '동적 이동 능력(Mobility)'을 가장 신속하게 선별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하는 검사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최소 유의 변화(MDC, Minimal Detectable Change)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는 환자의 검사 점수 변화가 단순한 '측정 오차'나 '우연'이 아니라,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"실제 환자의 신체 상태가 호전되거나 악화되어 나타난 진짜 변화"라고 신뢰할 수 있는 최소한의 문턱값(역치)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을 의미, 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MDC는 통계적 계산(통상 95% 신뢰구간)을 통해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이 오차 범위를 넘어선 진짜 변화의 기준선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을 제시  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참고로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임상에서는 MDC와 함께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MCID(Minimally Clinically Important Difference, 최소 임상적 의미 있는 차이)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라는 개념도 씁니다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, 즉 MDC는 수학적 개념이고 MCID는 임상적 개념이라고 함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초록을 천천히 읽어주며, 오늘 배운 개념이 어디에 나오는지 짚어주세요. '보행 단계(입각·유각·중간유각)' = 우리가 8단계에서 배운 것, 'HS·TO 검출' = 발 닿음·발끝 떼기 두 경계, 'IMU 데이터' = 다음 회차에 열어볼 것. 97% 정확도라는 숫자는 '공개 데이터만으로 이만큼 된다'는 자신감을 주는 근거로 쓰세요.</a:t>
            </a:r>
            <a:br>
              <a:rPr lang="en-US"/>
            </a:br>
            <a:br>
              <a:rPr lang="en-US"/>
            </a:br>
            <a:r>
              <a:rPr lang="en-US"/>
              <a:t>중요: 이 논문이 쓴 데이터셋(Zafar et al.)에는 IMU·EMG뿐 아니라 관절각 엔코더, 족저압까지 들어 있습니다. 즉 '생체 신호 + 관절/기구 데이터'가 이미 한 데이터셋에 있다는 것 — 이게 뒤 슬라이드에서 말할 '융합'의 씨앗입니다.</a:t>
            </a:r>
            <a:endParaRPr/>
          </a:p>
        </p:txBody>
      </p:sp>
      <p:sp>
        <p:nvSpPr>
          <p:cNvPr id="259" name="Google Shape;25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 슬라이드가 랩의 비전을 파는 자리입니다. 멤버들에게 '우리는 공개 데이터만 만지는 흔한 스터디가 아니라, 진짜 현장 데이터로 가는 길이 있는 랩'이라는 인상을 주세요. 다만 그 융합을 1차 시즌 목표로 잡지는 않는다는 점 — 데이터 반출에 시간이 걸리고, 팀 실력을 먼저 쌓아야 하기 때문 — 을 솔직하게 설명하면 오히려 신뢰가 갑니다.</a:t>
            </a:r>
            <a:br>
              <a:rPr lang="en-US"/>
            </a:br>
            <a:br>
              <a:rPr lang="en-US"/>
            </a:br>
            <a:r>
              <a:rPr lang="en-US"/>
              <a:t>데이터 반출 시 비식별화와 회사 보안 정책 준수는 반드시 지킬 원칙이라고 언급하세요. 제안서에 쓴 '비식별화된 데이터만 사용' 약속과 이어집니다.</a:t>
            </a:r>
            <a:br>
              <a:rPr lang="en-US"/>
            </a:br>
            <a:br>
              <a:rPr lang="en-US"/>
            </a:br>
            <a:r>
              <a:rPr lang="en-US"/>
              <a:t>[함께 고민] 이 논문에 우리가 '한 가지'를 더한다면 무엇을 더해야 새로운 기여가 될까요? — 여기서 우리 랩의 연구 주제 후보가 나옵니다. 양다리 확장, 환자 데이터 적용, 로봇 토크 데이터 결합 등이 후보입니다.</a:t>
            </a:r>
            <a:endParaRPr/>
          </a:p>
        </p:txBody>
      </p:sp>
      <p:sp>
        <p:nvSpPr>
          <p:cNvPr id="300" name="Google Shape;30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오늘 배운 것을 한 문장으로 묶어주고, 다음 회차로 자연스럽게 넘기며 마무리하세요. 발제 순번과 첫 논문 배정을 이 시점에 공지하면 좋습니다. 질문 받고 마칩니다.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FE1CB"/>
              </a:buClr>
              <a:buSzPts val="1200"/>
              <a:buFont typeface="Cambria"/>
              <a:buNone/>
            </a:pPr>
            <a:r>
              <a:rPr b="1" lang="en-US">
                <a:solidFill>
                  <a:srgbClr val="9FE1CB"/>
                </a:solidFill>
                <a:latin typeface="Cambria"/>
                <a:ea typeface="Cambria"/>
                <a:cs typeface="Cambria"/>
                <a:sym typeface="Cambria"/>
              </a:rPr>
              <a:t>다음 회차 예고</a:t>
            </a:r>
            <a:endParaRPr b="1">
              <a:solidFill>
                <a:srgbClr val="9FE1C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공개 데이터셋(PhysioNet 등)을 파이썬으로 직접 열어, 오늘 배운 보행 이벤트·파라미터·이상 패턴이 신호 속에서 어떻게 나타나는지 확인한다. 오늘 리뷰한 논문의 파이프라인을 우리 손으로 재현하는 것이 첫 실습 목표.</a:t>
            </a:r>
            <a:endParaRPr b="1">
              <a:solidFill>
                <a:srgbClr val="9FE1C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23" name="Google Shape;32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ab26915df_0_0"/>
          <p:cNvSpPr/>
          <p:nvPr/>
        </p:nvSpPr>
        <p:spPr>
          <a:xfrm>
            <a:off x="640080" y="502920"/>
            <a:ext cx="5486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E56"/>
              </a:buClr>
              <a:buSzPts val="3600"/>
              <a:buFont typeface="Cambria"/>
              <a:buNone/>
            </a:pPr>
            <a:r>
              <a:rPr b="1" lang="en-US" sz="3600">
                <a:solidFill>
                  <a:srgbClr val="1D6E56"/>
                </a:solidFill>
                <a:latin typeface="Cambria"/>
                <a:ea typeface="Cambria"/>
                <a:cs typeface="Cambria"/>
                <a:sym typeface="Cambria"/>
              </a:rPr>
              <a:t>예상 스케줄 -마일스톤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g3fab26915df_0_0"/>
          <p:cNvSpPr/>
          <p:nvPr/>
        </p:nvSpPr>
        <p:spPr>
          <a:xfrm>
            <a:off x="640080" y="644652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WalkAI LAB · 1회차 도메인 특강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fab26915df_0_0"/>
          <p:cNvSpPr/>
          <p:nvPr/>
        </p:nvSpPr>
        <p:spPr>
          <a:xfrm>
            <a:off x="11338560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9;g3fab26915df_0_0" title="WalkAI_26주_로드맵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1234320"/>
            <a:ext cx="10329247" cy="4907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4A3A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"/>
          <p:cNvSpPr/>
          <p:nvPr/>
        </p:nvSpPr>
        <p:spPr>
          <a:xfrm>
            <a:off x="640080" y="640080"/>
            <a:ext cx="2377440" cy="457200"/>
          </a:xfrm>
          <a:prstGeom prst="roundRect">
            <a:avLst>
              <a:gd fmla="val 50000" name="adj"/>
            </a:avLst>
          </a:prstGeom>
          <a:solidFill>
            <a:srgbClr val="BA75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640080" y="64008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WalkAI LAB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재활의학과 보행분석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40080" y="329184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E1CB"/>
              </a:buClr>
              <a:buSzPts val="2800"/>
              <a:buFont typeface="Cambria"/>
              <a:buNone/>
            </a:pPr>
            <a:r>
              <a:rPr b="0" i="0" lang="en-US" sz="2800" u="none" cap="none" strike="noStrike">
                <a:solidFill>
                  <a:srgbClr val="9FE1CB"/>
                </a:solidFill>
                <a:latin typeface="Cambria"/>
                <a:ea typeface="Cambria"/>
                <a:cs typeface="Cambria"/>
                <a:sym typeface="Cambria"/>
              </a:rPr>
              <a:t>우리는 어떤 데이터를 다루게 되는가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85800" y="49377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1회차 도메인 특강</a:t>
            </a:r>
            <a:r>
              <a:rPr b="0" i="0" lang="en-US" sz="1600" u="none" cap="none" strike="noStrike">
                <a:solidFill>
                  <a:srgbClr val="9FE1C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85800" y="54864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BB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7FCBB0"/>
                </a:solidFill>
                <a:latin typeface="Calibri"/>
                <a:ea typeface="Calibri"/>
                <a:cs typeface="Calibri"/>
                <a:sym typeface="Calibri"/>
              </a:rPr>
              <a:t>공학과 임상 사이의 간극을 데이터로 메운다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640080" y="50292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E56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1D6E56"/>
                </a:solidFill>
                <a:latin typeface="Cambria"/>
                <a:ea typeface="Cambria"/>
                <a:cs typeface="Cambria"/>
                <a:sym typeface="Cambria"/>
              </a:rPr>
              <a:t>목차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58368" y="11430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40080" y="1783080"/>
            <a:ext cx="914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ED6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C9DED6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645920" y="182880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C2C2A"/>
                </a:solidFill>
                <a:latin typeface="Cambria"/>
                <a:ea typeface="Cambria"/>
                <a:cs typeface="Cambria"/>
                <a:sym typeface="Cambria"/>
              </a:rPr>
              <a:t>왜 보행(Gait)인가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645920" y="2331720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공학과 임상의 간극, 그리고 데이터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40080" y="3200400"/>
            <a:ext cx="914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ED6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C9DED6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645920" y="324612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C2C2A"/>
                </a:solidFill>
                <a:latin typeface="Cambria"/>
                <a:ea typeface="Cambria"/>
                <a:cs typeface="Cambria"/>
                <a:sym typeface="Cambria"/>
              </a:rPr>
              <a:t>보행 주기 8단계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645920" y="3749040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한 걸음의 완전한 해부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40080" y="4617720"/>
            <a:ext cx="914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ED6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C9DED6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645920" y="466344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C2C2A"/>
                </a:solidFill>
                <a:latin typeface="Cambria"/>
                <a:ea typeface="Cambria"/>
                <a:cs typeface="Cambria"/>
                <a:sym typeface="Cambria"/>
              </a:rPr>
              <a:t>무엇을 숫자로 재는가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645920" y="5166360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시공간 파라미터와 특징(feature)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309360" y="1783080"/>
            <a:ext cx="914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ED6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C9DED6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315200" y="182880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C2C2A"/>
                </a:solidFill>
                <a:latin typeface="Cambria"/>
                <a:ea typeface="Cambria"/>
                <a:cs typeface="Cambria"/>
                <a:sym typeface="Cambria"/>
              </a:rPr>
              <a:t>재활 환자의 이상 보행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315200" y="2331720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족하수·원회전·보상 동작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309360" y="3200400"/>
            <a:ext cx="914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ED6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C9DED6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315200" y="324612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C2C2A"/>
                </a:solidFill>
                <a:latin typeface="Cambria"/>
                <a:ea typeface="Cambria"/>
                <a:cs typeface="Cambria"/>
                <a:sym typeface="Cambria"/>
              </a:rPr>
              <a:t>회복을 증명하는 평가지표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7315200" y="3749040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10MWT·6MWT와 최소 유의 변화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309360" y="4617720"/>
            <a:ext cx="914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ED6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C9DED6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7315200" y="466344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2C2C2A"/>
                </a:solidFill>
                <a:latin typeface="Cambria"/>
                <a:ea typeface="Cambria"/>
                <a:cs typeface="Cambria"/>
                <a:sym typeface="Cambria"/>
              </a:rPr>
              <a:t>유사 논문 리뷰 &amp; AI 연결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7315200" y="5166360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우리가 갈 길의 실물 예시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WalkAI LAB · 1회차 도메인 특강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6E56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640080" y="228600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A751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A7517"/>
                </a:solidFill>
                <a:latin typeface="Calibri"/>
                <a:ea typeface="Calibri"/>
                <a:cs typeface="Calibri"/>
                <a:sym typeface="Calibri"/>
              </a:rPr>
              <a:t>SECTION 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40080" y="2743200"/>
            <a:ext cx="10881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왜 보행(Gait)인가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E56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D6E56"/>
                </a:solidFill>
                <a:latin typeface="Cambria"/>
                <a:ea typeface="Cambria"/>
                <a:cs typeface="Cambria"/>
                <a:sym typeface="Cambria"/>
              </a:rPr>
              <a:t>공학과 임상, 그 사이의 간극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40080" y="1463040"/>
            <a:ext cx="3520440" cy="2468880"/>
          </a:xfrm>
          <a:prstGeom prst="roundRect">
            <a:avLst>
              <a:gd fmla="val 4444" name="adj"/>
            </a:avLst>
          </a:prstGeom>
          <a:solidFill>
            <a:srgbClr val="F1F5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914400" y="1737360"/>
            <a:ext cx="640080" cy="640080"/>
          </a:xfrm>
          <a:prstGeom prst="ellipse">
            <a:avLst/>
          </a:prstGeom>
          <a:solidFill>
            <a:srgbClr val="1D6E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914400" y="17373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914400" y="251460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C2C2A"/>
                </a:solidFill>
                <a:latin typeface="Cambria"/>
                <a:ea typeface="Cambria"/>
                <a:cs typeface="Cambria"/>
                <a:sym typeface="Cambria"/>
              </a:rPr>
              <a:t>로봇이 데이터를 만든다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914400" y="310896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환자가 착용해 훈련하는 동안 관절 각도·토크·보행 이벤트가 실시간으로 쌓인다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434840" y="1463040"/>
            <a:ext cx="3520440" cy="2468880"/>
          </a:xfrm>
          <a:prstGeom prst="roundRect">
            <a:avLst>
              <a:gd fmla="val 4444" name="adj"/>
            </a:avLst>
          </a:prstGeom>
          <a:solidFill>
            <a:srgbClr val="F1F5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709160" y="1737360"/>
            <a:ext cx="640080" cy="640080"/>
          </a:xfrm>
          <a:prstGeom prst="ellipse">
            <a:avLst/>
          </a:prstGeom>
          <a:solidFill>
            <a:srgbClr val="BA75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4709160" y="17373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709160" y="251460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C2C2A"/>
                </a:solidFill>
                <a:latin typeface="Cambria"/>
                <a:ea typeface="Cambria"/>
                <a:cs typeface="Cambria"/>
                <a:sym typeface="Cambria"/>
              </a:rPr>
              <a:t>하지만 근거가 되지 못한다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709160" y="310896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이 데이터가 '얼마나 회복되었나'를 증명하는 데 쓰이는 경우는 아직 드물다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8229600" y="1463040"/>
            <a:ext cx="3520440" cy="2468880"/>
          </a:xfrm>
          <a:prstGeom prst="roundRect">
            <a:avLst>
              <a:gd fmla="val 4444" name="adj"/>
            </a:avLst>
          </a:prstGeom>
          <a:solidFill>
            <a:srgbClr val="F1F5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8503920" y="1737360"/>
            <a:ext cx="640080" cy="640080"/>
          </a:xfrm>
          <a:prstGeom prst="ellipse">
            <a:avLst/>
          </a:prstGeom>
          <a:solidFill>
            <a:srgbClr val="1D6E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8503920" y="17373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8503920" y="251460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C2C2A"/>
                </a:solidFill>
                <a:latin typeface="Cambria"/>
                <a:ea typeface="Cambria"/>
                <a:cs typeface="Cambria"/>
                <a:sym typeface="Cambria"/>
              </a:rPr>
              <a:t>우리가 간극을 메운다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8503920" y="310896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보행분석 + AI + 임상연구를 함께 배워, 데이터를 회복의 근거로 바꾼다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40080" y="4251960"/>
            <a:ext cx="10927080" cy="1737360"/>
          </a:xfrm>
          <a:prstGeom prst="roundRect">
            <a:avLst>
              <a:gd fmla="val 6316" name="adj"/>
            </a:avLst>
          </a:prstGeom>
          <a:solidFill>
            <a:srgbClr val="0F4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960120" y="448056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E1CB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9FE1CB"/>
                </a:solidFill>
                <a:latin typeface="Cambria"/>
                <a:ea typeface="Cambria"/>
                <a:cs typeface="Cambria"/>
                <a:sym typeface="Cambria"/>
              </a:rPr>
              <a:t>보행분석(Gait Analysis)이란?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960120" y="4983480"/>
            <a:ext cx="10332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사람의 걷기·달리기를 체계적으로 연구해 생체역학적 지표와 움직임 패턴을 평가하는 분야. 이상 보행의 진단, 재활 과정 평가, 보조기·의족 설계에 두루 쓰인다.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40080" y="6080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출처: 미국물리의학재활학회(AAPM&amp;R) PM&amp;R KnowledgeNow — Biomechanics of Normal Gait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WalkAI LAB · 1회차 도메인 특강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6E56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/>
          <p:nvPr/>
        </p:nvSpPr>
        <p:spPr>
          <a:xfrm>
            <a:off x="640080" y="228600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A751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A7517"/>
                </a:solidFill>
                <a:latin typeface="Calibri"/>
                <a:ea typeface="Calibri"/>
                <a:cs typeface="Calibri"/>
                <a:sym typeface="Calibri"/>
              </a:rPr>
              <a:t>SECTION 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40080" y="2743200"/>
            <a:ext cx="10881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보행 주기 8단계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E5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D6E56"/>
                </a:solidFill>
                <a:latin typeface="Cambria"/>
                <a:ea typeface="Cambria"/>
                <a:cs typeface="Cambria"/>
                <a:sym typeface="Cambria"/>
              </a:rPr>
              <a:t>한 걸음의 완전한 해부 — 보행 주기 8단계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658368" y="10515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입각기 5단계(땅을 딛고 버팀) + 유각기 3단계(발을 들어 나아감). 한 발의 착지에서 같은 발의 다음 착지까지가 한 주기.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40080" y="60807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Rancho Los Amigos 분류 (Perry, 1992). 8개 이벤트가 주기를 7개 구간으로 나눈다.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WalkAI LAB · 1회차 도메인 특강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6191" y="1594209"/>
            <a:ext cx="9002382" cy="394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E56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D6E56"/>
                </a:solidFill>
                <a:latin typeface="Cambria"/>
                <a:ea typeface="Cambria"/>
                <a:cs typeface="Cambria"/>
                <a:sym typeface="Cambria"/>
              </a:rPr>
              <a:t>8단계, 각 단계에서 무슨 일이 일어나는가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6" name="Google Shape;116;p7"/>
          <p:cNvGraphicFramePr/>
          <p:nvPr/>
        </p:nvGraphicFramePr>
        <p:xfrm>
          <a:off x="64008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{C1519C6A-3043-467B-8096-0DB6AF6AD831}</a:tableStyleId>
              </a:tblPr>
              <a:tblGrid>
                <a:gridCol w="2103125"/>
                <a:gridCol w="1463050"/>
                <a:gridCol w="736092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단계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6E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주기 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6E5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무슨 일이 일어나는가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6E56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6E5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D6E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① 초기 접지</a:t>
                      </a:r>
                      <a:endParaRPr b="1" sz="1250" u="none" cap="none" strike="noStrike">
                        <a:solidFill>
                          <a:srgbClr val="1D6E5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6E5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D6E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(heel strike)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C2C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C2C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발이 땅에 처음 닿는 순간(발뒤꿈치). 주기의 시작·양발 지지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6E5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D6E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② 부하 반응</a:t>
                      </a:r>
                      <a:endParaRPr b="1" sz="1250" u="none" cap="none" strike="noStrike">
                        <a:solidFill>
                          <a:srgbClr val="1D6E5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6E5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D6E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(loading response)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C2C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0–10%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C2C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몸무게가 앞다리로 실리고, 무릎이 살짝 굽어 충격 흡수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3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6E5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D6E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③ 중간 입각</a:t>
                      </a:r>
                      <a:endParaRPr b="1" sz="1250" u="none" cap="none" strike="noStrike">
                        <a:solidFill>
                          <a:srgbClr val="1D6E5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6E5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>
                          <a:solidFill>
                            <a:srgbClr val="1D6E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(mid-stance)</a:t>
                      </a:r>
                      <a:endParaRPr b="1" sz="1250">
                        <a:solidFill>
                          <a:srgbClr val="1D6E5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C2C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10–30%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C2C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반대 발이 뜬 단일 지지. 몸이 발 위를 지나 앞으로 이동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6E5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D6E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④ 말기 입각</a:t>
                      </a:r>
                      <a:endParaRPr b="1" sz="1250" u="none" cap="none" strike="noStrike">
                        <a:solidFill>
                          <a:srgbClr val="1D6E5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6E5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>
                          <a:solidFill>
                            <a:srgbClr val="1D6E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(terminal-stance)</a:t>
                      </a:r>
                      <a:endParaRPr b="1" sz="1250">
                        <a:solidFill>
                          <a:srgbClr val="1D6E5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C2C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30–50%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C2C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발뒤꿈치가 들리고 무게중심이 발 앞쪽으로 넘어감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3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6E5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D6E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⑤ 전 유각</a:t>
                      </a:r>
                      <a:endParaRPr b="1" sz="1250" u="none" cap="none" strike="noStrike">
                        <a:solidFill>
                          <a:srgbClr val="1D6E5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6E5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>
                          <a:solidFill>
                            <a:srgbClr val="1D6E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(pre-swing)</a:t>
                      </a:r>
                      <a:endParaRPr b="1" sz="1250">
                        <a:solidFill>
                          <a:srgbClr val="1D6E5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C2C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50–60%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C2C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발끝 떼기 직전. 두 번째 양발 지지, 흔들 준비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A7517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BA751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⑥ 초기 유각</a:t>
                      </a:r>
                      <a:endParaRPr b="1" sz="1250" u="none" cap="none" strike="noStrike">
                        <a:solidFill>
                          <a:srgbClr val="BA751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A7517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>
                          <a:solidFill>
                            <a:srgbClr val="BA751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(toe-off)</a:t>
                      </a:r>
                      <a:endParaRPr b="1" sz="1250">
                        <a:solidFill>
                          <a:srgbClr val="BA751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C2C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60–73%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C2C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발이 땅을 떠나 앞으로. 무릎 굽혀 발이 끌리지 않게 듦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3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A7517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BA751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⑦ 중간 유각</a:t>
                      </a:r>
                      <a:endParaRPr b="1" sz="1250">
                        <a:solidFill>
                          <a:srgbClr val="BA751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A7517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>
                          <a:solidFill>
                            <a:srgbClr val="BA751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(middle-swing)</a:t>
                      </a:r>
                      <a:endParaRPr b="1" sz="1250">
                        <a:solidFill>
                          <a:srgbClr val="BA751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C2C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73–87%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C2C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흔드는 다리가 몸 바로 아래를 지남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A7517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BA751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⑧ 말기 유각</a:t>
                      </a:r>
                      <a:endParaRPr b="1" sz="1250" u="none" cap="none" strike="noStrike">
                        <a:solidFill>
                          <a:srgbClr val="BA7517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A7517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BA751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(terminal-swing)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C2C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87–100%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C2C2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2C2C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정강이 수직·다리 뻗어 다음 착지 준비 → 다음 주기 시작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3"/>
                    </a:solidFill>
                  </a:tcPr>
                </a:tc>
              </a:tr>
            </a:tbl>
          </a:graphicData>
        </a:graphic>
      </p:graphicFrame>
      <p:sp>
        <p:nvSpPr>
          <p:cNvPr id="117" name="Google Shape;117;p7"/>
          <p:cNvSpPr/>
          <p:nvPr/>
        </p:nvSpPr>
        <p:spPr>
          <a:xfrm>
            <a:off x="640080" y="6172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초록 = 입각기 · 주황 = 유각기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WalkAI LAB · 1회차 도메인 특강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E5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D6E56"/>
                </a:solidFill>
                <a:latin typeface="Cambria"/>
                <a:ea typeface="Cambria"/>
                <a:cs typeface="Cambria"/>
                <a:sym typeface="Cambria"/>
              </a:rPr>
              <a:t>왜 로봇에게 이 구분이 중요한가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재활로봇은 '지금 환자가 어느 단계인지'를 실시간으로 알아야, 그 타이밍에 맞춰 힘을 보조할 수 있다.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640080" y="1828800"/>
            <a:ext cx="5303520" cy="1645920"/>
          </a:xfrm>
          <a:prstGeom prst="roundRect">
            <a:avLst>
              <a:gd fmla="val 6667" name="adj"/>
            </a:avLst>
          </a:prstGeom>
          <a:solidFill>
            <a:srgbClr val="F1F5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1005840" y="21031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A7517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BA7517"/>
                </a:solidFill>
                <a:latin typeface="Cambria"/>
                <a:ea typeface="Cambria"/>
                <a:cs typeface="Cambria"/>
                <a:sym typeface="Cambria"/>
              </a:rPr>
              <a:t>유각기에는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1005840" y="2606040"/>
            <a:ext cx="4663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발목을 들어올려 발이 땅에 끌리지 않게 보조한다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6263640" y="1828800"/>
            <a:ext cx="5303520" cy="1645920"/>
          </a:xfrm>
          <a:prstGeom prst="roundRect">
            <a:avLst>
              <a:gd fmla="val 6667" name="adj"/>
            </a:avLst>
          </a:prstGeom>
          <a:solidFill>
            <a:srgbClr val="F1F5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6629400" y="21031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E56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D6E56"/>
                </a:solidFill>
                <a:latin typeface="Cambria"/>
                <a:ea typeface="Cambria"/>
                <a:cs typeface="Cambria"/>
                <a:sym typeface="Cambria"/>
              </a:rPr>
              <a:t>입각기에는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6629400" y="2606040"/>
            <a:ext cx="4663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무릎이 꺾이지 않도록 몸무게를 지지한다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640080" y="3840480"/>
            <a:ext cx="10927080" cy="1371600"/>
          </a:xfrm>
          <a:prstGeom prst="roundRect">
            <a:avLst>
              <a:gd fmla="val 8000" name="adj"/>
            </a:avLst>
          </a:prstGeom>
          <a:solidFill>
            <a:srgbClr val="FBF3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960120" y="4160520"/>
            <a:ext cx="10332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A7517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BA7517"/>
                </a:solidFill>
                <a:latin typeface="Cambria"/>
                <a:ea typeface="Cambria"/>
                <a:cs typeface="Cambria"/>
                <a:sym typeface="Cambria"/>
              </a:rPr>
              <a:t>핵심   </a:t>
            </a:r>
            <a:r>
              <a:rPr b="0" i="0" lang="en-US" sz="15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데이터에서 가장 중요한 두 경계는 </a:t>
            </a:r>
            <a:r>
              <a:rPr b="1" i="0" lang="en-US" sz="1500" u="none" cap="none" strike="noStrike">
                <a:solidFill>
                  <a:srgbClr val="1D6E56"/>
                </a:solidFill>
                <a:latin typeface="Calibri"/>
                <a:ea typeface="Calibri"/>
                <a:cs typeface="Calibri"/>
                <a:sym typeface="Calibri"/>
              </a:rPr>
              <a:t>초기 접지(발 닿음)</a:t>
            </a:r>
            <a:r>
              <a:rPr b="0" i="0" lang="en-US" sz="15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와 </a:t>
            </a:r>
            <a:r>
              <a:rPr b="1" i="0" lang="en-US" sz="1500" u="none" cap="none" strike="noStrike">
                <a:solidFill>
                  <a:srgbClr val="BA7517"/>
                </a:solidFill>
                <a:latin typeface="Calibri"/>
                <a:ea typeface="Calibri"/>
                <a:cs typeface="Calibri"/>
                <a:sym typeface="Calibri"/>
              </a:rPr>
              <a:t>발끝 떼기(발 뜸)</a:t>
            </a:r>
            <a:r>
              <a:rPr b="0" i="0" lang="en-US" sz="15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. 이 둘만 확실히 잡아도 절반은 끝난다.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640080" y="544068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실제 웨어러블 로봇 제어 특허(US 10556335)도 보행 주기를 8개 동작으로 나누어 인식한다.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WalkAI LAB · 1회차 도메인 특강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6E56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/>
          <p:nvPr/>
        </p:nvSpPr>
        <p:spPr>
          <a:xfrm>
            <a:off x="640080" y="228600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A751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A7517"/>
                </a:solidFill>
                <a:latin typeface="Calibri"/>
                <a:ea typeface="Calibri"/>
                <a:cs typeface="Calibri"/>
                <a:sym typeface="Calibri"/>
              </a:rPr>
              <a:t>SECTION 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640080" y="2743200"/>
            <a:ext cx="10881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무엇을 숫자로 재는가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E56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D6E56"/>
                </a:solidFill>
                <a:latin typeface="Cambria"/>
                <a:ea typeface="Cambria"/>
                <a:cs typeface="Cambria"/>
                <a:sym typeface="Cambria"/>
              </a:rPr>
              <a:t>시공간 파라미터 — AI 특징(feature)의 출발점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640080" y="1371600"/>
            <a:ext cx="10927080" cy="914400"/>
          </a:xfrm>
          <a:prstGeom prst="roundRect">
            <a:avLst>
              <a:gd fmla="val 8000" name="adj"/>
            </a:avLst>
          </a:prstGeom>
          <a:solidFill>
            <a:srgbClr val="F1F5F3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"/>
          <p:cNvSpPr/>
          <p:nvPr/>
        </p:nvSpPr>
        <p:spPr>
          <a:xfrm>
            <a:off x="914400" y="146304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E56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D6E56"/>
                </a:solidFill>
                <a:latin typeface="Cambria"/>
                <a:ea typeface="Cambria"/>
                <a:cs typeface="Cambria"/>
                <a:sym typeface="Cambria"/>
              </a:rPr>
              <a:t>보폭 / 활보장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914400" y="190195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Stride length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3474720" y="1371600"/>
            <a:ext cx="5852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한 발의 착지부터 같은 발의 다음 착지까지 (한 주기 전체)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9418320" y="137160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A7517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BA7517"/>
                </a:solidFill>
                <a:latin typeface="Cambria"/>
                <a:ea typeface="Cambria"/>
                <a:cs typeface="Cambria"/>
                <a:sym typeface="Cambria"/>
              </a:rPr>
              <a:t>약 144 cm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640080" y="2423160"/>
            <a:ext cx="1092708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914400" y="251460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E56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D6E56"/>
                </a:solidFill>
                <a:latin typeface="Cambria"/>
                <a:ea typeface="Cambria"/>
                <a:cs typeface="Cambria"/>
                <a:sym typeface="Cambria"/>
              </a:rPr>
              <a:t>스텝 길이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914400" y="295351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Step length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3474720" y="2423160"/>
            <a:ext cx="5852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한 발 착지부터 반대 발 착지까지. 좌우 같아야 정상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9418320" y="242316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A7517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BA7517"/>
                </a:solidFill>
                <a:latin typeface="Cambria"/>
                <a:ea typeface="Cambria"/>
                <a:cs typeface="Cambria"/>
                <a:sym typeface="Cambria"/>
              </a:rPr>
              <a:t>약 72 cm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640080" y="3474720"/>
            <a:ext cx="10927080" cy="914400"/>
          </a:xfrm>
          <a:prstGeom prst="roundRect">
            <a:avLst>
              <a:gd fmla="val 8000" name="adj"/>
            </a:avLst>
          </a:prstGeom>
          <a:solidFill>
            <a:srgbClr val="F1F5F3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914400" y="356616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E56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D6E56"/>
                </a:solidFill>
                <a:latin typeface="Cambria"/>
                <a:ea typeface="Cambria"/>
                <a:cs typeface="Cambria"/>
                <a:sym typeface="Cambria"/>
              </a:rPr>
              <a:t>스텝 너비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914400" y="400507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Step width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3474720" y="3474720"/>
            <a:ext cx="5852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양발 사이 좌우 간격. 균형·안정성과 관련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9418320" y="347472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A7517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BA7517"/>
                </a:solidFill>
                <a:latin typeface="Cambria"/>
                <a:ea typeface="Cambria"/>
                <a:cs typeface="Cambria"/>
                <a:sym typeface="Cambria"/>
              </a:rPr>
              <a:t>약 5–10 cm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640080" y="4526280"/>
            <a:ext cx="1092708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914400" y="461772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E56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D6E56"/>
                </a:solidFill>
                <a:latin typeface="Cambria"/>
                <a:ea typeface="Cambria"/>
                <a:cs typeface="Cambria"/>
                <a:sym typeface="Cambria"/>
              </a:rPr>
              <a:t>분속수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914400" y="505663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Cadence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3474720" y="4526280"/>
            <a:ext cx="5852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1분당 걸음 수. 보행 속도 = 스텝 길이 × 분속수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9418320" y="452628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A7517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BA7517"/>
                </a:solidFill>
                <a:latin typeface="Cambria"/>
                <a:ea typeface="Cambria"/>
                <a:cs typeface="Cambria"/>
                <a:sym typeface="Cambria"/>
              </a:rPr>
              <a:t>100–120/min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640080" y="57150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환자는 이 값들이 정상에서 벗어나 있다. 재활이 성공하면 정상에 가까워진다 → 이 변화가 곧 '회복의 증거'.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출처: OrthoFixar — Gait Cycle: Phases &amp; Biomechanics. 참고값은 정상 성인 평균.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WalkAI LAB · 1회차 도메인 특강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6E56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/>
          <p:nvPr/>
        </p:nvSpPr>
        <p:spPr>
          <a:xfrm>
            <a:off x="640080" y="228600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A751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A7517"/>
                </a:solidFill>
                <a:latin typeface="Calibri"/>
                <a:ea typeface="Calibri"/>
                <a:cs typeface="Calibri"/>
                <a:sym typeface="Calibri"/>
              </a:rPr>
              <a:t>SECTION 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640080" y="2743200"/>
            <a:ext cx="10881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재활 환자의 이상 보행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E56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D6E56"/>
                </a:solidFill>
                <a:latin typeface="Cambria"/>
                <a:ea typeface="Cambria"/>
                <a:cs typeface="Cambria"/>
                <a:sym typeface="Cambria"/>
              </a:rPr>
              <a:t>우리가 데이터에서 마주할 것 — 이상 보행 패턴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658368" y="10972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재활로봇을 착용하는 환자 다수는 뇌졸중 편마비 환자. 정상과 뚜렷이 다른 패턴을 보인다.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640080" y="1600200"/>
            <a:ext cx="5303520" cy="1051560"/>
          </a:xfrm>
          <a:prstGeom prst="roundRect">
            <a:avLst>
              <a:gd fmla="val 8696" name="adj"/>
            </a:avLst>
          </a:prstGeom>
          <a:solidFill>
            <a:srgbClr val="F1F5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2"/>
          <p:cNvSpPr/>
          <p:nvPr/>
        </p:nvSpPr>
        <p:spPr>
          <a:xfrm>
            <a:off x="914400" y="1892808"/>
            <a:ext cx="457200" cy="457200"/>
          </a:xfrm>
          <a:prstGeom prst="ellipse">
            <a:avLst/>
          </a:prstGeom>
          <a:solidFill>
            <a:srgbClr val="BA75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2"/>
          <p:cNvSpPr/>
          <p:nvPr/>
        </p:nvSpPr>
        <p:spPr>
          <a:xfrm>
            <a:off x="914400" y="18928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1554480" y="173736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2C2C2A"/>
                </a:solidFill>
                <a:latin typeface="Cambria"/>
                <a:ea typeface="Cambria"/>
                <a:cs typeface="Cambria"/>
                <a:sym typeface="Cambria"/>
              </a:rPr>
              <a:t>족하수  </a:t>
            </a:r>
            <a:r>
              <a:rPr b="0" i="1" lang="en-US" sz="12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Foot drop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1554480" y="213055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발목 드는 힘이 약해 유각기에 발끝이 처짐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6217920" y="1600200"/>
            <a:ext cx="5303520" cy="1051560"/>
          </a:xfrm>
          <a:prstGeom prst="roundRect">
            <a:avLst>
              <a:gd fmla="val 8696" name="adj"/>
            </a:avLst>
          </a:prstGeom>
          <a:solidFill>
            <a:srgbClr val="F1F5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"/>
          <p:cNvSpPr/>
          <p:nvPr/>
        </p:nvSpPr>
        <p:spPr>
          <a:xfrm>
            <a:off x="6492240" y="1892808"/>
            <a:ext cx="457200" cy="457200"/>
          </a:xfrm>
          <a:prstGeom prst="ellipse">
            <a:avLst/>
          </a:prstGeom>
          <a:solidFill>
            <a:srgbClr val="BA75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2"/>
          <p:cNvSpPr/>
          <p:nvPr/>
        </p:nvSpPr>
        <p:spPr>
          <a:xfrm>
            <a:off x="6492240" y="18928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7132320" y="173736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2C2C2A"/>
                </a:solidFill>
                <a:latin typeface="Cambria"/>
                <a:ea typeface="Cambria"/>
                <a:cs typeface="Cambria"/>
                <a:sym typeface="Cambria"/>
              </a:rPr>
              <a:t>원회전 보행  </a:t>
            </a:r>
            <a:r>
              <a:rPr b="0" i="1" lang="en-US" sz="12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Circumduction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7132320" y="213055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다리를 바깥으로 반원을 그리며 돌려 발을 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640080" y="2834640"/>
            <a:ext cx="5303520" cy="1051560"/>
          </a:xfrm>
          <a:prstGeom prst="roundRect">
            <a:avLst>
              <a:gd fmla="val 8696" name="adj"/>
            </a:avLst>
          </a:prstGeom>
          <a:solidFill>
            <a:srgbClr val="F1F5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2"/>
          <p:cNvSpPr/>
          <p:nvPr/>
        </p:nvSpPr>
        <p:spPr>
          <a:xfrm>
            <a:off x="914400" y="3127248"/>
            <a:ext cx="457200" cy="457200"/>
          </a:xfrm>
          <a:prstGeom prst="ellipse">
            <a:avLst/>
          </a:prstGeom>
          <a:solidFill>
            <a:srgbClr val="BA75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2"/>
          <p:cNvSpPr/>
          <p:nvPr/>
        </p:nvSpPr>
        <p:spPr>
          <a:xfrm>
            <a:off x="914400" y="31272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1554480" y="297180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2C2C2A"/>
                </a:solidFill>
                <a:latin typeface="Cambria"/>
                <a:ea typeface="Cambria"/>
                <a:cs typeface="Cambria"/>
                <a:sym typeface="Cambria"/>
              </a:rPr>
              <a:t>골반 들기  </a:t>
            </a:r>
            <a:r>
              <a:rPr b="0" i="1" lang="en-US" sz="12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Hip hiking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1554480" y="336499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발을 띄우려 골반을 통째로 들어올림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6217920" y="2834640"/>
            <a:ext cx="5303520" cy="1051560"/>
          </a:xfrm>
          <a:prstGeom prst="roundRect">
            <a:avLst>
              <a:gd fmla="val 8696" name="adj"/>
            </a:avLst>
          </a:prstGeom>
          <a:solidFill>
            <a:srgbClr val="F1F5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2"/>
          <p:cNvSpPr/>
          <p:nvPr/>
        </p:nvSpPr>
        <p:spPr>
          <a:xfrm>
            <a:off x="6492240" y="3127248"/>
            <a:ext cx="457200" cy="457200"/>
          </a:xfrm>
          <a:prstGeom prst="ellipse">
            <a:avLst/>
          </a:prstGeom>
          <a:solidFill>
            <a:srgbClr val="BA75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"/>
          <p:cNvSpPr/>
          <p:nvPr/>
        </p:nvSpPr>
        <p:spPr>
          <a:xfrm>
            <a:off x="6492240" y="31272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7132320" y="297180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2C2C2A"/>
                </a:solidFill>
                <a:latin typeface="Cambria"/>
                <a:ea typeface="Cambria"/>
                <a:cs typeface="Cambria"/>
                <a:sym typeface="Cambria"/>
              </a:rPr>
              <a:t>뻣뻣한 무릎  </a:t>
            </a:r>
            <a:r>
              <a:rPr b="0" i="1" lang="en-US" sz="12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Stiff-knee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7132320" y="3364992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유각기에 무릎이 충분히 굽지 않음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640080" y="4251960"/>
            <a:ext cx="10927080" cy="1417320"/>
          </a:xfrm>
          <a:prstGeom prst="roundRect">
            <a:avLst>
              <a:gd fmla="val 7742" name="adj"/>
            </a:avLst>
          </a:prstGeom>
          <a:solidFill>
            <a:srgbClr val="0F4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"/>
          <p:cNvSpPr/>
          <p:nvPr/>
        </p:nvSpPr>
        <p:spPr>
          <a:xfrm>
            <a:off x="960120" y="4434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E1CB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9FE1CB"/>
                </a:solidFill>
                <a:latin typeface="Cambria"/>
                <a:ea typeface="Cambria"/>
                <a:cs typeface="Cambria"/>
                <a:sym typeface="Cambria"/>
              </a:rPr>
              <a:t>핵심 통찰 — 보상은 '문제'이자 '회복의 단서'다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960120" y="4892040"/>
            <a:ext cx="10332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이 패턴들은 마비 자체가 아니라 극복하려는 '보상 동작'. 최근 연구는 원회전이 줄어드는 정도가 곧 회복 지표가 될 수 있다고 본다. 우리 랩의 연구 질문 씨앗이 여기 있다.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출처: Li S. (2020) Toxins; Frontiers in Physiology (2018); 급성 뇌졸중 원회전 종단 연구 PMC12693794 (2024).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WalkAI LAB · 1회차 도메인 특강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6E56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"/>
          <p:cNvSpPr/>
          <p:nvPr/>
        </p:nvSpPr>
        <p:spPr>
          <a:xfrm>
            <a:off x="640080" y="228600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A751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A7517"/>
                </a:solidFill>
                <a:latin typeface="Calibri"/>
                <a:ea typeface="Calibri"/>
                <a:cs typeface="Calibri"/>
                <a:sym typeface="Calibri"/>
              </a:rPr>
              <a:t>SECTION 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640080" y="2743200"/>
            <a:ext cx="10881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회복을 증명하는 평가지표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E56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D6E56"/>
                </a:solidFill>
                <a:latin typeface="Cambria"/>
                <a:ea typeface="Cambria"/>
                <a:cs typeface="Cambria"/>
                <a:sym typeface="Cambria"/>
              </a:rPr>
              <a:t>임상 평가지표 — 실생활에서 얼마나 잘 걷는가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640080" y="1371600"/>
            <a:ext cx="1737360" cy="731520"/>
          </a:xfrm>
          <a:prstGeom prst="roundRect">
            <a:avLst>
              <a:gd fmla="val 10000" name="adj"/>
            </a:avLst>
          </a:prstGeom>
          <a:solidFill>
            <a:srgbClr val="1D6E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4"/>
          <p:cNvSpPr/>
          <p:nvPr/>
        </p:nvSpPr>
        <p:spPr>
          <a:xfrm>
            <a:off x="640080" y="1371600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10MWT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2606040" y="137160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C2C2A"/>
                </a:solidFill>
                <a:latin typeface="Cambria"/>
                <a:ea typeface="Cambria"/>
                <a:cs typeface="Cambria"/>
                <a:sym typeface="Cambria"/>
              </a:rPr>
              <a:t>10미터 보행검사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5486400" y="1371600"/>
            <a:ext cx="6035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10m를 걷는 시간으로 보행 속도(m/s) 측정. 하지 기능 회복의 대표 지표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4"/>
          <p:cNvSpPr/>
          <p:nvPr/>
        </p:nvSpPr>
        <p:spPr>
          <a:xfrm>
            <a:off x="640080" y="2240280"/>
            <a:ext cx="1737360" cy="731520"/>
          </a:xfrm>
          <a:prstGeom prst="roundRect">
            <a:avLst>
              <a:gd fmla="val 10000" name="adj"/>
            </a:avLst>
          </a:prstGeom>
          <a:solidFill>
            <a:srgbClr val="1D6E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4"/>
          <p:cNvSpPr/>
          <p:nvPr/>
        </p:nvSpPr>
        <p:spPr>
          <a:xfrm>
            <a:off x="640080" y="2240280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6MWT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2606040" y="224028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C2C2A"/>
                </a:solidFill>
                <a:latin typeface="Cambria"/>
                <a:ea typeface="Cambria"/>
                <a:cs typeface="Cambria"/>
                <a:sym typeface="Cambria"/>
              </a:rPr>
              <a:t>6분 보행검사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5486400" y="2240280"/>
            <a:ext cx="6035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6분간 걸은 거리(m). 보행 지구력·심폐 기능까지 반영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640080" y="3108960"/>
            <a:ext cx="1737360" cy="731520"/>
          </a:xfrm>
          <a:prstGeom prst="roundRect">
            <a:avLst>
              <a:gd fmla="val 10000" name="adj"/>
            </a:avLst>
          </a:prstGeom>
          <a:solidFill>
            <a:srgbClr val="1D6E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4"/>
          <p:cNvSpPr/>
          <p:nvPr/>
        </p:nvSpPr>
        <p:spPr>
          <a:xfrm>
            <a:off x="640080" y="3108960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TUG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4"/>
          <p:cNvSpPr/>
          <p:nvPr/>
        </p:nvSpPr>
        <p:spPr>
          <a:xfrm>
            <a:off x="2606040" y="310896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C2C2A"/>
                </a:solidFill>
                <a:latin typeface="Cambria"/>
                <a:ea typeface="Cambria"/>
                <a:cs typeface="Cambria"/>
                <a:sym typeface="Cambria"/>
              </a:rPr>
              <a:t>일어나 걷기 검사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4"/>
          <p:cNvSpPr/>
          <p:nvPr/>
        </p:nvSpPr>
        <p:spPr>
          <a:xfrm>
            <a:off x="5486400" y="3108960"/>
            <a:ext cx="6035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일어나 3m 걷고 돌아와 앉기까지 시간. 이동성·균형 평가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/>
          <p:nvPr/>
        </p:nvSpPr>
        <p:spPr>
          <a:xfrm>
            <a:off x="640080" y="3977640"/>
            <a:ext cx="1737360" cy="731520"/>
          </a:xfrm>
          <a:prstGeom prst="roundRect">
            <a:avLst>
              <a:gd fmla="val 10000" name="adj"/>
            </a:avLst>
          </a:prstGeom>
          <a:solidFill>
            <a:srgbClr val="1D6E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4"/>
          <p:cNvSpPr/>
          <p:nvPr/>
        </p:nvSpPr>
        <p:spPr>
          <a:xfrm>
            <a:off x="640080" y="3977640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BBS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4"/>
          <p:cNvSpPr/>
          <p:nvPr/>
        </p:nvSpPr>
        <p:spPr>
          <a:xfrm>
            <a:off x="2606040" y="397764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C2C2A"/>
                </a:solidFill>
                <a:latin typeface="Cambria"/>
                <a:ea typeface="Cambria"/>
                <a:cs typeface="Cambria"/>
                <a:sym typeface="Cambria"/>
              </a:rPr>
              <a:t>버그 균형 척도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5486400" y="3977640"/>
            <a:ext cx="6035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여러 과제로 균형 능력을 점수화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640080" y="4983480"/>
            <a:ext cx="10927080" cy="960120"/>
          </a:xfrm>
          <a:prstGeom prst="roundRect">
            <a:avLst>
              <a:gd fmla="val 9524" name="adj"/>
            </a:avLst>
          </a:prstGeom>
          <a:solidFill>
            <a:srgbClr val="FBF3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4"/>
          <p:cNvSpPr/>
          <p:nvPr/>
        </p:nvSpPr>
        <p:spPr>
          <a:xfrm>
            <a:off x="960120" y="5120640"/>
            <a:ext cx="10332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A751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BA7517"/>
                </a:solidFill>
                <a:latin typeface="Cambria"/>
                <a:ea typeface="Cambria"/>
                <a:cs typeface="Cambria"/>
                <a:sym typeface="Cambria"/>
              </a:rPr>
              <a:t>최소 유의 변화(MDC)   </a:t>
            </a:r>
            <a:r>
              <a:rPr b="0" i="0" lang="en-US" sz="135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측정값 변화가 '진짜 회복'인지 '오차'인지 가르는 기준선. 아급성 뇌졸중 6MWT는 약 61m 넘게 늘어야 의미 있는 개선.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640080" y="60533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출처: ClinicalTrials.gov (NCT03395717, 6MWT MDC 60.98m); Henderson 2022; Lin 2020 (입원 시 보행 지표가 3개월 예후 예측).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WalkAI LAB · 1회차 도메인 특강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6E56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"/>
          <p:cNvSpPr/>
          <p:nvPr/>
        </p:nvSpPr>
        <p:spPr>
          <a:xfrm>
            <a:off x="640080" y="228600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A751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A7517"/>
                </a:solidFill>
                <a:latin typeface="Calibri"/>
                <a:ea typeface="Calibri"/>
                <a:cs typeface="Calibri"/>
                <a:sym typeface="Calibri"/>
              </a:rPr>
              <a:t>SECTION 06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/>
          <p:nvPr/>
        </p:nvSpPr>
        <p:spPr>
          <a:xfrm>
            <a:off x="640080" y="2743200"/>
            <a:ext cx="10881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유사 논문 리뷰 &amp; AI 연결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"/>
          <p:cNvSpPr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E56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D6E56"/>
                </a:solidFill>
                <a:latin typeface="Cambria"/>
                <a:ea typeface="Cambria"/>
                <a:cs typeface="Cambria"/>
                <a:sym typeface="Cambria"/>
              </a:rPr>
              <a:t>우리가 갈 길의 실물 예시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640080" y="1097280"/>
            <a:ext cx="10927080" cy="1234440"/>
          </a:xfrm>
          <a:prstGeom prst="roundRect">
            <a:avLst>
              <a:gd fmla="val 7407" name="adj"/>
            </a:avLst>
          </a:prstGeom>
          <a:solidFill>
            <a:srgbClr val="F1F5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6"/>
          <p:cNvSpPr/>
          <p:nvPr/>
        </p:nvSpPr>
        <p:spPr>
          <a:xfrm>
            <a:off x="914400" y="1234440"/>
            <a:ext cx="10424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2C2C2A"/>
                </a:solidFill>
                <a:latin typeface="Cambria"/>
                <a:ea typeface="Cambria"/>
                <a:cs typeface="Cambria"/>
                <a:sym typeface="Cambria"/>
              </a:rPr>
              <a:t>Machine Learning Models for Reliable Gait Phase Detection Using Lower-Limb Wearable Sensor Data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6"/>
          <p:cNvSpPr/>
          <p:nvPr/>
        </p:nvSpPr>
        <p:spPr>
          <a:xfrm>
            <a:off x="914400" y="1828800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Fiaz, Guido &amp; Conforti  ·  </a:t>
            </a:r>
            <a:r>
              <a:rPr b="1" i="0" lang="en-US" sz="1250" u="none" cap="none" strike="noStrike">
                <a:solidFill>
                  <a:srgbClr val="1D6E56"/>
                </a:solidFill>
                <a:latin typeface="Calibri"/>
                <a:ea typeface="Calibri"/>
                <a:cs typeface="Calibri"/>
                <a:sym typeface="Calibri"/>
              </a:rPr>
              <a:t>Applied Sciences 16(3):1397  ·  2026년 1월  ·  Open Access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6"/>
          <p:cNvSpPr/>
          <p:nvPr/>
        </p:nvSpPr>
        <p:spPr>
          <a:xfrm>
            <a:off x="640080" y="2514600"/>
            <a:ext cx="10927080" cy="2331720"/>
          </a:xfrm>
          <a:prstGeom prst="roundRect">
            <a:avLst>
              <a:gd fmla="val 3922" name="adj"/>
            </a:avLst>
          </a:prstGeom>
          <a:solidFill>
            <a:srgbClr val="FFFFFF"/>
          </a:solidFill>
          <a:ln cap="flat" cmpd="sng" w="12700">
            <a:solidFill>
              <a:srgbClr val="1D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6"/>
          <p:cNvSpPr/>
          <p:nvPr/>
        </p:nvSpPr>
        <p:spPr>
          <a:xfrm>
            <a:off x="914400" y="26517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E5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D6E56"/>
                </a:solidFill>
                <a:latin typeface="Cambria"/>
                <a:ea typeface="Cambria"/>
                <a:cs typeface="Cambria"/>
                <a:sym typeface="Cambria"/>
              </a:rPr>
              <a:t>초록 (Abstract) 요약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6"/>
          <p:cNvSpPr/>
          <p:nvPr/>
        </p:nvSpPr>
        <p:spPr>
          <a:xfrm>
            <a:off x="914400" y="3017520"/>
            <a:ext cx="104241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정확한 보행 단계 검출은 재활 모니터링·의족 제어·인간–로봇 상호작용의 핵심이다. 이 연구는 여러 피험자의 하지 IMU 데이터로 오른다리의 이산적 보행 단계(입각·유각·중간유각)를 인식한다. IMU 신호를 128-샘플 윈도우(23채널)로 분할하고, 발뒤꿈치 착지(HS)·발끝 떼기(TO) 검출과 센서 융합을 결합한 자동 라벨링 파이프라인을 구축했다. Random Forest·Extra Trees·kNN·XGBoost·LightGBM을 학습·비교한 결과, 트리 기반 앙상블이 두 테스트셋 모두에서 97% 이상의 정확도로 안정적인 분류를 보였다.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640080" y="49834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* 원문 초록을 발표 맥락에 맞게 요약·번역. 세부 수치는 원문에서 재확인 권장.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640080" y="5349240"/>
            <a:ext cx="10927080" cy="868680"/>
          </a:xfrm>
          <a:prstGeom prst="roundRect">
            <a:avLst>
              <a:gd fmla="val 10526" name="adj"/>
            </a:avLst>
          </a:prstGeom>
          <a:solidFill>
            <a:srgbClr val="0F4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6"/>
          <p:cNvSpPr/>
          <p:nvPr/>
        </p:nvSpPr>
        <p:spPr>
          <a:xfrm>
            <a:off x="914400" y="548640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FE1CB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9FE1CB"/>
                </a:solidFill>
                <a:latin typeface="Cambria"/>
                <a:ea typeface="Cambria"/>
                <a:cs typeface="Cambria"/>
                <a:sym typeface="Cambria"/>
              </a:rPr>
              <a:t>왜 이 논문인가   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우리 커리큘럼 7–18주 흐름(센서→전처리→이벤트 검출→특징→모델)을 공개 IMU 데이터만으로 그대로 밟았다. '우리도 이렇게 하면 된다'는 실물 예시.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6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WalkAI LAB · 1회차 도메인 특강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E56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D6E56"/>
                </a:solidFill>
                <a:latin typeface="Cambria"/>
                <a:ea typeface="Cambria"/>
                <a:cs typeface="Cambria"/>
                <a:sym typeface="Cambria"/>
              </a:rPr>
              <a:t>논문 리뷰 5단계 템플릿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658368" y="10972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앞으로 모든 발제자가 따를 표준 틀. 오늘은 랩장이 시범을 보인다.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640080" y="160020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E56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D6E56"/>
                </a:solidFill>
                <a:latin typeface="Cambria"/>
                <a:ea typeface="Cambria"/>
                <a:cs typeface="Cambria"/>
                <a:sym typeface="Cambria"/>
              </a:rPr>
              <a:t>① 문제 (Why)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3383280" y="1600200"/>
            <a:ext cx="8183880" cy="777240"/>
          </a:xfrm>
          <a:prstGeom prst="roundRect">
            <a:avLst>
              <a:gd fmla="val 9412" name="adj"/>
            </a:avLst>
          </a:prstGeom>
          <a:solidFill>
            <a:srgbClr val="F1F5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7"/>
          <p:cNvSpPr/>
          <p:nvPr/>
        </p:nvSpPr>
        <p:spPr>
          <a:xfrm>
            <a:off x="3657600" y="1600200"/>
            <a:ext cx="7680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정확한 보행 단계 검출이 재활·의족·로봇에 꼭 필요한데, 방법이 충분히 신뢰롭지 않다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640080" y="2496312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E56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D6E56"/>
                </a:solidFill>
                <a:latin typeface="Cambria"/>
                <a:ea typeface="Cambria"/>
                <a:cs typeface="Cambria"/>
                <a:sym typeface="Cambria"/>
              </a:rPr>
              <a:t>② 데이터 (What)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3383280" y="2496312"/>
            <a:ext cx="8183880" cy="777240"/>
          </a:xfrm>
          <a:prstGeom prst="roundRect">
            <a:avLst>
              <a:gd fmla="val 9412" name="adj"/>
            </a:avLst>
          </a:prstGeom>
          <a:solidFill>
            <a:srgbClr val="F1F5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7"/>
          <p:cNvSpPr/>
          <p:nvPr/>
        </p:nvSpPr>
        <p:spPr>
          <a:xfrm>
            <a:off x="3657600" y="2496312"/>
            <a:ext cx="7680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여러 피험자의 하지 IMU 데이터 — 우리가 다음 회차에 열어볼 것과 같은 종류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640080" y="3392424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E56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D6E56"/>
                </a:solidFill>
                <a:latin typeface="Cambria"/>
                <a:ea typeface="Cambria"/>
                <a:cs typeface="Cambria"/>
                <a:sym typeface="Cambria"/>
              </a:rPr>
              <a:t>③ 방법 (How)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3383280" y="3392424"/>
            <a:ext cx="8183880" cy="777240"/>
          </a:xfrm>
          <a:prstGeom prst="roundRect">
            <a:avLst>
              <a:gd fmla="val 9412" name="adj"/>
            </a:avLst>
          </a:prstGeom>
          <a:solidFill>
            <a:srgbClr val="F1F5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7"/>
          <p:cNvSpPr/>
          <p:nvPr/>
        </p:nvSpPr>
        <p:spPr>
          <a:xfrm>
            <a:off x="3657600" y="3392424"/>
            <a:ext cx="7680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HS·TO 검출 + 센서 융합으로 자동 라벨링, 여러 ML 분류기 비교 (오늘 배운 '발 닿음/발 뜸'이 라벨 기준)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640080" y="4288536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E56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D6E56"/>
                </a:solidFill>
                <a:latin typeface="Cambria"/>
                <a:ea typeface="Cambria"/>
                <a:cs typeface="Cambria"/>
                <a:sym typeface="Cambria"/>
              </a:rPr>
              <a:t>④ 결과 (Result)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3383280" y="4288536"/>
            <a:ext cx="8183880" cy="777240"/>
          </a:xfrm>
          <a:prstGeom prst="roundRect">
            <a:avLst>
              <a:gd fmla="val 9412" name="adj"/>
            </a:avLst>
          </a:prstGeom>
          <a:solidFill>
            <a:srgbClr val="F1F5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7"/>
          <p:cNvSpPr/>
          <p:nvPr/>
        </p:nvSpPr>
        <p:spPr>
          <a:xfrm>
            <a:off x="3657600" y="4288536"/>
            <a:ext cx="7680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트리 기반 앙상블(Extra Trees·Random Forest)이 97% 이상 정확도로 최고 성능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7"/>
          <p:cNvSpPr/>
          <p:nvPr/>
        </p:nvSpPr>
        <p:spPr>
          <a:xfrm>
            <a:off x="640080" y="5184648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E56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D6E56"/>
                </a:solidFill>
                <a:latin typeface="Cambria"/>
                <a:ea typeface="Cambria"/>
                <a:cs typeface="Cambria"/>
                <a:sym typeface="Cambria"/>
              </a:rPr>
              <a:t>⑤ 시사점 (So what)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7"/>
          <p:cNvSpPr/>
          <p:nvPr/>
        </p:nvSpPr>
        <p:spPr>
          <a:xfrm>
            <a:off x="3383280" y="5184648"/>
            <a:ext cx="8183880" cy="777240"/>
          </a:xfrm>
          <a:prstGeom prst="roundRect">
            <a:avLst>
              <a:gd fmla="val 9412" name="adj"/>
            </a:avLst>
          </a:prstGeom>
          <a:solidFill>
            <a:srgbClr val="FBF3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7"/>
          <p:cNvSpPr/>
          <p:nvPr/>
        </p:nvSpPr>
        <p:spPr>
          <a:xfrm>
            <a:off x="3657600" y="5184648"/>
            <a:ext cx="76809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공개 데이터만으로 이 정도 가능 → 우리 1차 목표가 현실적. '로봇 제어 데이터를 더하면?'이 우리 차별점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7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WalkAI LAB · 1회차 도메인 특강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8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E56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D6E56"/>
                </a:solidFill>
                <a:latin typeface="Cambria"/>
                <a:ea typeface="Cambria"/>
                <a:cs typeface="Cambria"/>
                <a:sym typeface="Cambria"/>
              </a:rPr>
              <a:t>우리만의 차별점 — 생체 + 로봇 데이터 융합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8"/>
          <p:cNvSpPr/>
          <p:nvPr/>
        </p:nvSpPr>
        <p:spPr>
          <a:xfrm>
            <a:off x="658368" y="10972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이 논문이 쓴 데이터셋에는 이미 sEMG·IMU·관절각 엔코더·족저압이 함께 들어 있다. 융합의 씨앗은 여기서부터.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8"/>
          <p:cNvSpPr/>
          <p:nvPr/>
        </p:nvSpPr>
        <p:spPr>
          <a:xfrm>
            <a:off x="640080" y="1691640"/>
            <a:ext cx="5303520" cy="1828800"/>
          </a:xfrm>
          <a:prstGeom prst="roundRect">
            <a:avLst>
              <a:gd fmla="val 6000" name="adj"/>
            </a:avLst>
          </a:prstGeom>
          <a:solidFill>
            <a:srgbClr val="F1F5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8"/>
          <p:cNvSpPr/>
          <p:nvPr/>
        </p:nvSpPr>
        <p:spPr>
          <a:xfrm>
            <a:off x="914400" y="18745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E56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D6E56"/>
                </a:solidFill>
                <a:latin typeface="Cambria"/>
                <a:ea typeface="Cambria"/>
                <a:cs typeface="Cambria"/>
                <a:sym typeface="Cambria"/>
              </a:rPr>
              <a:t>1단계 · 이번 시즌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8"/>
          <p:cNvSpPr/>
          <p:nvPr/>
        </p:nvSpPr>
        <p:spPr>
          <a:xfrm>
            <a:off x="914400" y="228600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공개 생체 데이터(IMU·EMG 등)로 보행 분석 파이프라인을 완성하고 논문을 쓴다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8"/>
          <p:cNvSpPr/>
          <p:nvPr/>
        </p:nvSpPr>
        <p:spPr>
          <a:xfrm>
            <a:off x="914400" y="3063240"/>
            <a:ext cx="2194560" cy="384048"/>
          </a:xfrm>
          <a:prstGeom prst="roundRect">
            <a:avLst>
              <a:gd fmla="val 50000" name="adj"/>
            </a:avLst>
          </a:prstGeom>
          <a:solidFill>
            <a:srgbClr val="1D6E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8"/>
          <p:cNvSpPr/>
          <p:nvPr/>
        </p:nvSpPr>
        <p:spPr>
          <a:xfrm>
            <a:off x="914400" y="3063240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실력 확보 → 논문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8"/>
          <p:cNvSpPr/>
          <p:nvPr/>
        </p:nvSpPr>
        <p:spPr>
          <a:xfrm>
            <a:off x="6263640" y="1691640"/>
            <a:ext cx="5303520" cy="1828800"/>
          </a:xfrm>
          <a:prstGeom prst="roundRect">
            <a:avLst>
              <a:gd fmla="val 6000" name="adj"/>
            </a:avLst>
          </a:prstGeom>
          <a:solidFill>
            <a:srgbClr val="0F4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8"/>
          <p:cNvSpPr/>
          <p:nvPr/>
        </p:nvSpPr>
        <p:spPr>
          <a:xfrm>
            <a:off x="6537960" y="18745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E1CB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9FE1CB"/>
                </a:solidFill>
                <a:latin typeface="Cambria"/>
                <a:ea typeface="Cambria"/>
                <a:cs typeface="Cambria"/>
                <a:sym typeface="Cambria"/>
              </a:rPr>
              <a:t>2단계 · 장기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6537960" y="228600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사내 로봇 제어 데이터(모터 토크·관절각)를 결합한 진짜 융합 연구로 확장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6537960" y="3063240"/>
            <a:ext cx="2377440" cy="384048"/>
          </a:xfrm>
          <a:prstGeom prst="roundRect">
            <a:avLst>
              <a:gd fmla="val 50000" name="adj"/>
            </a:avLst>
          </a:prstGeom>
          <a:solidFill>
            <a:srgbClr val="BA75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8"/>
          <p:cNvSpPr/>
          <p:nvPr/>
        </p:nvSpPr>
        <p:spPr>
          <a:xfrm>
            <a:off x="6537960" y="306324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랩만의 차별점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640080" y="3794760"/>
            <a:ext cx="10927080" cy="1234440"/>
          </a:xfrm>
          <a:prstGeom prst="roundRect">
            <a:avLst>
              <a:gd fmla="val 8889" name="adj"/>
            </a:avLst>
          </a:prstGeom>
          <a:solidFill>
            <a:srgbClr val="FBF3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8"/>
          <p:cNvSpPr/>
          <p:nvPr/>
        </p:nvSpPr>
        <p:spPr>
          <a:xfrm>
            <a:off x="960120" y="39319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A751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BA7517"/>
                </a:solidFill>
                <a:latin typeface="Cambria"/>
                <a:ea typeface="Cambria"/>
                <a:cs typeface="Cambria"/>
                <a:sym typeface="Cambria"/>
              </a:rPr>
              <a:t>왜 이 순서인가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8"/>
          <p:cNvSpPr/>
          <p:nvPr/>
        </p:nvSpPr>
        <p:spPr>
          <a:xfrm>
            <a:off x="960120" y="4315968"/>
            <a:ext cx="10332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C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C2C2A"/>
                </a:solidFill>
                <a:latin typeface="Calibri"/>
                <a:ea typeface="Calibri"/>
                <a:cs typeface="Calibri"/>
                <a:sym typeface="Calibri"/>
              </a:rPr>
              <a:t>로봇 제어 데이터는 회사 기밀·규제 이슈로 반출에 시간이 걸린다. 공개 데이터로 팀 실력을 먼저 쌓고, 그 위에 사내 데이터를 얹어야 융합이 실제로 굴러간다. (데이터는 비식별화·보안 정책 준수 전제)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8"/>
          <p:cNvSpPr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E56"/>
              </a:buClr>
              <a:buSzPts val="1500"/>
              <a:buFont typeface="Cambria"/>
              <a:buNone/>
            </a:pPr>
            <a:r>
              <a:rPr b="1" i="1" lang="en-US" sz="1500" u="none" cap="none" strike="noStrike">
                <a:solidFill>
                  <a:srgbClr val="1D6E56"/>
                </a:solidFill>
                <a:latin typeface="Cambria"/>
                <a:ea typeface="Cambria"/>
                <a:cs typeface="Cambria"/>
                <a:sym typeface="Cambria"/>
              </a:rPr>
              <a:t>공개 데이터로 시작하지만, 현업에 있는 랩장이 있기에 '진짜 현장 데이터'로 가는 길이 열려 있다. 진짜 현장 데이터는 나도 반출할 수 없을 듯 한뎅...</a:t>
            </a:r>
            <a:endParaRPr b="1" i="1" sz="1500" u="none" cap="none" strike="noStrike">
              <a:solidFill>
                <a:srgbClr val="1D6E5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WalkAI LAB · 1회차 도메인 특강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E5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F5E5A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4A3A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9"/>
          <p:cNvSpPr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A751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BA7517"/>
                </a:solidFill>
                <a:latin typeface="Calibri"/>
                <a:ea typeface="Calibri"/>
                <a:cs typeface="Calibri"/>
                <a:sym typeface="Calibri"/>
              </a:rPr>
              <a:t>오늘을 한 문장으로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9"/>
          <p:cNvSpPr/>
          <p:nvPr/>
        </p:nvSpPr>
        <p:spPr>
          <a:xfrm>
            <a:off x="640080" y="1554480"/>
            <a:ext cx="108813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환자가 걷는 동안 쌓이는 센서 신호를 보행 주기로 해석하고, 이상 패턴을 읽어, AI로 회복을 판독하여, '이 환자가 회복되었다'를 숫자로 증명한다.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한컴오피스">
  <a:themeElements>
    <a:clrScheme name="한컴오피스">
      <a:dk1>
        <a:srgbClr val="000000"/>
      </a:dk1>
      <a:lt1>
        <a:srgbClr val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2026-07-20T08:16:26.000</dcterms:created>
  <dc:creator>조효성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